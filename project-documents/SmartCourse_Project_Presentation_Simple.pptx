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bc9611d44884368" /><Relationship Type="http://schemas.openxmlformats.org/officeDocument/2006/relationships/extended-properties" Target="/docProps/app.xml" Id="R1b323262f9024e6b" /><Relationship Type="http://schemas.openxmlformats.org/officeDocument/2006/relationships/officeDocument" Target="/ppt/presentation.xml" Id="Rbae077dba82a4c3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4121fe992b74a70"/>
  </p:sldMasterIdLst>
  <p:notesMasterIdLst>
    <p:notesMasterId xmlns:r="http://schemas.openxmlformats.org/officeDocument/2006/relationships" r:id="R11cc285101f44a22"/>
  </p:notesMasterIdLst>
  <p:sldIdLst>
    <p:sldId xmlns:r="http://schemas.openxmlformats.org/officeDocument/2006/relationships" id="256" r:id="R8385c4b46a694f1b"/>
    <p:sldId xmlns:r="http://schemas.openxmlformats.org/officeDocument/2006/relationships" id="257" r:id="R8117203951184d3a"/>
    <p:sldId xmlns:r="http://schemas.openxmlformats.org/officeDocument/2006/relationships" id="258" r:id="R43d6875d94a64a16"/>
    <p:sldId xmlns:r="http://schemas.openxmlformats.org/officeDocument/2006/relationships" id="259" r:id="Rccfe4b1ea39546ed"/>
    <p:sldId xmlns:r="http://schemas.openxmlformats.org/officeDocument/2006/relationships" id="260" r:id="R8e4bc4cc9c564c94"/>
    <p:sldId xmlns:r="http://schemas.openxmlformats.org/officeDocument/2006/relationships" id="261" r:id="R6a975b492f5141c1"/>
    <p:sldId xmlns:r="http://schemas.openxmlformats.org/officeDocument/2006/relationships" id="262" r:id="R025d23f8d6ae452e"/>
    <p:sldId xmlns:r="http://schemas.openxmlformats.org/officeDocument/2006/relationships" id="263" r:id="R0e5cb1dc6b11455e"/>
    <p:sldId xmlns:r="http://schemas.openxmlformats.org/officeDocument/2006/relationships" id="264" r:id="R06ff223a108b4c83"/>
    <p:sldId xmlns:r="http://schemas.openxmlformats.org/officeDocument/2006/relationships" id="265" r:id="R7b5e16969f83457b"/>
    <p:sldId xmlns:r="http://schemas.openxmlformats.org/officeDocument/2006/relationships" id="266" r:id="R2f16c3ff25bd4703"/>
    <p:sldId xmlns:r="http://schemas.openxmlformats.org/officeDocument/2006/relationships" id="267" r:id="R1010274a0f184804"/>
    <p:sldId xmlns:r="http://schemas.openxmlformats.org/officeDocument/2006/relationships" id="268" r:id="R87937df758954e5a"/>
    <p:sldId xmlns:r="http://schemas.openxmlformats.org/officeDocument/2006/relationships" id="269" r:id="R87c2b82e991345f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69e22eeac2b47cc" /><Relationship Type="http://schemas.openxmlformats.org/officeDocument/2006/relationships/slideMaster" Target="/ppt/slideMasters/slideMaster1.xml" Id="R64121fe992b74a70" /><Relationship Type="http://schemas.openxmlformats.org/officeDocument/2006/relationships/notesMaster" Target="/ppt/notesMasters/notesMaster1.xml" Id="R11cc285101f44a22" /><Relationship Type="http://schemas.openxmlformats.org/officeDocument/2006/relationships/presProps" Target="/ppt/presProps.xml" Id="Rde60e2233c4e4b63" /><Relationship Type="http://schemas.openxmlformats.org/officeDocument/2006/relationships/tableStyles" Target="/ppt/tableStyles.xml" Id="Rdfb96d200de14a34" /><Relationship Type="http://schemas.openxmlformats.org/officeDocument/2006/relationships/slide" Target="/ppt/slides/slide1.xml" Id="R8385c4b46a694f1b" /><Relationship Type="http://schemas.openxmlformats.org/officeDocument/2006/relationships/slide" Target="/ppt/slides/slide2.xml" Id="R8117203951184d3a" /><Relationship Type="http://schemas.openxmlformats.org/officeDocument/2006/relationships/slide" Target="/ppt/slides/slide3.xml" Id="R43d6875d94a64a16" /><Relationship Type="http://schemas.openxmlformats.org/officeDocument/2006/relationships/slide" Target="/ppt/slides/slide4.xml" Id="Rccfe4b1ea39546ed" /><Relationship Type="http://schemas.openxmlformats.org/officeDocument/2006/relationships/slide" Target="/ppt/slides/slide5.xml" Id="R8e4bc4cc9c564c94" /><Relationship Type="http://schemas.openxmlformats.org/officeDocument/2006/relationships/slide" Target="/ppt/slides/slide6.xml" Id="R6a975b492f5141c1" /><Relationship Type="http://schemas.openxmlformats.org/officeDocument/2006/relationships/slide" Target="/ppt/slides/slide7.xml" Id="R025d23f8d6ae452e" /><Relationship Type="http://schemas.openxmlformats.org/officeDocument/2006/relationships/slide" Target="/ppt/slides/slide8.xml" Id="R0e5cb1dc6b11455e" /><Relationship Type="http://schemas.openxmlformats.org/officeDocument/2006/relationships/slide" Target="/ppt/slides/slide9.xml" Id="R06ff223a108b4c83" /><Relationship Type="http://schemas.openxmlformats.org/officeDocument/2006/relationships/slide" Target="/ppt/slides/slide10.xml" Id="R7b5e16969f83457b" /><Relationship Type="http://schemas.openxmlformats.org/officeDocument/2006/relationships/slide" Target="/ppt/slides/slide11.xml" Id="R2f16c3ff25bd4703" /><Relationship Type="http://schemas.openxmlformats.org/officeDocument/2006/relationships/slide" Target="/ppt/slides/slide12.xml" Id="R1010274a0f184804" /><Relationship Type="http://schemas.openxmlformats.org/officeDocument/2006/relationships/slide" Target="/ppt/slides/slide13.xml" Id="R87937df758954e5a" /><Relationship Type="http://schemas.openxmlformats.org/officeDocument/2006/relationships/slide" Target="/ppt/slides/slide14.xml" Id="R87c2b82e991345f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acf8d0faaab4f5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8a5e942595f466b" /><Relationship Type="http://schemas.openxmlformats.org/officeDocument/2006/relationships/notesMaster" Target="/ppt/notesMasters/notesMaster1.xml" Id="R2ae77da22dc24de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11ca3dc5d8634f52" /><Relationship Type="http://schemas.openxmlformats.org/officeDocument/2006/relationships/notesMaster" Target="/ppt/notesMasters/notesMaster1.xml" Id="Rf5e4133a4a9a465f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2d4c1b9157c40ba" /><Relationship Type="http://schemas.openxmlformats.org/officeDocument/2006/relationships/notesMaster" Target="/ppt/notesMasters/notesMaster1.xml" Id="R9d963008b1454fe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8bbd1ae604f4b23" /><Relationship Type="http://schemas.openxmlformats.org/officeDocument/2006/relationships/notesMaster" Target="/ppt/notesMasters/notesMaster1.xml" Id="Raf4721701e574da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df9c1e37a254622" /><Relationship Type="http://schemas.openxmlformats.org/officeDocument/2006/relationships/notesMaster" Target="/ppt/notesMasters/notesMaster1.xml" Id="R0f9097454a19466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19808842ba74ef6" /><Relationship Type="http://schemas.openxmlformats.org/officeDocument/2006/relationships/notesMaster" Target="/ppt/notesMasters/notesMaster1.xml" Id="R2954014166524e6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44746a88fae42cb" /><Relationship Type="http://schemas.openxmlformats.org/officeDocument/2006/relationships/notesMaster" Target="/ppt/notesMasters/notesMaster1.xml" Id="R209b9fc6da334cc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ec431df5a154b1c" /><Relationship Type="http://schemas.openxmlformats.org/officeDocument/2006/relationships/notesMaster" Target="/ppt/notesMasters/notesMaster1.xml" Id="R6caa9407773e4b9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50380f429df40cc" /><Relationship Type="http://schemas.openxmlformats.org/officeDocument/2006/relationships/notesMaster" Target="/ppt/notesMasters/notesMaster1.xml" Id="Rfbb3abc994bb4cd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d23440d68f045c1" /><Relationship Type="http://schemas.openxmlformats.org/officeDocument/2006/relationships/notesMaster" Target="/ppt/notesMasters/notesMaster1.xml" Id="R29d097baab4d483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ba8f1dab5a843d7" /><Relationship Type="http://schemas.openxmlformats.org/officeDocument/2006/relationships/notesMaster" Target="/ppt/notesMasters/notesMaster1.xml" Id="Rec34c3cb6cfb4e0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c6010fe689d471b" /><Relationship Type="http://schemas.openxmlformats.org/officeDocument/2006/relationships/notesMaster" Target="/ppt/notesMasters/notesMaster1.xml" Id="Ref7877c094e44c6c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93de2a66b394de1" /><Relationship Type="http://schemas.openxmlformats.org/officeDocument/2006/relationships/notesMaster" Target="/ppt/notesMasters/notesMaster1.xml" Id="Rc93ee745f9b9440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7870e649f094df6" /><Relationship Type="http://schemas.openxmlformats.org/officeDocument/2006/relationships/notesMaster" Target="/ppt/notesMasters/notesMaster1.xml" Id="R4ee9ee44d62b4fe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SmartCourse is an AI-assisted course finder. A learner describes what they want to learn, then the app helps them find, compare, and save suitable courses.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app.py</a:t>
            </a:r>
          </a:p>
          <a:p xmlns:a="http://schemas.openxmlformats.org/drawingml/2006/main">
            <a:r>
              <a:t>- project-documents/FinalDeliverables_F25PROJECTEC4D8/2-FinalReport_SmartCourse_F25PROJECTEC4D8.docx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main problem is choice. Large catalogs use many different terms, so learners can struggle to find the right course even when they know their goal.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project-documents/Fall 2025_CS619_11727_1.docx</a:t>
            </a:r>
          </a:p>
          <a:p xmlns:a="http://schemas.openxmlformats.org/drawingml/2006/main">
            <a:r>
              <a:t>- templates/home.html</a:t>
            </a:r>
          </a:p>
          <a:p xmlns:a="http://schemas.openxmlformats.org/drawingml/2006/main">
            <a:r>
              <a:t>- templates/recommend.html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SmartCourse turns an everyday learning goal into a ranked list. It also shows course details and a score so the learner can make an informed choice.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smartcourse/api.py</a:t>
            </a:r>
          </a:p>
          <a:p xmlns:a="http://schemas.openxmlformats.org/drawingml/2006/main">
            <a:r>
              <a:t>- smartcourse/services/recommendation.py</a:t>
            </a:r>
          </a:p>
          <a:p xmlns:a="http://schemas.openxmlformats.org/drawingml/2006/main">
            <a:r>
              <a:t>- static/js/main.js</a:t>
            </a:r>
          </a:p>
          <a:p xmlns:a="http://schemas.openxmlformats.org/drawingml/2006/main">
            <a:r>
              <a:t>- templates/recommend.html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app checks exact words and overall meaning. These two views complement each other and are shown side by side when the learner chooses Both.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smartcourse/models/tfidf_model.py</a:t>
            </a:r>
          </a:p>
          <a:p xmlns:a="http://schemas.openxmlformats.org/drawingml/2006/main">
            <a:r>
              <a:t>- smartcourse/models/neural_model.py</a:t>
            </a:r>
          </a:p>
          <a:p xmlns:a="http://schemas.openxmlformats.org/drawingml/2006/main">
            <a:r>
              <a:t>- smartcourse/services/recommendation.py</a:t>
            </a:r>
          </a:p>
          <a:p xmlns:a="http://schemas.openxmlformats.org/drawingml/2006/main">
            <a:r>
              <a:t>- smartcourse/data/preprocess.py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course catalog is collected, cleaned, analyzed, and prepared in advance. This lets each learner search return useful results quickly.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smartcourse/data/pipeline.py</a:t>
            </a:r>
          </a:p>
          <a:p xmlns:a="http://schemas.openxmlformats.org/drawingml/2006/main">
            <a:r>
              <a:t>- scripts/prepare_data.py</a:t>
            </a:r>
          </a:p>
          <a:p xmlns:a="http://schemas.openxmlformats.org/drawingml/2006/main">
            <a:r>
              <a:t>- scripts/build_models.py</a:t>
            </a:r>
          </a:p>
          <a:p xmlns:a="http://schemas.openxmlformats.org/drawingml/2006/main">
            <a:r>
              <a:t>- smartcourse/models/neural_model.py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project has three easy-to-understand parts: the screens people use, the app logic that handles actions, and the stored information that supports results and history.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smartcourse/__init__.py</a:t>
            </a:r>
          </a:p>
          <a:p xmlns:a="http://schemas.openxmlformats.org/drawingml/2006/main">
            <a:r>
              <a:t>- smartcourse/config.py</a:t>
            </a:r>
          </a:p>
          <a:p xmlns:a="http://schemas.openxmlformats.org/drawingml/2006/main">
            <a:r>
              <a:t>- smartcourse/api.py</a:t>
            </a:r>
          </a:p>
          <a:p xmlns:a="http://schemas.openxmlformats.org/drawingml/2006/main">
            <a:r>
              <a:t>- smartcourse/services/recommendation.py</a:t>
            </a:r>
          </a:p>
          <a:p xmlns:a="http://schemas.openxmlformats.org/drawingml/2006/main">
            <a:r>
              <a:t>- smartcourse/services/history.py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After the learner clicks Find Courses, the app checks the request, finds and sorts matches, remembers the search, and displays useful course information.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smartcourse/api.py</a:t>
            </a:r>
          </a:p>
          <a:p xmlns:a="http://schemas.openxmlformats.org/drawingml/2006/main">
            <a:r>
              <a:t>- smartcourse/services/recommendation.py</a:t>
            </a:r>
          </a:p>
          <a:p xmlns:a="http://schemas.openxmlformats.org/drawingml/2006/main">
            <a:r>
              <a:t>- smartcourse/services/history.py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These are real screenshots of the running application. The first screen introduces the product, while the second lets the learner enter a goal and review recommendations.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Captured from the local Flask app at http://127.0.0.1:5000/</a:t>
            </a:r>
          </a:p>
          <a:p xmlns:a="http://schemas.openxmlformats.org/drawingml/2006/main">
            <a:r>
              <a:t>- templates/home.html</a:t>
            </a:r>
          </a:p>
          <a:p xmlns:a="http://schemas.openxmlformats.org/drawingml/2006/main">
            <a:r>
              <a:t>- templates/recommend.html</a:t>
            </a:r>
          </a:p>
          <a:p xmlns:a="http://schemas.openxmlformats.org/drawingml/2006/main">
            <a:r>
              <a:t>- static/js/main.js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dashboard keeps the experience continuous. Learners can reopen past searches, review saved courses, and compare the two matching methods.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Captured from the local Flask app at http://127.0.0.1:5000/dashboard</a:t>
            </a:r>
          </a:p>
          <a:p xmlns:a="http://schemas.openxmlformats.org/drawingml/2006/main">
            <a:r>
              <a:t>- templates/dashboard.html</a:t>
            </a:r>
          </a:p>
          <a:p xmlns:a="http://schemas.openxmlformats.org/drawingml/2006/main">
            <a:r>
              <a:t>- smartcourse/models/db_models.py</a:t>
            </a:r>
          </a:p>
          <a:p xmlns:a="http://schemas.openxmlformats.org/drawingml/2006/main">
            <a:r>
              <a:t>- static/js/main.js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SmartCourse supports a simple four-step journey: search, compare, save, and revisit. This turns a one-time search into a useful learning record.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smartcourse/models/db_models.py</a:t>
            </a:r>
          </a:p>
          <a:p xmlns:a="http://schemas.openxmlformats.org/drawingml/2006/main">
            <a:r>
              <a:t>- smartcourse/services/history.py</a:t>
            </a:r>
          </a:p>
          <a:p xmlns:a="http://schemas.openxmlformats.org/drawingml/2006/main">
            <a:r>
              <a:t>- templates/dashboard.html</a:t>
            </a:r>
          </a:p>
          <a:p xmlns:a="http://schemas.openxmlformats.org/drawingml/2006/main">
            <a:r>
              <a:t>- static/js/main.js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Recommendation quality is checked using example goals and expected useful courses. The current test set is small, so these checks guide future improvement.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scripts/evaluate_models.py</a:t>
            </a:r>
          </a:p>
          <a:p xmlns:a="http://schemas.openxmlformats.org/drawingml/2006/main">
            <a:r>
              <a:t>- data/evaluation_queries.json</a:t>
            </a:r>
          </a:p>
          <a:p xmlns:a="http://schemas.openxmlformats.org/drawingml/2006/main">
            <a:r>
              <a:t>- project-documents/FinalDeliverables_F25PROJECTEC4D8/2-FinalReport_SmartCourse_F25PROJECTEC4D8.docx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chosen technologies keep the prototype practical: one method is fast and clear, another understands related meaning, and the web app is lightweight to run.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smartcourse/models/tfidf_model.py</a:t>
            </a:r>
          </a:p>
          <a:p xmlns:a="http://schemas.openxmlformats.org/drawingml/2006/main">
            <a:r>
              <a:t>- smartcourse/models/neural_model.py</a:t>
            </a:r>
          </a:p>
          <a:p xmlns:a="http://schemas.openxmlformats.org/drawingml/2006/main">
            <a:r>
              <a:t>- smartcourse/services/recommendation.py</a:t>
            </a:r>
          </a:p>
          <a:p xmlns:a="http://schemas.openxmlformats.org/drawingml/2006/main">
            <a:r>
              <a:t>- smartcourse/config.py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demonstration follows four actions: enter a goal, compare both result lists, save a promising course, and open the dashboard to revisit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templates/recommend.html</a:t>
            </a:r>
          </a:p>
          <a:p xmlns:a="http://schemas.openxmlformats.org/drawingml/2006/main">
            <a:r>
              <a:t>- templates/dashboard.html</a:t>
            </a:r>
          </a:p>
          <a:p xmlns:a="http://schemas.openxmlformats.org/drawingml/2006/main">
            <a:r>
              <a:t>- static/js/main.js</a:t>
            </a:r>
          </a:p>
          <a:p xmlns:a="http://schemas.openxmlformats.org/drawingml/2006/main">
            <a:r>
              <a:t>- smartcourse/api.py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SmartCourse makes a large course catalog easier to use by understanding the learner's goal, ranking suitable options, and keeping useful choices available later.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README.md</a:t>
            </a:r>
          </a:p>
          <a:p xmlns:a="http://schemas.openxmlformats.org/drawingml/2006/main">
            <a:r>
              <a:t>- project-documents/FinalDeliverables_F25PROJECTEC4D8/2-FinalReport_SmartCourse_F25PROJECTEC4D8.docx</a:t>
            </a:r>
          </a:p>
          <a:p xmlns:a="http://schemas.openxmlformats.org/drawingml/2006/main">
            <a:r>
              <a:t>- project-documents/FinalDeliverables_F25PROJECTEC4D8/3-FinalPresentation_SmartCourse_F25PROJECTEC4D8.pptx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d95f27d326e451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a8e4e143dd245ac" /><Relationship Type="http://schemas.openxmlformats.org/officeDocument/2006/relationships/slideLayout" Target="/ppt/slideLayouts/slideLayout1.xml" Id="R287ac717507440a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87ac717507440a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83d147aa374181" /><Relationship Type="http://schemas.openxmlformats.org/officeDocument/2006/relationships/notesSlide" Target="/ppt/notesSlides/notesSlide1.xml" Id="R3e35febda410412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a8987065ac4c18" /><Relationship Type="http://schemas.openxmlformats.org/officeDocument/2006/relationships/notesSlide" Target="/ppt/notesSlides/notesSlide2.xml" Id="R00908e8e7af64e9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17510a322254d48" /><Relationship Type="http://schemas.openxmlformats.org/officeDocument/2006/relationships/notesSlide" Target="/ppt/notesSlides/notesSlide3.xml" Id="Rb665224c3177437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8668caa737404a" /><Relationship Type="http://schemas.openxmlformats.org/officeDocument/2006/relationships/notesSlide" Target="/ppt/notesSlides/notesSlide4.xml" Id="Rd6592386fe6e495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f715b069f844fd" /><Relationship Type="http://schemas.openxmlformats.org/officeDocument/2006/relationships/notesSlide" Target="/ppt/notesSlides/notesSlide5.xml" Id="Rbec1cd62029d4af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0751545c4d4e48" /><Relationship Type="http://schemas.openxmlformats.org/officeDocument/2006/relationships/notesSlide" Target="/ppt/notesSlides/notesSlide6.xml" Id="R30e2956779ef45e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5dadff64954e1f" /><Relationship Type="http://schemas.openxmlformats.org/officeDocument/2006/relationships/notesSlide" Target="/ppt/notesSlides/notesSlide7.xml" Id="R0e64e0e6d43944b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c1f52cd3244582" /><Relationship Type="http://schemas.openxmlformats.org/officeDocument/2006/relationships/image" Target="/ppt/media/image.png" Id="Rd6028e615a7f495d" /><Relationship Type="http://schemas.openxmlformats.org/officeDocument/2006/relationships/image" Target="/ppt/media/image2.png" Id="Rb78cebf16ee440ea" /><Relationship Type="http://schemas.openxmlformats.org/officeDocument/2006/relationships/notesSlide" Target="/ppt/notesSlides/notesSlide8.xml" Id="R2f40c1b190624f5b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e37b09277c4d0a" /><Relationship Type="http://schemas.openxmlformats.org/officeDocument/2006/relationships/image" Target="/ppt/media/image3.png" Id="R4ff45bce08a144de" /><Relationship Type="http://schemas.openxmlformats.org/officeDocument/2006/relationships/notesSlide" Target="/ppt/notesSlides/notesSlide9.xml" Id="Rd541176ed87f441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38fe115c6d45d4" /><Relationship Type="http://schemas.openxmlformats.org/officeDocument/2006/relationships/notesSlide" Target="/ppt/notesSlides/notesSlide10.xml" Id="Rfe427315f352457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84c069998e4a94" /><Relationship Type="http://schemas.openxmlformats.org/officeDocument/2006/relationships/notesSlide" Target="/ppt/notesSlides/notesSlide11.xml" Id="Rfebd9c4cf15c44e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7ebc7ad7d6462e" /><Relationship Type="http://schemas.openxmlformats.org/officeDocument/2006/relationships/notesSlide" Target="/ppt/notesSlides/notesSlide12.xml" Id="R9212770fccc34c1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bc3701bf9c4617" /><Relationship Type="http://schemas.openxmlformats.org/officeDocument/2006/relationships/notesSlide" Target="/ppt/notesSlides/notesSlide13.xml" Id="R96d76ea8b62b48f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dd6a6ed5eb24fec" /><Relationship Type="http://schemas.openxmlformats.org/officeDocument/2006/relationships/notesSlide" Target="/ppt/notesSlides/notesSlide14.xml" Id="R877e3d33d2bf40e7" /></Relationships>
</file>

<file path=ppt/slides/slide1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8111F"/>
            </a:gs>
            <a:gs pos="58000">
              <a:srgbClr val="0B1D32"/>
            </a:gs>
            <a:gs pos="100000">
              <a:srgbClr val="101A2B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2C289D2-B865-4E22-B454-7623851CC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5715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D9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B613C3-9145-4F71-82DD-6C61DCD6F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SMARTCOURSE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CDC2602-2822-4FE6-AA77-0DDD780D5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123950"/>
            <a:ext cx="6858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9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SMARTCOURSE</a:t>
            </a:r>
          </a:p>
          <a:p xmlns:a="http://schemas.openxmlformats.org/drawingml/2006/main">
            <a:pPr algn="l">
              <a:buNone/>
              <a:defRPr sz="39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39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AI COURSE FINDER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6DA6506-63BD-4C6B-BEA2-77B746EC9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00350"/>
            <a:ext cx="609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57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A simple way to discover, compare, and save courses.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099B58-C449-4233-93FC-3C0E34E08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385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1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A987AF-314F-4149-A3BB-5F3D26519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05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Final Year Project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097B55-AC45-40B4-A2A1-B9A05C463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95300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F839A"/>
                </a:solidFill>
                <a:latin typeface="Aptos"/>
                <a:ea typeface="Aptos"/>
                <a:cs typeface="Aptos"/>
              </a:rPr>
              <a:t>Group ID  F25PROJECTEC4D8   |   Roll No  BC240419615</a:t>
            </a:r>
          </a:p>
          <a:p xmlns:a="http://schemas.openxmlformats.org/drawingml/2006/main">
            <a:pPr algn="l">
              <a:buNone/>
              <a:defRPr sz="1050" b="0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6F839A"/>
                </a:solidFill>
                <a:latin typeface="Aptos"/>
                <a:ea typeface="Aptos"/>
                <a:cs typeface="Aptos"/>
              </a:rPr>
              <a:t>Supervisor  Muhammad Bilal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D9E239-E270-42EB-ACCF-9B15BD382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66950"/>
            <a:ext cx="11430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D9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3021CD-6F8F-404F-B3CB-DC2CC63C7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66950"/>
            <a:ext cx="285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D9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B954CC-42D4-47D8-B2B0-4BA6798E42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409950"/>
            <a:ext cx="11715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D9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63102B6-6F40-4C96-8A6E-63F86CA8B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1200" y="3409950"/>
            <a:ext cx="1171575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3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B3EC1C-7D66-42BD-9061-166EDD39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152650"/>
            <a:ext cx="1219200" cy="1219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2B45"/>
          </a:solidFill>
          <a:ln xmlns:a="http://schemas.openxmlformats.org/drawingml/2006/main" w="19050">
            <a:solidFill>
              <a:srgbClr val="2BD9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0F38BF-FB3E-408C-9234-5898543D2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524125"/>
            <a:ext cx="1219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AI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EA83D8E-B0B2-491B-A2CA-5C67FEC7F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81350"/>
            <a:ext cx="1657350" cy="72390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1A536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41713E-D2B9-48BF-A681-30A93A0AE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324225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WORDS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7127836-93CD-4292-9E51-D23D867C4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600450"/>
            <a:ext cx="1276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exact terms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BF13BF0-7375-4C5A-998F-8C3FDB9B3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181350"/>
            <a:ext cx="1657350" cy="72390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405C2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A46D558-07BE-4D88-AC42-F5BFE3316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324225"/>
            <a:ext cx="1276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MEANING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A9D3A74-AD54-49B6-A598-86E3F7190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600450"/>
            <a:ext cx="1276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related ideas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2E113D-4EFB-458C-A641-79F4468FB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953000"/>
            <a:ext cx="2133600" cy="609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29415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975C93-DFCF-4AB9-8DD7-A24FA77C8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5105400"/>
            <a:ext cx="2133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find  →  compare  →  save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8B0092-62D1-4011-AF61-9EBE29AFA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SMARTCOURSE  /  PROJECT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C797448-C77D-4C09-B46B-17F43E89D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2109418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kicker">
            <a:extLst xmlns:a="http://schemas.openxmlformats.org/drawingml/2006/main">
              <a:ext uri="{FF2B5EF4-FFF2-40B4-BE49-F238E27FC236}">
                <a16:creationId xmlns:a16="http://schemas.microsoft.com/office/drawing/2014/main" id="{9642699B-7BC6-4367-B3DC-CE366A6D1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01 / THE CHALLENGE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312C32C-AF73-479E-A159-F677FE18A9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Finding the right course can be difficult.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BE82033C-CAF4-4F7B-8459-DFC6B2AEE5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Course catalogs are large, and people may not know the exact title to search for.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80600D-36C6-4339-A33D-EB5D14F00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A1D7D6-A1DE-4076-ABC9-1D34ECA38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4381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152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A learner often knows what they want to learn—even without knowing the course name.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7F7FA3-3834-485E-B0D4-E007622DB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4191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SmartCourse accepts everyday language and returns a clear list of useful options.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E65934-AA9B-4C71-8A20-4099FA628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1428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A53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LEARNER 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D620DF-F442-494C-90CD-DE16F28B6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4343400" cy="80010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2BD9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DDBD11-005E-4F50-A443-743978506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4933950"/>
            <a:ext cx="3905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8485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“I want to learn Python</a:t>
            </a:r>
          </a:p>
          <a:p xmlns:a="http://schemas.openxmlformats.org/drawingml/2006/main">
            <a:pPr algn="l">
              <a:buNone/>
              <a:defRPr sz="16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for data science.”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C39C29-5BCB-4E46-A059-F1CD74EBF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190750"/>
            <a:ext cx="1809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05C2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WHY THIS IS HARD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963248-A508-4B4D-B8F7-9B57EAE3E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72415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4495D7-C0F9-43D6-830C-F1173AB6C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724150"/>
            <a:ext cx="352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Different words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3FA78E-5FCE-4774-BE7B-52101B610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048000"/>
            <a:ext cx="381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A learner and a course may describe the same topic in different ways.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63172C-95C4-41AA-AD3D-A267198D5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562350"/>
            <a:ext cx="4495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52FDEB-B51F-4C6A-8272-3BE227645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75285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168FD4-9FB6-4924-8C15-F97628AC0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752850"/>
            <a:ext cx="352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Too many options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FEFCD2-0289-4A1A-ACC7-637358F98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076700"/>
            <a:ext cx="381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Large catalogs take time to browse and compare by hand.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1E3AEE3-4FA5-4B3C-AC1C-8A844954B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591050"/>
            <a:ext cx="4495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51CD5AA-DB25-4C6D-9E5C-22F07D8F4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478155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2499B5E-5517-4293-BDAA-724D49618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781550"/>
            <a:ext cx="3524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Hard to choose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0F5268-DED6-40DA-A28A-EC6840DCE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5105400"/>
            <a:ext cx="3810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People need useful details to understand which course fits best.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B1A0CE-5441-45A2-A3E8-5D322C20C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SMARTCOURSE  /  PROJECT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B050D8-56BB-4A81-90E0-E5CEBEF0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1199339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D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kicker">
            <a:extLst xmlns:a="http://schemas.openxmlformats.org/drawingml/2006/main">
              <a:ext uri="{FF2B5EF4-FFF2-40B4-BE49-F238E27FC236}">
                <a16:creationId xmlns:a16="http://schemas.microsoft.com/office/drawing/2014/main" id="{0D4D0099-D18C-4C16-9D9C-75648903E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02 / HOW IT HELPS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3ACEE3D-9115-46C1-8DF8-C9A4D1065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SmartCourse turns a learning goal into useful course choices.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2B9E109F-3DFC-427F-9B7C-42F77A1E7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Each result includes the course name, a match score, and helpful details.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D6B8728-8DBD-458D-8EAB-F5985C54A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A36383-FE80-49DE-BE70-85B933384F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WHAT THE LEARNER WANTS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6A2BFD-78F1-43F2-B38A-EF015DAB8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90800"/>
            <a:ext cx="2952750" cy="104775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2BD9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0159E5B-A603-4966-8829-A6372B65BD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90825"/>
            <a:ext cx="247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9359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learn Python</a:t>
            </a:r>
          </a:p>
          <a:p xmlns:a="http://schemas.openxmlformats.org/drawingml/2006/main">
            <a:pPr algn="l">
              <a:buNone/>
              <a:defRPr sz="19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for data science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C904CAB-AF28-4C55-AE67-FB416B28F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2933700"/>
            <a:ext cx="106680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BD9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9999AC-3AD9-4698-9086-9DBEBC57A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2098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HOW SMARTCOURSE MATCHES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1A5A12-40AB-4A0B-B639-C4D68638E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2590800"/>
            <a:ext cx="2038350" cy="104775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2BD9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B5AFC9-D7CA-455C-8F01-2732ADD63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74320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Words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2DDE416-16DF-4FBC-9BE3-40A08AFF0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306705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matches exact terms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68236E-2D07-4230-8D26-06E72F9B3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590800"/>
            <a:ext cx="2038350" cy="1047750"/>
          </a:xfrm>
          <a:prstGeom xmlns:a="http://schemas.openxmlformats.org/drawingml/2006/main" prst="roundRect">
            <a:avLst>
              <a:gd name="adj" fmla="val 14545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B9F36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6E0FEEC-EBBB-4905-80FB-E2F9AD955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43200"/>
            <a:ext cx="1695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Meaning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DA1E49-1532-406C-BDC8-6BEF20E29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067050"/>
            <a:ext cx="1695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matches related ideas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07822E-7C67-4432-907B-6A53AF39D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0" y="2933700"/>
            <a:ext cx="914400" cy="3429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9F3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682BAC-8D99-4CC1-B0BC-2BF4A75B3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0" y="2209800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FFB45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B454"/>
                </a:solidFill>
                <a:latin typeface="Aptos"/>
                <a:ea typeface="Aptos"/>
                <a:cs typeface="Aptos"/>
              </a:rPr>
              <a:t>BEST MATCHES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CD8563-28DC-4FBB-82F0-7E04EEB8F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038600"/>
            <a:ext cx="1790700" cy="118110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FFB45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6E07852-1ED5-49E6-A58C-5BEA9D19D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24815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Recommended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7027DB-19B0-460F-A4BE-8D80B7953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572000"/>
            <a:ext cx="1409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4203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FB454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FB454"/>
                </a:solidFill>
                <a:latin typeface="Aptos"/>
                <a:ea typeface="Aptos"/>
                <a:cs typeface="Aptos"/>
              </a:rPr>
              <a:t>91% match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37858E1-FDEF-4DEE-A7AF-3A8F4733D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4953000"/>
            <a:ext cx="1409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title · level · rating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8A0604-F335-4C04-938E-D8A8E69D6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638550"/>
            <a:ext cx="190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1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20529E-235A-4449-A1E5-512788EFB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038600"/>
            <a:ext cx="800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1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CB6E584-2454-436F-84B9-69A5760CE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05350"/>
            <a:ext cx="800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The learner can compare results, save a course, and return to it later.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0E3860D-3F08-4A9B-82C9-E7D858A7D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34000"/>
            <a:ext cx="723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The system supports a decision instead of giving one unexplained answer.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F75FFB-468C-492A-9599-081DBBD45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SMARTCOURSE  /  PROJECT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392E915-454B-4662-B17D-B116099C9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749370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kicker">
            <a:extLst xmlns:a="http://schemas.openxmlformats.org/drawingml/2006/main">
              <a:ext uri="{FF2B5EF4-FFF2-40B4-BE49-F238E27FC236}">
                <a16:creationId xmlns:a16="http://schemas.microsoft.com/office/drawing/2014/main" id="{64E5DD47-A2E7-4C9D-A98D-92284DB89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03 / HOW THE AI MATCHES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016DDD9D-04EF-4C90-8F54-C1A559960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SmartCourse checks both the words and the meaning.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3204BE5-5650-4E61-8EAC-D4AC55D6E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The two methods look at the same learning request in different ways.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D98174E-F4D1-4101-A139-3E01C1DC7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92AF43-EC23-4451-B444-79467CDC3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510540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1A536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BD77E3-A4A3-4620-9EA1-DE491012C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514600"/>
            <a:ext cx="1466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A53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METHOD 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A2443C-9F80-4729-A93C-08D3BD81B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WORD MATCH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BD9CBF-9564-46A5-A2B6-E3424246D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623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Best for named skills and tools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181FDAF-F961-41DD-AB29-36E6325FF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038600"/>
            <a:ext cx="4095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• Finds shared words and short phrases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• Works well for names like Python or SQL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• Quick and easy to explain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• Uses TF-IDF behind the scenes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B85CC6-599E-4909-862C-6A4B8EDC4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01015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Example: “Python”, “SQL”, “cloud”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E2BB47D-0F48-4A71-A7D1-B8DE911A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09800"/>
            <a:ext cx="5105400" cy="3143250"/>
          </a:xfrm>
          <a:prstGeom xmlns:a="http://schemas.openxmlformats.org/drawingml/2006/main" prst="roundRect">
            <a:avLst>
              <a:gd name="adj" fmla="val 4848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405C2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93D30A7-558C-45A3-A278-A4A2E6EF7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2514600"/>
            <a:ext cx="14668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05C2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METHOD 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B119A1-D5F6-4ECD-A630-24F01AB6A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028950"/>
            <a:ext cx="247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30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IDEA MATCH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E4710D-63D2-4064-8005-E3D4B78A4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35623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Best for everyday language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B2732C-C430-4B6A-B970-735572A8F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4038600"/>
            <a:ext cx="40957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• Finds courses with a similar idea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• Can match different wording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• Helps when the exact title is unknown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• Uses a neural model behind the scenes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5148F79-B7FB-4E85-A40D-1C1F17DFE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81800" y="5010150"/>
            <a:ext cx="4000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Example: “predictive modeling” ≈ “machine learning”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7E8BB7-1D02-4AAE-AF9C-20D64047F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1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F444A8-E7C2-41C7-92C0-5A0653D97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6265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FB45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FB454"/>
                </a:solidFill>
                <a:latin typeface="Aptos"/>
                <a:ea typeface="Aptos"/>
                <a:cs typeface="Aptos"/>
              </a:rPr>
              <a:t>The Both option shows the two result lists side by side.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DD3AF4-300E-450D-A827-86A46DDBC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SMARTCOURSE  /  PROJECT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7C521C-124C-4833-A04B-545DEA0F7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43256329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D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kicker">
            <a:extLst xmlns:a="http://schemas.openxmlformats.org/drawingml/2006/main">
              <a:ext uri="{FF2B5EF4-FFF2-40B4-BE49-F238E27FC236}">
                <a16:creationId xmlns:a16="http://schemas.microsoft.com/office/drawing/2014/main" id="{245669C0-7E3D-433C-8801-9653962C3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04 / HOW IT GETS READY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B098AC31-9037-447D-807B-92EC91570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Most preparation is done before the learner searches.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16C11698-AF8A-4F5D-BDC3-B3B462193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The course list is organized once so recommendations can appear quickly.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70023A-E3AA-4FA4-A16E-562C5E9D4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6CD0EE-782C-4C57-B133-DB5B9D77D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18097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A53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BEFORE A SEARCH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937DEC-F624-482C-BCC2-1AA29FEA8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371850"/>
            <a:ext cx="4762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941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C61DA8-61CA-430A-AB7A-43BC676F9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2095500" cy="1352550"/>
          </a:xfrm>
          <a:prstGeom xmlns:a="http://schemas.openxmlformats.org/drawingml/2006/main" prst="roundRect">
            <a:avLst>
              <a:gd name="adj" fmla="val 11268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2BD9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EA38B0E-5CC4-4E0D-B12B-E66EC563D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289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CC4B3E8-C403-4056-8AE7-3F5C36972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956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Collect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EA0FC7-19B1-4F50-B972-BC4FE7C28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766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course catalog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8,500+ courses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B369FD4-D5D1-458D-9772-8B67DDF82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371850"/>
            <a:ext cx="4762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941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95D4CD-343A-46E2-BB12-83366BB58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838450"/>
            <a:ext cx="2095500" cy="1352550"/>
          </a:xfrm>
          <a:prstGeom xmlns:a="http://schemas.openxmlformats.org/drawingml/2006/main" prst="roundRect">
            <a:avLst>
              <a:gd name="adj" fmla="val 11268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2BD9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B3A477-B7F8-423F-A823-7BA84867A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0289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F78ED58-ED4B-460E-BC84-44101E479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2956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Organize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3527481-D276-4937-9211-1C2F793D1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6766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remove duplicates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standardize text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2B3CE4-B0A1-4877-8899-A1B4A7950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371850"/>
            <a:ext cx="476250" cy="2286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941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45E9B1-51E9-4E28-A22F-E123C272D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838450"/>
            <a:ext cx="2095500" cy="1352550"/>
          </a:xfrm>
          <a:prstGeom xmlns:a="http://schemas.openxmlformats.org/drawingml/2006/main" prst="roundRect">
            <a:avLst>
              <a:gd name="adj" fmla="val 11268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B9F36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A98EBB9-7833-4FC4-BF88-DE3171123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0289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DF37366-C152-4DA0-A3FF-7C5781B2F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2956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Learn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1E7CE58-D898-4C90-AFB3-A175DAB43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36766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find word and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meaning patterns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E0BE44-7D06-4F7E-B208-569CD0805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838450"/>
            <a:ext cx="2095500" cy="1352550"/>
          </a:xfrm>
          <a:prstGeom xmlns:a="http://schemas.openxmlformats.org/drawingml/2006/main" prst="roundRect">
            <a:avLst>
              <a:gd name="adj" fmla="val 11268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B9F36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7B58BC-D42E-4721-8F61-EE3E9BBEF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289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19F5C6-8172-4DF7-99A9-CBDE86996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2956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222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Save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CB12D8C-4188-4FBC-9CF7-E131996C1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67665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prepared models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ready to use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556FCC-067B-4467-A5CF-C852718016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1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BAE348E-EFDC-4AE7-B741-E7D898D20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276350" cy="2857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405C2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76200" tIns="0" rIns="7620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WHEN SEARCHING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124EDA-2434-4BFB-808B-4DF5E7DF89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18160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Read request → find matches → show best courses → remember the search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8A6533D-2A3C-44E5-B4BA-C87543BD6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53100"/>
            <a:ext cx="857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F839A"/>
                </a:solidFill>
                <a:latin typeface="Aptos"/>
                <a:ea typeface="Aptos"/>
                <a:cs typeface="Aptos"/>
              </a:rPr>
              <a:t>This preparation keeps the experience fast and consistent.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B3F0AB-E85C-4135-BB30-CECC97926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SMARTCOURSE  /  PROJECT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34B1CB7-64AF-4AEA-B16C-292B65D22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21644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kicker">
            <a:extLst xmlns:a="http://schemas.openxmlformats.org/drawingml/2006/main">
              <a:ext uri="{FF2B5EF4-FFF2-40B4-BE49-F238E27FC236}">
                <a16:creationId xmlns:a16="http://schemas.microsoft.com/office/drawing/2014/main" id="{534CEC62-7A9A-4F46-A541-C857B19CD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05 / HOW THE PARTS CONNECT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A36B5DCF-1CEC-4AFE-94B6-A7A4F2D92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Three simple parts work together.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586C930C-268D-45A7-BDF2-058E72B77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The screens, app logic, and stored information each have a clear job.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39656B-0B24-40CB-8E5C-21F858CD1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A6395A-1CDF-4786-A6AF-15B3F6464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10972800" cy="102870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2BD9EE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8C3217-21E8-4966-B933-D22C32768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4315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WHAT USERS SEE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0C0F6-6457-4347-885A-D3866E230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289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80892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Pages for finding and saving courses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7B0DB0-4083-44E9-B781-84BE9C5F8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419350"/>
            <a:ext cx="16002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08111F"/>
          </a:solidFill>
          <a:ln xmlns:a="http://schemas.openxmlformats.org/drawingml/2006/main" w="9525">
            <a:solidFill>
              <a:srgbClr val="18304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1BA2F2-B335-4F98-8BBC-7E3545494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53365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Home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A9C5D2-8BDA-4A98-BEDE-F75AF4300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419350"/>
            <a:ext cx="16002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08111F"/>
          </a:solidFill>
          <a:ln xmlns:a="http://schemas.openxmlformats.org/drawingml/2006/main" w="9525">
            <a:solidFill>
              <a:srgbClr val="18304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E0F918-9D26-484C-B08F-F42E783C6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253365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Recommendations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B345C1-99BA-4776-B64D-25966687E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2419350"/>
            <a:ext cx="16002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08111F"/>
          </a:solidFill>
          <a:ln xmlns:a="http://schemas.openxmlformats.org/drawingml/2006/main" w="9525">
            <a:solidFill>
              <a:srgbClr val="18304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B36B96E-2D0C-40C7-9530-DBF2734A3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53365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Dashboard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3FB1D9-FFF5-499E-BED4-A92AFBA67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419350"/>
            <a:ext cx="16002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08111F"/>
          </a:solidFill>
          <a:ln xmlns:a="http://schemas.openxmlformats.org/drawingml/2006/main" w="9525">
            <a:solidFill>
              <a:srgbClr val="18304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9A16BE2-AFAE-41BD-BAA4-2F6D2F46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53365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About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5D0BDC-5343-4B33-9E7C-E71200B4C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67100"/>
            <a:ext cx="10972800" cy="102870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42B45"/>
          </a:solidFill>
          <a:ln xmlns:a="http://schemas.openxmlformats.org/drawingml/2006/main" w="9525">
            <a:solidFill>
              <a:srgbClr val="8E7C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146A809-12CF-499F-A54F-8D79D4ED1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5760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8E7C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8E7CFF"/>
                </a:solidFill>
                <a:latin typeface="Aptos"/>
                <a:ea typeface="Aptos"/>
                <a:cs typeface="Aptos"/>
              </a:rPr>
              <a:t>WHAT THE APP DOES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0990B84-B79E-4FB0-9C16-BC9D73F79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4335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Handles the learner's actions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D0BB9ED-5D07-4073-A6BC-949D98070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733800"/>
            <a:ext cx="16002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08111F"/>
          </a:solidFill>
          <a:ln xmlns:a="http://schemas.openxmlformats.org/drawingml/2006/main" w="9525">
            <a:solidFill>
              <a:srgbClr val="18304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FC4341D-772B-4A32-8B85-48E90D8B3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4810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Receive request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7C5152E-545C-4A48-8D5B-7BDDDD072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33800"/>
            <a:ext cx="16002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08111F"/>
          </a:solidFill>
          <a:ln xmlns:a="http://schemas.openxmlformats.org/drawingml/2006/main" w="9525">
            <a:solidFill>
              <a:srgbClr val="18304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AA81145-C9F2-4791-94C0-C9DBA765F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384810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Find matches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5801BF-8E80-4EC5-A3CB-427093FB45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733800"/>
            <a:ext cx="16002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08111F"/>
          </a:solidFill>
          <a:ln xmlns:a="http://schemas.openxmlformats.org/drawingml/2006/main" w="9525">
            <a:solidFill>
              <a:srgbClr val="18304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702D667-3B1D-4D59-B5E4-96C93A006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84810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Save history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92149AD-0715-451D-A201-F7DB69CC2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733800"/>
            <a:ext cx="16002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08111F"/>
          </a:solidFill>
          <a:ln xmlns:a="http://schemas.openxmlformats.org/drawingml/2006/main" w="9525">
            <a:solidFill>
              <a:srgbClr val="18304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4CC504-D628-42DF-ADD3-A0BB30D0D0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384810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Show results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EB7A241-993C-4F60-8842-DAB477AC7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10972800" cy="102870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B9F36D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A2E94F2-5A0F-49E6-837C-0A6E3C1E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7205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WHAT IT REMEMBERS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84B71BD-9781-466D-8CE6-721E00E20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57800"/>
            <a:ext cx="2190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5966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Courses, searches, and trained models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7D3F558-CFFB-40CB-94BB-AE8011F9D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5048250"/>
            <a:ext cx="16002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08111F"/>
          </a:solidFill>
          <a:ln xmlns:a="http://schemas.openxmlformats.org/drawingml/2006/main" w="9525">
            <a:solidFill>
              <a:srgbClr val="183047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8931C98-43C6-4F9E-B6C9-F11A605E9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16255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Saved searches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DD65E26-9699-4103-AD50-181C5316F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5048250"/>
            <a:ext cx="16002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08111F"/>
          </a:solidFill>
          <a:ln xmlns:a="http://schemas.openxmlformats.org/drawingml/2006/main" w="9525">
            <a:solidFill>
              <a:srgbClr val="18304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27D877F-F497-4826-B6DD-4078F28E2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516255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Course catalog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7CD8C56-EDD4-4988-9926-A8F53DFB2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5048250"/>
            <a:ext cx="16002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08111F"/>
          </a:solidFill>
          <a:ln xmlns:a="http://schemas.openxmlformats.org/drawingml/2006/main" w="9525">
            <a:solidFill>
              <a:srgbClr val="183047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B7AEF6F-9AFE-4FB4-87CC-E09C8ABE4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516255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Word matcher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262B1646-AFA2-420E-B49E-BC147CBEF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048250"/>
            <a:ext cx="1600200" cy="476250"/>
          </a:xfrm>
          <a:prstGeom xmlns:a="http://schemas.openxmlformats.org/drawingml/2006/main" prst="roundRect">
            <a:avLst>
              <a:gd name="adj" fmla="val 24000"/>
            </a:avLst>
          </a:prstGeom>
          <a:solidFill xmlns:a="http://schemas.openxmlformats.org/drawingml/2006/main">
            <a:srgbClr val="08111F"/>
          </a:solidFill>
          <a:ln xmlns:a="http://schemas.openxmlformats.org/drawingml/2006/main" w="9525">
            <a:solidFill>
              <a:srgbClr val="183047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06BCBFC-D5C7-4C3B-A040-9BAC5F351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516255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Meaning matcher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1AB7EEE-6A12-44BC-B107-A8910A312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0"/>
            <a:ext cx="857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F839A"/>
                </a:solidFill>
                <a:latin typeface="Aptos"/>
                <a:ea typeface="Aptos"/>
                <a:cs typeface="Aptos"/>
              </a:rPr>
              <a:t>Together, these parts keep the experience organized and reliable.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F8D6E5F-3F51-4BB5-B2AA-156E80372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SMARTCOURSE  /  PROJECT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B323933-2153-4C54-92DA-19D49787B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8260433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D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kicker">
            <a:extLst xmlns:a="http://schemas.openxmlformats.org/drawingml/2006/main">
              <a:ext uri="{FF2B5EF4-FFF2-40B4-BE49-F238E27FC236}">
                <a16:creationId xmlns:a16="http://schemas.microsoft.com/office/drawing/2014/main" id="{9C220030-2B59-41FF-9239-49CA10276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06 / AFTER YOU CLICK SEARCH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C50D02CA-A9F2-4083-83F8-864A1D037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A course request moves through five clear steps.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39016C70-D2B5-4F3C-A358-606F4E64A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The app checks the request, finds matches, saves the search, and displays the results.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DE6876-67B4-4708-84F1-AAB1F9AAE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8430C28-F900-485C-83A5-C3F4D50E2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209800"/>
            <a:ext cx="4762500" cy="2952750"/>
          </a:xfrm>
          <a:prstGeom xmlns:a="http://schemas.openxmlformats.org/drawingml/2006/main" prst="roundRect">
            <a:avLst>
              <a:gd name="adj" fmla="val 5161"/>
            </a:avLst>
          </a:prstGeom>
          <a:solidFill xmlns:a="http://schemas.openxmlformats.org/drawingml/2006/main">
            <a:srgbClr val="07101B"/>
          </a:solidFill>
          <a:ln xmlns:a="http://schemas.openxmlformats.org/drawingml/2006/main" w="9525">
            <a:solidFill>
              <a:srgbClr val="183047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93CAF6-524F-4ACA-A05A-D5F821C60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14600"/>
            <a:ext cx="3905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BD9EE"/>
                </a:solidFill>
                <a:latin typeface="Courier New"/>
                <a:ea typeface="Courier New"/>
                <a:cs typeface="Courier New"/>
              </a:defRPr>
            </a:pPr>
            <a:r>
              <a:rPr sz="1650" b="1">
                <a:solidFill>
                  <a:srgbClr val="2BD9EE"/>
                </a:solidFill>
                <a:latin typeface="Courier New"/>
                <a:ea typeface="Courier New"/>
                <a:cs typeface="Courier New"/>
              </a:rPr>
              <a:t>YOUR REQUEST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516CC7-0EE1-40A9-9D1D-11574953D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09900"/>
            <a:ext cx="390525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F5F8FC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F5F8FC"/>
                </a:solidFill>
                <a:latin typeface="Courier New"/>
                <a:ea typeface="Courier New"/>
                <a:cs typeface="Courier New"/>
              </a:rPr>
              <a:t>“I want to learn Python for data science.”</a:t>
            </a:r>
          </a:p>
          <a:p xmlns:a="http://schemas.openxmlformats.org/drawingml/2006/main">
            <a:pPr algn="l">
              <a:buNone/>
              <a:defRPr sz="1425" b="0">
                <a:solidFill>
                  <a:srgbClr val="F5F8FC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F5F8FC"/>
                </a:solidFill>
                <a:latin typeface="Courier New"/>
                <a:ea typeface="Courier New"/>
                <a:cs typeface="Courier New"/>
              </a:rPr>
              <a:t/>
            </a:r>
          </a:p>
          <a:p xmlns:a="http://schemas.openxmlformats.org/drawingml/2006/main">
            <a:pPr algn="l">
              <a:buNone/>
              <a:defRPr sz="1425" b="0">
                <a:solidFill>
                  <a:srgbClr val="F5F8FC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F5F8FC"/>
                </a:solidFill>
                <a:latin typeface="Courier New"/>
                <a:ea typeface="Courier New"/>
                <a:cs typeface="Courier New"/>
              </a:rPr>
              <a:t>Choose: Both methods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8112A6A-4CC3-4693-BA4C-DF88B5941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686300"/>
            <a:ext cx="3905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B9F36D"/>
                </a:solidFill>
                <a:latin typeface="Courier New"/>
                <a:ea typeface="Courier New"/>
                <a:cs typeface="Courier New"/>
              </a:defRPr>
            </a:pPr>
            <a:r>
              <a:rPr sz="1200" b="1">
                <a:solidFill>
                  <a:srgbClr val="B9F36D"/>
                </a:solidFill>
                <a:latin typeface="Courier New"/>
                <a:ea typeface="Courier New"/>
                <a:cs typeface="Courier New"/>
              </a:rPr>
              <a:t>Click “Find Courses”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4F12DD-1A75-44C7-ADA6-DCC6CDDD3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860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8AB3FB-7ABA-4732-A2D0-08D1B92356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4790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BA7431-95C2-4A67-B70E-365548588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24790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5F8FC"/>
                </a:solidFill>
                <a:latin typeface="Courier New"/>
                <a:ea typeface="Courier New"/>
                <a:cs typeface="Courier New"/>
              </a:defRPr>
            </a:pPr>
            <a:r>
              <a:rPr sz="1275" b="1">
                <a:solidFill>
                  <a:srgbClr val="F5F8FC"/>
                </a:solidFill>
                <a:latin typeface="Courier New"/>
                <a:ea typeface="Courier New"/>
                <a:cs typeface="Courier New"/>
              </a:rPr>
              <a:t>Check the request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86DD689-D474-4E66-A0D9-DDBE6BAF8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2479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make sure a goal was entered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17C71BC-5A1C-4B76-897D-6E765C90A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3337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8CB6AC-ADCF-4036-A7C8-9C3AAEFC7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9560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BC3DFF9-0129-4647-AA17-87E806E98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89560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8832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5F8FC"/>
                </a:solidFill>
                <a:latin typeface="Courier New"/>
                <a:ea typeface="Courier New"/>
                <a:cs typeface="Courier New"/>
              </a:defRPr>
            </a:pPr>
            <a:r>
              <a:rPr sz="1275" b="1">
                <a:solidFill>
                  <a:srgbClr val="F5F8FC"/>
                </a:solidFill>
                <a:latin typeface="Courier New"/>
                <a:ea typeface="Courier New"/>
                <a:cs typeface="Courier New"/>
              </a:rPr>
              <a:t>Find matching courses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1BA02A-0D2D-407C-A43C-4134EC502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8956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use both matching methods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BAEA20-D450-4A8B-B859-712846B16D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814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0CBCE4-D8BB-4AC4-A913-74F747A92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54330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FA6095-2B4C-436A-8FC9-A6D0BE738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54330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5F8FC"/>
                </a:solidFill>
                <a:latin typeface="Courier New"/>
                <a:ea typeface="Courier New"/>
                <a:cs typeface="Courier New"/>
              </a:defRPr>
            </a:pPr>
            <a:r>
              <a:rPr sz="1275" b="1">
                <a:solidFill>
                  <a:srgbClr val="F5F8FC"/>
                </a:solidFill>
                <a:latin typeface="Courier New"/>
                <a:ea typeface="Courier New"/>
                <a:cs typeface="Courier New"/>
              </a:rPr>
              <a:t>Sort the results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17FE58A-3C76-4083-AC3D-09D919639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35433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place the best matches first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0DEA3A-A260-4243-B73B-C94F7783D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6291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EB677A-E6E0-4C8B-9FEB-B1267790D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19100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B45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B454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B33E5AD-F402-47A9-B227-4C44F7902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19100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5F8FC"/>
                </a:solidFill>
                <a:latin typeface="Courier New"/>
                <a:ea typeface="Courier New"/>
                <a:cs typeface="Courier New"/>
              </a:defRPr>
            </a:pPr>
            <a:r>
              <a:rPr sz="1275" b="1">
                <a:solidFill>
                  <a:srgbClr val="F5F8FC"/>
                </a:solidFill>
                <a:latin typeface="Courier New"/>
                <a:ea typeface="Courier New"/>
                <a:cs typeface="Courier New"/>
              </a:rPr>
              <a:t>Save this search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719A8B-EFCD-4933-B589-90C4851C6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1910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keep it in the dashboard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5847146-21AA-4FD7-B04C-12AD67DE5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76850"/>
            <a:ext cx="4953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95513A3-DEA8-4B54-A8E8-67CD097CF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38700"/>
            <a:ext cx="800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B45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B454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74C215-DF99-4976-BBFF-B91E1D257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83870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5F8FC"/>
                </a:solidFill>
                <a:latin typeface="Courier New"/>
                <a:ea typeface="Courier New"/>
                <a:cs typeface="Courier New"/>
              </a:defRPr>
            </a:pPr>
            <a:r>
              <a:rPr sz="1275" b="1">
                <a:solidFill>
                  <a:srgbClr val="F5F8FC"/>
                </a:solidFill>
                <a:latin typeface="Courier New"/>
                <a:ea typeface="Courier New"/>
                <a:cs typeface="Courier New"/>
              </a:rPr>
              <a:t>Show useful details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4B0F19-708B-4C4C-B70D-99CE6BE28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8387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display scores and course facts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8BCB0B9-6698-48A9-AE7E-14EE61187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1975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78272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The learner sees clear results while the app handles the work in the background.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B10E7E3-0D60-4DA6-8BB1-A178BB080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SMARTCOURSE  /  PROJECT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E75CA460-A09C-47FF-8C19-C80FE93CA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719073366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D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kicker">
            <a:extLst xmlns:a="http://schemas.openxmlformats.org/drawingml/2006/main">
              <a:ext uri="{FF2B5EF4-FFF2-40B4-BE49-F238E27FC236}">
                <a16:creationId xmlns:a16="http://schemas.microsoft.com/office/drawing/2014/main" id="{6D1734A7-A4FB-4330-8692-41C698EAB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07 / SEE IT WORK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E30EDB54-C19F-4EDC-A406-6676EDA7D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The learner enters a goal and receives course recommendations.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89600BBD-E298-469F-8A9C-14B72655F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The real app lets the learner write what they want to learn and choose a matching method.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92AE05-0219-469C-AEFC-267C552A1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C6EBA0A-CC57-44A1-8886-8B5D3E1E2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5086350" cy="3695700"/>
          </a:xfrm>
          <a:prstGeom xmlns:a="http://schemas.openxmlformats.org/drawingml/2006/main" prst="roundRect">
            <a:avLst>
              <a:gd name="adj" fmla="val 4124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1A5366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6028e615a7f495d"/>
          <a:srcRect xmlns:a="http://schemas.openxmlformats.org/drawingml/2006/main" l="111" t="0" r="111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2950" y="2247900"/>
            <a:ext cx="4819650" cy="3086100"/>
          </a:xfrm>
          <a:prstGeom xmlns:a="http://schemas.openxmlformats.org/drawingml/2006/main" prst="roundRect">
            <a:avLst>
              <a:gd name="adj" fmla="val 4938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A35976-CB30-4B50-99C5-7913BDAFD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486400"/>
            <a:ext cx="4819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HOME  /  start with a learning goal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CB6320-5F98-4982-B19B-44F29FA9B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114550"/>
            <a:ext cx="5600700" cy="3695700"/>
          </a:xfrm>
          <a:prstGeom xmlns:a="http://schemas.openxmlformats.org/drawingml/2006/main" prst="roundRect">
            <a:avLst>
              <a:gd name="adj" fmla="val 4124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405C2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8cebf16ee440ea"/>
          <a:srcRect xmlns:a="http://schemas.openxmlformats.org/drawingml/2006/main" l="0" t="4720" r="0" b="472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15050" y="2247900"/>
            <a:ext cx="5334000" cy="3086100"/>
          </a:xfrm>
          <a:prstGeom xmlns:a="http://schemas.openxmlformats.org/drawingml/2006/main" prst="roundRect">
            <a:avLst>
              <a:gd name="adj" fmla="val 4938"/>
            </a:avLst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672889-2630-4886-902B-FACBF793B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486400"/>
            <a:ext cx="533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RECOMMENDATIONS  /  review the best matches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2A9B1D3-326F-47BE-ACC7-C70D384E3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SMARTCOURSE  /  PROJECT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843E97-BF62-4558-91E0-2EC82476B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94469867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kicker">
            <a:extLst xmlns:a="http://schemas.openxmlformats.org/drawingml/2006/main">
              <a:ext uri="{FF2B5EF4-FFF2-40B4-BE49-F238E27FC236}">
                <a16:creationId xmlns:a16="http://schemas.microsoft.com/office/drawing/2014/main" id="{C4670B94-FF56-47A3-8DA9-EBE06223E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08 / YOUR DASHBOARD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39DD5444-8297-4847-9C6C-620FA87EA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The dashboard keeps useful courses and past searches together.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2E695292-8D7D-43CA-ABF4-C9F1EEC27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Learners can return to earlier searches, review saved courses, and compare results.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68E5C9-AB76-424B-90EE-B8CACE6ED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0D3D23F-0359-4BE3-AB72-E144602C0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4095750"/>
          </a:xfrm>
          <a:prstGeom xmlns:a="http://schemas.openxmlformats.org/drawingml/2006/main" prst="roundRect">
            <a:avLst>
              <a:gd name="adj" fmla="val 3721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29415B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6"/>
          <a:fontRef xmlns:a="http://schemas.openxmlformats.org/drawingml/2006/main" idx="major"/>
        </p:style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ff45bce08a144de"/>
          <a:srcRect xmlns:a="http://schemas.openxmlformats.org/drawingml/2006/main" l="0" t="22010" r="0" b="2201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2950" y="2228850"/>
            <a:ext cx="10706100" cy="3829050"/>
          </a:xfrm>
          <a:prstGeom xmlns:a="http://schemas.openxmlformats.org/drawingml/2006/main" prst="roundRect">
            <a:avLst>
              <a:gd name="adj" fmla="val 3980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A0ECE9-13F3-4B8E-8AE5-BEF6495AE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886450"/>
            <a:ext cx="5715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B45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B454"/>
                </a:solidFill>
                <a:latin typeface="Aptos"/>
                <a:ea typeface="Aptos"/>
                <a:cs typeface="Aptos"/>
              </a:rPr>
              <a:t>DASHBOARD  /  history, saved courses, and comparison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B639B4-0CEB-4E4E-8A8E-972DC1BB4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SMARTCOURSE  /  PROJECT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43E4933-5AC2-4B3A-8335-0A87898B4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42868251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kicker">
            <a:extLst xmlns:a="http://schemas.openxmlformats.org/drawingml/2006/main">
              <a:ext uri="{FF2B5EF4-FFF2-40B4-BE49-F238E27FC236}">
                <a16:creationId xmlns:a16="http://schemas.microsoft.com/office/drawing/2014/main" id="{E71287A2-7D7A-4C81-AA4D-5004230A6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09 / YOUR LEARNING JOURNEY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D5CEF6C0-89B7-449D-B397-AAA794FB0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A search becomes a useful learning record.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7E73C16C-3348-4B72-84FD-FD1394B16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SmartCourse keeps the journey simple: search, compare, save, and return.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7A55FD-22AD-494A-8D3D-99A4E85EF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26F620-3316-4674-9C1E-29AE70B53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76600"/>
            <a:ext cx="9239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1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81C11C-D7BE-4651-8AF1-1FF9CB02A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67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D9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5BDA47-609A-434E-9483-C2C7292A5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147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26B891-B853-41EE-9BC6-0BD93346F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14800"/>
            <a:ext cx="198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Describe what you want to learn.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2773374-ABAC-4DDE-BDB6-86707CC30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067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8E7CFF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BF3876-002A-42AE-9275-4336D3FDC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7147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Compare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F8D0116-871D-4046-8127-B20CC858E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114800"/>
            <a:ext cx="198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Review results from both matching methods.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428AF5-B68A-4D29-9EF7-5D2A15FF0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3067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9F3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6768D5-8366-49A7-9D06-C4A41EF58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7147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Save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919048-6CC4-4BAF-BA3C-6A285C35A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114800"/>
            <a:ext cx="198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Keep a promising course for later.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22BD3C9-4F6B-444A-8905-057EE9BFC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3067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45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FC42E3-01D0-4072-B6B1-74DE8C2D7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37147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Revisit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2AC62C2-622C-4A06-A520-37349397A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114800"/>
            <a:ext cx="1981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Open the dashboard and continue.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C14A6D2-C8CD-414B-AB58-9C7505D12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76850"/>
            <a:ext cx="10972800" cy="64770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29415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88DC987-1792-44B8-BC21-D753B911B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48640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WHAT IS SAVED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17EF6B-6F5B-478E-BA46-9B002D94A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4673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search history  ↔  saved courses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16361F-CA8F-4B5D-BAAE-381FDF6BE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486400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Course details stay available for review.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CD7A27-1E1B-49B6-8B1B-7859F5016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SMARTCOURSE  /  PROJECT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7603B3-C1FB-4111-969A-3644AC25A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757062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D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kicker">
            <a:extLst xmlns:a="http://schemas.openxmlformats.org/drawingml/2006/main">
              <a:ext uri="{FF2B5EF4-FFF2-40B4-BE49-F238E27FC236}">
                <a16:creationId xmlns:a16="http://schemas.microsoft.com/office/drawing/2014/main" id="{69C8EC7F-472E-4DEE-92B2-9B3DACD99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10 / HOW WE CHECK QUALITY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9DE0FFFF-BDBE-4D3E-8635-DD632E02E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We check whether the recommended courses are useful.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4C4F6664-8347-4FEF-B1BD-F926F9353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The system is tested with example learning goals and known useful courses.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758306-F211-460F-AD3B-2D6E60051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4F5ECCF-354E-46FB-9A8C-8470F5569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81250"/>
            <a:ext cx="533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BD9E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55DB31-8A55-425B-8F19-7B2DD7067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336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Useful suggestions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101E41-C18F-4845-903A-F656E7685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337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How many top results actually match the learner's goal?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67490F-2F79-4620-9F01-D696659FC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381250"/>
            <a:ext cx="533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9F36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8B0548-B2E1-4153-9918-4ABBD29F6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5336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Good coverage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1E5F0B-1E6E-4357-8829-CD2006448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9337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How many known useful courses appear in the results?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3FCEF9-A058-4B33-B2A1-52A125CB1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81250"/>
            <a:ext cx="5334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454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45D2351-BF24-4A62-9B20-F0668D260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5336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One strong match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BD9176-A700-4096-83D2-BEB7361AE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9337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Does the list include at least one helpful course?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88B3258-3A73-44DD-AE0E-2516442EC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8145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1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F3FD259-6F36-4D4F-BBE8-0C7BC57A7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24350"/>
            <a:ext cx="3048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How the check works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B0B08CE-0CB2-4EF5-B68F-9D606DF0F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72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D9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F7520F-1646-4541-9B70-55B4BCECC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9720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Choose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B39EA13-9BAC-49E2-8EA9-6C17B2DEE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2578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example learning goals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8C47687-BC4B-4474-8346-80E57693B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972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D9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7A04C2-289F-4320-999C-61B299655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49720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Run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93A345-45BA-4765-A369-D1D727CC96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52578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both matching methods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7CCFF7-44C2-4BAA-B883-DCDC26BBE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972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BD9EE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0D63B0C-47C4-4AD9-A67B-AE40CF409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9720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Check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9893D6E-86D2-4062-A180-ECF8FE6B4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52578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results against expected courses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4D93CDC-60D5-496E-8E7E-3DDBFF34E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972050"/>
            <a:ext cx="400050" cy="4000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45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08111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8111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3C71FF-9A32-4304-BD02-D4BF5A19E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972050"/>
            <a:ext cx="152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Review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697C4D2-97D5-4873-9F5F-423FC7365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5257800"/>
            <a:ext cx="171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overall recommendation quality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3EFB332-3AFD-4D43-9364-FBD0457EF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00750"/>
            <a:ext cx="952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6F839A"/>
                </a:solidFill>
                <a:latin typeface="Aptos"/>
                <a:ea typeface="Aptos"/>
                <a:cs typeface="Aptos"/>
              </a:rPr>
              <a:t>The current test set is small, so results guide improvement rather than prove perfect accuracy.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6976999-C2A4-4F44-97A2-B248635BA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SMARTCOURSE  /  PROJECT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E1BC9D6-B681-4FCE-8F3A-EB2CF85E5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32022069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8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kicker">
            <a:extLst xmlns:a="http://schemas.openxmlformats.org/drawingml/2006/main">
              <a:ext uri="{FF2B5EF4-FFF2-40B4-BE49-F238E27FC236}">
                <a16:creationId xmlns:a16="http://schemas.microsoft.com/office/drawing/2014/main" id="{7E88BB82-099B-4D83-AAB5-B64680EC6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11 / WHY THESE CHOICES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8B205894-F4BD-43EA-AABA-367CBB65D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Each choice keeps the prototype clear and practical.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1417A30B-0258-4B6F-BB18-5146C6F85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The project combines fast matching, smarter matching, and a simple web experience.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6DB1FB-F7EA-431D-AB9F-90EB15E52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51290D-D4D3-483E-99C6-B520D1AEA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52197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2BD9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14BDD4-29D4-4871-B377-01213E279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241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Why use word matching?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9759FE-5E6B-477A-B662-522932958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63842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It is fast and easy to understand when exact terms matter.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36EDBA-9ADE-4244-9F88-4D160058C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52650"/>
            <a:ext cx="52197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B9F36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91C8FD-C027-4E9A-B99E-991846F54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3241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Why use meaning matching?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9A3752-460E-45CC-8D95-133DA1AC7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3842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It finds related topics even when the words are different.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376EF0-969F-48AE-851E-8272742F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197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2BD9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E01501-F609-4417-8CCA-E6E05C841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3909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How are courses compared?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15C700-164F-425D-8BCB-93606DD7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0522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Each course receives a match score so results can be ordered.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503953-C986-4C9D-85A6-EDFF0278C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219450"/>
            <a:ext cx="52197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B9F36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BE267A7-49E9-4B60-BCF0-4087F7053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3909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Why a lightweight web app?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FBDF4D7-0424-42D1-8B24-A7E8C96B7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70522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It is simple to run and stores searches without a complex setup.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546E48-096D-4F42-A9F8-7A5F0B4E6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52197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2BD9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5B38D31-CB30-4891-981A-186F60CF7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577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What does “Both” mean?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03CCAE-D174-44F6-9BBB-EB4569423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77202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The two result lists appear side by side for easy comparison.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6B1443-83BB-4BD1-BCFF-B57DDB4D6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4286250"/>
            <a:ext cx="5219700" cy="895350"/>
          </a:xfrm>
          <a:prstGeom xmlns:a="http://schemas.openxmlformats.org/drawingml/2006/main" prst="roundRect">
            <a:avLst>
              <a:gd name="adj" fmla="val 17021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B9F36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298B8F-A3E0-47B5-B7A9-842082E77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5770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What can improve next?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C8BCB9-459C-4116-964E-AE197B0D9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72025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125" b="0">
                <a:solidFill>
                  <a:srgbClr val="F5F8FC"/>
                </a:solidFill>
                <a:latin typeface="Aptos"/>
                <a:ea typeface="Aptos"/>
                <a:cs typeface="Aptos"/>
              </a:rPr>
              <a:t>More test data, personal accounts, filters, and stronger security.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DCE2520-DB7E-447F-A467-6DC09B2CCE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86400"/>
            <a:ext cx="10972800" cy="64770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142B45"/>
          </a:solidFill>
          <a:ln xmlns:a="http://schemas.openxmlformats.org/drawingml/2006/main" w="9525">
            <a:solidFill>
              <a:srgbClr val="29415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A7DF4E-783F-4CA3-919F-EDF9CDC06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7690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FB45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FFB454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36370CE-B1FB-4EED-9590-8B38F7403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676900"/>
            <a:ext cx="8286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Learn from feedback · combine scores · add filters · improve personalization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685886-6B73-4DA0-A19A-235767718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SMARTCOURSE  /  PROJECT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90CBE3-CAFD-4D25-90AB-45F1C7C55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90969696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D1B2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kicker">
            <a:extLst xmlns:a="http://schemas.openxmlformats.org/drawingml/2006/main">
              <a:ext uri="{FF2B5EF4-FFF2-40B4-BE49-F238E27FC236}">
                <a16:creationId xmlns:a16="http://schemas.microsoft.com/office/drawing/2014/main" id="{A116E1FC-2C26-4A18-815C-9AD19BE0B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495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12 / SIMPLE DEMO</a:t>
            </a:r>
          </a:p>
        </p:txBody>
      </p:sp>
      <p:sp>
        <p:nvSpPr>
          <p:cNvPr id="2" name="title">
            <a:extLst xmlns:a="http://schemas.openxmlformats.org/drawingml/2006/main">
              <a:ext uri="{FF2B5EF4-FFF2-40B4-BE49-F238E27FC236}">
                <a16:creationId xmlns:a16="http://schemas.microsoft.com/office/drawing/2014/main" id="{2823683A-AD15-46ED-8E65-EA4EB225C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6750"/>
            <a:ext cx="10763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28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The complete journey is search → compare → save → revisit.</a:t>
            </a:r>
          </a:p>
        </p:txBody>
      </p:sp>
      <p:sp>
        <p:nvSpPr>
          <p:cNvPr id="3" name="subtitle">
            <a:extLst xmlns:a="http://schemas.openxmlformats.org/drawingml/2006/main">
              <a:ext uri="{FF2B5EF4-FFF2-40B4-BE49-F238E27FC236}">
                <a16:creationId xmlns:a16="http://schemas.microsoft.com/office/drawing/2014/main" id="{F4322033-0059-437B-B86E-72E10D7C5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62075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Four short actions show how SmartCourse helps a learner choose.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3FD94F-52E7-4C62-ADBF-39834FFEB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526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57CC58C-AA8F-4DCE-AF76-20C7D4901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2266950" cy="224790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2BD9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35FEFD-3824-4148-8C41-6A348D631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813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641809-28CB-49A3-BECA-92FA1E9922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385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154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Search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4F5155-0B27-41C6-8173-8859432C5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771900"/>
            <a:ext cx="180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Open Recommendations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Enter a learning goal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33747B-1045-42BA-BD00-1BB8DF8D7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33900"/>
            <a:ext cx="1752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DFCB4C-34F0-406B-A5F0-F8E272F11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552950"/>
            <a:ext cx="1809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58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F839A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6F839A"/>
                </a:solidFill>
                <a:latin typeface="Courier New"/>
                <a:ea typeface="Courier New"/>
                <a:cs typeface="Courier New"/>
              </a:rPr>
              <a:t>Start with your own words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ED92D3-6994-4E5E-8F83-175500801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71750"/>
            <a:ext cx="2266950" cy="224790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8E7CFF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A55CA3-57CF-4574-AF92-64AB5DB5C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7813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8E7C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8E7C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58762E-DC7E-4042-974A-1A3922481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2385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154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Compare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4841AB-C649-4B54-B209-DB5231EE0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3771900"/>
            <a:ext cx="180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Choose Both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Review two result lists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658D504-C34D-48FB-873A-19E33C1C8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533900"/>
            <a:ext cx="1752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81258F3-6DB7-4124-93F6-1D23346AF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4552950"/>
            <a:ext cx="1809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F839A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6F839A"/>
                </a:solidFill>
                <a:latin typeface="Courier New"/>
                <a:ea typeface="Courier New"/>
                <a:cs typeface="Courier New"/>
              </a:rPr>
              <a:t>See words and meaning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3C4106A-29EA-4C36-A9E1-733CCB301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571750"/>
            <a:ext cx="2266950" cy="224790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B9F36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40779D8-2496-4AC8-BBC4-A57303732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7813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9FAAB0B-0090-461A-BA17-5CC5318BE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385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154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Save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C0BBD5-473B-4FF4-B8B0-DF9E307ED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71900"/>
            <a:ext cx="180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Choose a course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Click Save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F65D358-CD8E-41BE-95E4-7B2C6E439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533900"/>
            <a:ext cx="1752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750455-FE84-4600-A685-D5A4C8B07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552950"/>
            <a:ext cx="1809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F839A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6F839A"/>
                </a:solidFill>
                <a:latin typeface="Courier New"/>
                <a:ea typeface="Courier New"/>
                <a:cs typeface="Courier New"/>
              </a:rPr>
              <a:t>Keep it for later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881A668-0093-4F38-BE3E-574ACA937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571750"/>
            <a:ext cx="2266950" cy="224790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FFB454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C0564E-6CA3-4F26-A9AE-BC9A9C0D4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781300"/>
            <a:ext cx="342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B45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B454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9AC3D8-4761-4A7A-B1BA-89F15DBF2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2385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154"/>
          </a:bodyPr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Revisit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DA0271-F682-4008-9C54-D71A2D488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3771900"/>
            <a:ext cx="180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Open Dashboard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275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Review saved courses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E6C158-E7FD-4B13-8F9F-B12A72BF8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533900"/>
            <a:ext cx="1752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8304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51251C9-481E-44D4-81D5-7DF4083AC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4552950"/>
            <a:ext cx="1809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F839A"/>
                </a:solidFill>
                <a:latin typeface="Courier New"/>
                <a:ea typeface="Courier New"/>
                <a:cs typeface="Courier New"/>
              </a:defRPr>
            </a:pPr>
            <a:r>
              <a:rPr sz="975" b="1">
                <a:solidFill>
                  <a:srgbClr val="6F839A"/>
                </a:solidFill>
                <a:latin typeface="Courier New"/>
                <a:ea typeface="Courier New"/>
                <a:cs typeface="Courier New"/>
              </a:rPr>
              <a:t>Continue anytime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9366544-BB4E-41F8-9582-67AE0BDA1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19750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Every step stays connected from the first search to the saved course.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F51B8FC-BEDB-44B2-9893-1C3A0FBEB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238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SMARTCOURSE  /  PROJECT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8CD178F-3C3C-4DCF-A789-7A156F74F5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666282378"/>
      </p:ext>
    </p:extLst>
  </p:cSld>
</p:sld>
</file>

<file path=ppt/slides/slide14.xml><?xml version="1.0" encoding="utf-8"?>
<p:sld xmlns:p="http://schemas.openxmlformats.org/presentationml/2006/main">
  <p:cSld>
    <p:bg>
      <p:bgPr>
        <a:gradFill xmlns:a="http://schemas.openxmlformats.org/drawingml/2006/main">
          <a:gsLst>
            <a:gs pos="0">
              <a:srgbClr val="08111F"/>
            </a:gs>
            <a:gs pos="60000">
              <a:srgbClr val="10243A"/>
            </a:gs>
            <a:gs pos="100000">
              <a:srgbClr val="102B2C"/>
            </a:gs>
          </a:gsLst>
          <a:lin ang="810000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F2797C-F109-446E-B6D2-D3297209C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THE TAKEAWAY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5AA80F-149D-496E-8BE6-9946B5BB1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200150"/>
            <a:ext cx="6572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37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37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SmartCourse makes finding</a:t>
            </a:r>
          </a:p>
          <a:p xmlns:a="http://schemas.openxmlformats.org/drawingml/2006/main">
            <a:pPr algn="l">
              <a:buNone/>
              <a:defRPr sz="375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375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courses simpler and clearer.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EF1FCB-1761-465A-AAD1-6530661693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38450"/>
            <a:ext cx="6286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A7B7C9"/>
                </a:solidFill>
                <a:latin typeface="Aptos"/>
                <a:ea typeface="Aptos"/>
                <a:cs typeface="Aptos"/>
              </a:defRPr>
            </a:pPr>
            <a:r>
              <a:rPr sz="1650" b="0">
                <a:solidFill>
                  <a:srgbClr val="A7B7C9"/>
                </a:solidFill>
                <a:latin typeface="Aptos"/>
                <a:ea typeface="Aptos"/>
                <a:cs typeface="Aptos"/>
              </a:rPr>
              <a:t>It understands a learner's goal, offers ranked choices, explains the match, and keeps useful courses available for later.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48E830-A0B3-4FB9-B604-4E06A29D0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0"/>
            <a:ext cx="5619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9415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D1072B-F148-4428-9192-EA9EA96E7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62450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30A229-27BB-4D1B-A544-B2847DE3F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too many choices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DBC9DD-CFFE-47F2-9281-8221660E1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362450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B9F36D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B9F36D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E20B24-BC70-47B5-932E-377307A3C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46672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two matching methods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48D8FC-7266-4ECE-AB09-AFC4B1D58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362450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FB454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B454"/>
                </a:solidFill>
                <a:latin typeface="Aptos"/>
                <a:ea typeface="Aptos"/>
                <a:cs typeface="Aptos"/>
              </a:rPr>
              <a:t>Outcome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F13248-8380-4F9B-AF11-7F8E2F864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667250"/>
            <a:ext cx="2000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confident decisions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B8699D-C9EE-4D24-AD1F-508481041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057400"/>
            <a:ext cx="2952750" cy="209550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10233A"/>
          </a:solidFill>
          <a:ln xmlns:a="http://schemas.openxmlformats.org/drawingml/2006/main" w="9525">
            <a:solidFill>
              <a:srgbClr val="2BD9EE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7"/>
          <a:fontRef xmlns:a="http://schemas.openxmlformats.org/drawingml/2006/main" idx="major"/>
        </p:style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DAF3A7-857E-4E20-A142-144A884D7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590800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2BD9EE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2BD9EE"/>
                </a:solidFill>
                <a:latin typeface="Aptos"/>
                <a:ea typeface="Aptos"/>
                <a:cs typeface="Aptos"/>
              </a:rPr>
              <a:t>QUESTIONS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AAC136-482B-4586-A577-5657A1855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238500"/>
            <a:ext cx="2343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buNone/>
              <a:defRPr sz="1500" b="1">
                <a:solidFill>
                  <a:srgbClr val="F5F8F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5F8FC"/>
                </a:solidFill>
                <a:latin typeface="Aptos"/>
                <a:ea typeface="Aptos"/>
                <a:cs typeface="Aptos"/>
              </a:rPr>
              <a:t>Project discussion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3D7EC17-ADB3-431F-97B4-60B73609D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F25PROJECTEC4D8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639D335-2575-4730-8BCE-E7CE0DDEA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19125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6F839A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6F839A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78543243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2026-08-19T22:10:31.2460000Z</dcterms:created>
  <dcterms:modified xsi:type="dcterms:W3CDTF">2026-08-19T22:10:31.2460000Z</dcterms:modified>
</coreProperties>
</file>