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a5506fa344732" /><Relationship Type="http://schemas.openxmlformats.org/officeDocument/2006/relationships/extended-properties" Target="/docProps/app.xml" Id="R6680cd70d8bb4ff2" /><Relationship Type="http://schemas.openxmlformats.org/officeDocument/2006/relationships/officeDocument" Target="/ppt/presentation.xml" Id="R2b336e4eaae344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2a0cd326f943c2"/>
  </p:sldMasterIdLst>
  <p:notesMasterIdLst>
    <p:notesMasterId xmlns:r="http://schemas.openxmlformats.org/officeDocument/2006/relationships" r:id="Rde7109d880c5400c"/>
  </p:notesMasterIdLst>
  <p:sldIdLst>
    <p:sldId xmlns:r="http://schemas.openxmlformats.org/officeDocument/2006/relationships" id="256" r:id="R0bfd50d747434d10"/>
    <p:sldId xmlns:r="http://schemas.openxmlformats.org/officeDocument/2006/relationships" id="257" r:id="R57da43e044964737"/>
    <p:sldId xmlns:r="http://schemas.openxmlformats.org/officeDocument/2006/relationships" id="258" r:id="R1ee1f7ddd0b8424c"/>
    <p:sldId xmlns:r="http://schemas.openxmlformats.org/officeDocument/2006/relationships" id="259" r:id="R36aa2ebe875b49e4"/>
    <p:sldId xmlns:r="http://schemas.openxmlformats.org/officeDocument/2006/relationships" id="260" r:id="Rdf8a6da4d1714205"/>
    <p:sldId xmlns:r="http://schemas.openxmlformats.org/officeDocument/2006/relationships" id="261" r:id="R0e4e27d51dab4401"/>
    <p:sldId xmlns:r="http://schemas.openxmlformats.org/officeDocument/2006/relationships" id="262" r:id="R521b6fe7c8784ac3"/>
    <p:sldId xmlns:r="http://schemas.openxmlformats.org/officeDocument/2006/relationships" id="263" r:id="R01fb2cdba87441c3"/>
    <p:sldId xmlns:r="http://schemas.openxmlformats.org/officeDocument/2006/relationships" id="264" r:id="R66facadcbc34425e"/>
    <p:sldId xmlns:r="http://schemas.openxmlformats.org/officeDocument/2006/relationships" id="265" r:id="Rbf9db1e25b1c4bdc"/>
    <p:sldId xmlns:r="http://schemas.openxmlformats.org/officeDocument/2006/relationships" id="266" r:id="R28c0fc76fce54428"/>
    <p:sldId xmlns:r="http://schemas.openxmlformats.org/officeDocument/2006/relationships" id="267" r:id="Rfb96dd56af5b4403"/>
    <p:sldId xmlns:r="http://schemas.openxmlformats.org/officeDocument/2006/relationships" id="268" r:id="R23612d1a3048424c"/>
    <p:sldId xmlns:r="http://schemas.openxmlformats.org/officeDocument/2006/relationships" id="269" r:id="R46063cc15fbb41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a662c27c864cbf" /><Relationship Type="http://schemas.openxmlformats.org/officeDocument/2006/relationships/slideMaster" Target="/ppt/slideMasters/slideMaster1.xml" Id="Rf62a0cd326f943c2" /><Relationship Type="http://schemas.openxmlformats.org/officeDocument/2006/relationships/notesMaster" Target="/ppt/notesMasters/notesMaster1.xml" Id="Rde7109d880c5400c" /><Relationship Type="http://schemas.openxmlformats.org/officeDocument/2006/relationships/presProps" Target="/ppt/presProps.xml" Id="R931d28c487d147b0" /><Relationship Type="http://schemas.openxmlformats.org/officeDocument/2006/relationships/tableStyles" Target="/ppt/tableStyles.xml" Id="R1b3efde1652f4771" /><Relationship Type="http://schemas.openxmlformats.org/officeDocument/2006/relationships/slide" Target="/ppt/slides/slide1.xml" Id="R0bfd50d747434d10" /><Relationship Type="http://schemas.openxmlformats.org/officeDocument/2006/relationships/slide" Target="/ppt/slides/slide2.xml" Id="R57da43e044964737" /><Relationship Type="http://schemas.openxmlformats.org/officeDocument/2006/relationships/slide" Target="/ppt/slides/slide3.xml" Id="R1ee1f7ddd0b8424c" /><Relationship Type="http://schemas.openxmlformats.org/officeDocument/2006/relationships/slide" Target="/ppt/slides/slide4.xml" Id="R36aa2ebe875b49e4" /><Relationship Type="http://schemas.openxmlformats.org/officeDocument/2006/relationships/slide" Target="/ppt/slides/slide5.xml" Id="Rdf8a6da4d1714205" /><Relationship Type="http://schemas.openxmlformats.org/officeDocument/2006/relationships/slide" Target="/ppt/slides/slide6.xml" Id="R0e4e27d51dab4401" /><Relationship Type="http://schemas.openxmlformats.org/officeDocument/2006/relationships/slide" Target="/ppt/slides/slide7.xml" Id="R521b6fe7c8784ac3" /><Relationship Type="http://schemas.openxmlformats.org/officeDocument/2006/relationships/slide" Target="/ppt/slides/slide8.xml" Id="R01fb2cdba87441c3" /><Relationship Type="http://schemas.openxmlformats.org/officeDocument/2006/relationships/slide" Target="/ppt/slides/slide9.xml" Id="R66facadcbc34425e" /><Relationship Type="http://schemas.openxmlformats.org/officeDocument/2006/relationships/slide" Target="/ppt/slides/slide10.xml" Id="Rbf9db1e25b1c4bdc" /><Relationship Type="http://schemas.openxmlformats.org/officeDocument/2006/relationships/slide" Target="/ppt/slides/slide11.xml" Id="R28c0fc76fce54428" /><Relationship Type="http://schemas.openxmlformats.org/officeDocument/2006/relationships/slide" Target="/ppt/slides/slide12.xml" Id="Rfb96dd56af5b4403" /><Relationship Type="http://schemas.openxmlformats.org/officeDocument/2006/relationships/slide" Target="/ppt/slides/slide13.xml" Id="R23612d1a3048424c" /><Relationship Type="http://schemas.openxmlformats.org/officeDocument/2006/relationships/slide" Target="/ppt/slides/slide14.xml" Id="R46063cc15fbb41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7472f25a7549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650565c9d84a81" /><Relationship Type="http://schemas.openxmlformats.org/officeDocument/2006/relationships/notesMaster" Target="/ppt/notesMasters/notesMaster1.xml" Id="R1d3e9d0bc05a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feb9268bcc48fa" /><Relationship Type="http://schemas.openxmlformats.org/officeDocument/2006/relationships/notesMaster" Target="/ppt/notesMasters/notesMaster1.xml" Id="R218388adb1a340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dea63b6202441c" /><Relationship Type="http://schemas.openxmlformats.org/officeDocument/2006/relationships/notesMaster" Target="/ppt/notesMasters/notesMaster1.xml" Id="R40e0e0d6c69d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d4bad1da34936" /><Relationship Type="http://schemas.openxmlformats.org/officeDocument/2006/relationships/notesMaster" Target="/ppt/notesMasters/notesMaster1.xml" Id="Re2bed902b0b149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3382f856db47c1" /><Relationship Type="http://schemas.openxmlformats.org/officeDocument/2006/relationships/notesMaster" Target="/ppt/notesMasters/notesMaster1.xml" Id="R9ed1afa6dd654d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60179f829d47fb" /><Relationship Type="http://schemas.openxmlformats.org/officeDocument/2006/relationships/notesMaster" Target="/ppt/notesMasters/notesMaster1.xml" Id="R67a20d2df9d848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f28106954f4af4" /><Relationship Type="http://schemas.openxmlformats.org/officeDocument/2006/relationships/notesMaster" Target="/ppt/notesMasters/notesMaster1.xml" Id="R4c160831d6614e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06cf3fe3344972" /><Relationship Type="http://schemas.openxmlformats.org/officeDocument/2006/relationships/notesMaster" Target="/ppt/notesMasters/notesMaster1.xml" Id="R02ca192cde7c4b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85f402662a4645" /><Relationship Type="http://schemas.openxmlformats.org/officeDocument/2006/relationships/notesMaster" Target="/ppt/notesMasters/notesMaster1.xml" Id="R0b16e357410248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77f4a5d3a849fa" /><Relationship Type="http://schemas.openxmlformats.org/officeDocument/2006/relationships/notesMaster" Target="/ppt/notesMasters/notesMaster1.xml" Id="R8f521c9d6dfd44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93a1bed2514bc4" /><Relationship Type="http://schemas.openxmlformats.org/officeDocument/2006/relationships/notesMaster" Target="/ppt/notesMasters/notesMaster1.xml" Id="Rb0ebbaca2e5a4a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091bd7c0164c25" /><Relationship Type="http://schemas.openxmlformats.org/officeDocument/2006/relationships/notesMaster" Target="/ppt/notesMasters/notesMaster1.xml" Id="R315a71b69cfb42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fed037903e45f2" /><Relationship Type="http://schemas.openxmlformats.org/officeDocument/2006/relationships/notesMaster" Target="/ppt/notesMasters/notesMaster1.xml" Id="R391f50ad882e47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8502f6c0de4c41" /><Relationship Type="http://schemas.openxmlformats.org/officeDocument/2006/relationships/notesMaster" Target="/ppt/notesMasters/notesMaster1.xml" Id="R36530377f53b40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SmartCourse is an AI-assisted course finder. A learner describes what they want to learn, then the app helps them find, compare, and save suitable courses.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project-documents/FinalDeliverables_F25PROJECTEC4D8/2-FinalReport_SmartCourse_F25PROJECTEC4D8.docx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problem is choice. Large catalogs use many different terms, so learners can struggle to find the right course even when they know their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project-documents/Fall 2025_CS619_11727_1.docx</a:t>
            </a:r>
          </a:p>
          <a:p xmlns:a="http://schemas.openxmlformats.org/drawingml/2006/main">
            <a:r>
              <a:t>- templates/home.html</a:t>
            </a:r>
          </a:p>
          <a:p xmlns:a="http://schemas.openxmlformats.org/drawingml/2006/main">
            <a:r>
              <a:t>- templates/recommend.html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SmartCourse turns an everyday learning goal into a ranked list. It also shows course details and a score so the learner can make an informed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smartcourse/api.py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static/js/main.js</a:t>
            </a:r>
          </a:p>
          <a:p xmlns:a="http://schemas.openxmlformats.org/drawingml/2006/main">
            <a:r>
              <a:t>- templates/recommend.html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checks exact words and overall meaning. These two views complement each other and are shown side by side when the learner chooses Both.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smartcourse/models/tfidf_model.py</a:t>
            </a:r>
          </a:p>
          <a:p xmlns:a="http://schemas.openxmlformats.org/drawingml/2006/main">
            <a:r>
              <a:t>- smartcourse/models/neural_model.py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smartcourse/data/preprocess.py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course catalog is collected, cleaned, analyzed, and prepared in advance. This lets each learner search return useful results quickly.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smartcourse/data/pipeline.py</a:t>
            </a:r>
          </a:p>
          <a:p xmlns:a="http://schemas.openxmlformats.org/drawingml/2006/main">
            <a:r>
              <a:t>- scripts/prepare_data.py</a:t>
            </a:r>
          </a:p>
          <a:p xmlns:a="http://schemas.openxmlformats.org/drawingml/2006/main">
            <a:r>
              <a:t>- scripts/build_models.py</a:t>
            </a:r>
          </a:p>
          <a:p xmlns:a="http://schemas.openxmlformats.org/drawingml/2006/main">
            <a:r>
              <a:t>- smartcourse/models/neural_model.py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has three easy-to-understand parts: the screens people use, the app logic that handles actions, and the stored information that supports results and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smartcourse/__init__.py</a:t>
            </a:r>
          </a:p>
          <a:p xmlns:a="http://schemas.openxmlformats.org/drawingml/2006/main">
            <a:r>
              <a:t>- smartcourse/config.py</a:t>
            </a:r>
          </a:p>
          <a:p xmlns:a="http://schemas.openxmlformats.org/drawingml/2006/main">
            <a:r>
              <a:t>- smartcourse/api.py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smartcourse/services/history.py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the learner clicks Find Courses, the app checks the request, finds and sorts matches, remembers the search, and displays useful course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smartcourse/api.py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smartcourse/services/history.py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real screenshots of the running application. The first screen introduces the product, while the second lets the learner enter a goal and review recommendations.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Captured from the local Flask app at http://127.0.0.1:5000/</a:t>
            </a:r>
          </a:p>
          <a:p xmlns:a="http://schemas.openxmlformats.org/drawingml/2006/main">
            <a:r>
              <a:t>- templates/home.html</a:t>
            </a:r>
          </a:p>
          <a:p xmlns:a="http://schemas.openxmlformats.org/drawingml/2006/main">
            <a:r>
              <a:t>- templates/recommend.html</a:t>
            </a:r>
          </a:p>
          <a:p xmlns:a="http://schemas.openxmlformats.org/drawingml/2006/main">
            <a:r>
              <a:t>- static/js/main.js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keeps the experience continuous. Learners can reopen past searches, review saved courses, and compare the two matching methods.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Captured from the local Flask app at http://127.0.0.1:5000/dashboard</a:t>
            </a:r>
          </a:p>
          <a:p xmlns:a="http://schemas.openxmlformats.org/drawingml/2006/main">
            <a:r>
              <a:t>- templates/dashboard.html</a:t>
            </a:r>
          </a:p>
          <a:p xmlns:a="http://schemas.openxmlformats.org/drawingml/2006/main">
            <a:r>
              <a:t>- smartcourse/models/db_models.py</a:t>
            </a:r>
          </a:p>
          <a:p xmlns:a="http://schemas.openxmlformats.org/drawingml/2006/main">
            <a:r>
              <a:t>- static/js/main.js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SmartCourse supports a simple four-step journey: search, compare, save, and revisit. This turns a one-time search into a useful learning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smartcourse/models/db_models.py</a:t>
            </a:r>
          </a:p>
          <a:p xmlns:a="http://schemas.openxmlformats.org/drawingml/2006/main">
            <a:r>
              <a:t>- smartcourse/services/history.py</a:t>
            </a:r>
          </a:p>
          <a:p xmlns:a="http://schemas.openxmlformats.org/drawingml/2006/main">
            <a:r>
              <a:t>- templates/dashboard.html</a:t>
            </a:r>
          </a:p>
          <a:p xmlns:a="http://schemas.openxmlformats.org/drawingml/2006/main">
            <a:r>
              <a:t>- static/js/main.js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quality is checked using example goals and expected useful courses. The current test set is small, so these checks guide future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scripts/evaluate_models.py</a:t>
            </a:r>
          </a:p>
          <a:p xmlns:a="http://schemas.openxmlformats.org/drawingml/2006/main">
            <a:r>
              <a:t>- data/evaluation_queries.json</a:t>
            </a:r>
          </a:p>
          <a:p xmlns:a="http://schemas.openxmlformats.org/drawingml/2006/main">
            <a:r>
              <a:t>- project-documents/FinalDeliverables_F25PROJECTEC4D8/2-FinalReport_SmartCourse_F25PROJECTEC4D8.docx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chosen technologies keep the prototype practical: one method is fast and clear, another understands related meaning, and the web app is lightweight to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smartcourse/models/tfidf_model.py</a:t>
            </a:r>
          </a:p>
          <a:p xmlns:a="http://schemas.openxmlformats.org/drawingml/2006/main">
            <a:r>
              <a:t>- smartcourse/models/neural_model.py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smartcourse/config.py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demonstration follows four actions: enter a goal, compare both result lists, save a promising course, and open the dashboard to revisit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templates/recommend.html</a:t>
            </a:r>
          </a:p>
          <a:p xmlns:a="http://schemas.openxmlformats.org/drawingml/2006/main">
            <a:r>
              <a:t>- templates/dashboard.html</a:t>
            </a:r>
          </a:p>
          <a:p xmlns:a="http://schemas.openxmlformats.org/drawingml/2006/main">
            <a:r>
              <a:t>- static/js/main.js</a:t>
            </a:r>
          </a:p>
          <a:p xmlns:a="http://schemas.openxmlformats.org/drawingml/2006/main">
            <a:r>
              <a:t>- smartcourse/api.py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SmartCourse makes a large course catalog easier to use by understanding the learner's goal, ranking suitable options, and keeping useful choices available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project-documents/FinalDeliverables_F25PROJECTEC4D8/2-FinalReport_SmartCourse_F25PROJECTEC4D8.docx</a:t>
            </a:r>
          </a:p>
          <a:p xmlns:a="http://schemas.openxmlformats.org/drawingml/2006/main">
            <a:r>
              <a:t>- project-documents/FinalDeliverables_F25PROJECTEC4D8/3-FinalPresentation_SmartCourse_F25PROJECTEC4D8.pptx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e3bb5238e49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ad762080654aec" /><Relationship Type="http://schemas.openxmlformats.org/officeDocument/2006/relationships/slideLayout" Target="/ppt/slideLayouts/slideLayout1.xml" Id="Rdbd1e4218fff4f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d1e4218fff4f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346106cad4589" /><Relationship Type="http://schemas.openxmlformats.org/officeDocument/2006/relationships/notesSlide" Target="/ppt/notesSlides/notesSlide1.xml" Id="R5a18a8712ef846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ace5e63b74ee7" /><Relationship Type="http://schemas.openxmlformats.org/officeDocument/2006/relationships/notesSlide" Target="/ppt/notesSlides/notesSlide2.xml" Id="Re4b90ea231af49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0569daf5a4fa7" /><Relationship Type="http://schemas.openxmlformats.org/officeDocument/2006/relationships/notesSlide" Target="/ppt/notesSlides/notesSlide3.xml" Id="R8e1da89704514e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b32c437f94786" /><Relationship Type="http://schemas.openxmlformats.org/officeDocument/2006/relationships/notesSlide" Target="/ppt/notesSlides/notesSlide4.xml" Id="R54df289329de49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32d67d64940bd" /><Relationship Type="http://schemas.openxmlformats.org/officeDocument/2006/relationships/notesSlide" Target="/ppt/notesSlides/notesSlide5.xml" Id="R5b889772e73c4b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b1ab335c24431" /><Relationship Type="http://schemas.openxmlformats.org/officeDocument/2006/relationships/notesSlide" Target="/ppt/notesSlides/notesSlide6.xml" Id="R82112a0093ee46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ef00e94f64a30" /><Relationship Type="http://schemas.openxmlformats.org/officeDocument/2006/relationships/notesSlide" Target="/ppt/notesSlides/notesSlide7.xml" Id="R83a7d1683b014f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e1c7b52174e36" /><Relationship Type="http://schemas.openxmlformats.org/officeDocument/2006/relationships/image" Target="/ppt/media/image.png" Id="Rb9ffd05fa0ae4288" /><Relationship Type="http://schemas.openxmlformats.org/officeDocument/2006/relationships/image" Target="/ppt/media/image2.png" Id="R5bfcb85ee35c4002" /><Relationship Type="http://schemas.openxmlformats.org/officeDocument/2006/relationships/notesSlide" Target="/ppt/notesSlides/notesSlide8.xml" Id="Rbbc8e6cbfab847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577608e46443a" /><Relationship Type="http://schemas.openxmlformats.org/officeDocument/2006/relationships/image" Target="/ppt/media/image3.png" Id="Rdbeaa8a13af74eb6" /><Relationship Type="http://schemas.openxmlformats.org/officeDocument/2006/relationships/notesSlide" Target="/ppt/notesSlides/notesSlide9.xml" Id="R2904816667f84d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b41afc7094e55" /><Relationship Type="http://schemas.openxmlformats.org/officeDocument/2006/relationships/notesSlide" Target="/ppt/notesSlides/notesSlide10.xml" Id="Rd3a7c0f3814442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e6391baf1466f" /><Relationship Type="http://schemas.openxmlformats.org/officeDocument/2006/relationships/notesSlide" Target="/ppt/notesSlides/notesSlide11.xml" Id="R74d34489265e43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e0203ad7945fe" /><Relationship Type="http://schemas.openxmlformats.org/officeDocument/2006/relationships/notesSlide" Target="/ppt/notesSlides/notesSlide12.xml" Id="Rf39a5e484fdd4b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643434e614aa7" /><Relationship Type="http://schemas.openxmlformats.org/officeDocument/2006/relationships/notesSlide" Target="/ppt/notesSlides/notesSlide13.xml" Id="Re7f0cd60fb5347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62069ead6407c" /><Relationship Type="http://schemas.openxmlformats.org/officeDocument/2006/relationships/notesSlide" Target="/ppt/notesSlides/notesSlide14.xml" Id="R468b6c3d7318443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11F"/>
            </a:gs>
            <a:gs pos="58000">
              <a:srgbClr val="0B1D32"/>
            </a:gs>
            <a:gs pos="100000">
              <a:srgbClr val="101A2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289D2-B865-4E22-B454-7623851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13C3-9145-4F71-82DD-6C61DCD6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SMARTCOURSE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DC2602-2822-4FE6-AA77-0DDD780D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AI-POWERED COURSE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RECOMMENDATION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A6506-63BD-4C6B-BEA2-77B746EC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A simple way to discover, compare, and save courses.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99B58-C449-4233-93FC-3C0E34E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987AF-314F-4149-A3BB-5F3D2651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Final Year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97B55-AC45-40B4-A2A1-B9A05C46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Group ID  F25PROJECTEC4D8   |   Roll No  BC240419615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Supervisor  Muhammad Bilal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9E239-E270-42EB-ACCF-9B15BD38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021CD-6F8F-404F-B3CB-DC2CC63C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8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954CC-42D4-47D8-B2B0-4BA6798E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09950"/>
            <a:ext cx="1171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102B6-6F40-4C96-8A6E-63F86CA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9950"/>
            <a:ext cx="1171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3EC1C-7D66-42BD-9061-166EDD39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B45"/>
          </a:solidFill>
          <a:ln xmlns:a="http://schemas.openxmlformats.org/drawingml/2006/main" w="19050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F38BF-FB3E-408C-9234-5898543D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2412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83D8E-B0B2-491B-A2CA-5C67FEC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16573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1A53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1713E-D2B9-48BF-A681-30A93A0A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242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WORDS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27836-93CD-4292-9E51-D23D867C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exact 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13BF0-7375-4C5A-998F-8C3FDB9B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6573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405C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6D558-07BE-4D88-AC42-F5BFE331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242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D3A74-AD54-49B6-A598-86E3F71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related ideas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E113D-4EFB-458C-A641-79F4468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0"/>
            <a:ext cx="2133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941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75C93-DFCF-4AB9-8DD7-A24FA77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find  →  compare  →  save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B0092-62D1-4011-AF61-9EBE29AF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97448-C77D-4C09-B46B-17F43E8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941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9642699B-7BC6-4367-B3DC-CE366A6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01 / THE CHALLENGE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12C32C-AF73-479E-A159-F677FE18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Finding the right course can be difficult.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E82033C-CAF4-4F7B-8459-DFC6B2AE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Course catalogs are large, and people may not know the exact title to search for.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0600D-36C6-4339-A33D-EB5D14F0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1D7D6-A1DE-4076-ABC9-1D34ECA3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 learner often knows what they want to learn—even without knowing the course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F7FA3-3834-485E-B0D4-E007622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SmartCourse accepts everyday language and returns a clear list of useful options.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65934-AA9B-4C71-8A20-4099FA62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LEARNER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620DF-F442-494C-90CD-DE16F28B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3434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DBD11-005E-4F50-A443-74397850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“I want to learn Python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for data science.”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39C29-5BCB-4E46-A059-F1CD74E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C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WHY THIS IS HARD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63248-A508-4B4D-B8F7-9B57EAE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495D7-C0F9-43D6-830C-F1173AB6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Different words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FA78E-5FCE-4774-BE7B-52101B6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A learner and a course may describe the same topic in different ways.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3172C-95C4-41AA-AD3D-A267198D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2FDEB-B51F-4C6A-8272-3BE22764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68FD4-9FB6-4924-8C15-F97628AC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52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Too many options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EFCD2-0289-4A1A-ACC7-637358F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76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Large catalogs take time to browse and compare by hand.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3AEE3-4FA5-4B3C-AC1C-8A84495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CD5AA-DB25-4C6D-9E5C-22F07D8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815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99B5E-5517-4293-BDAA-724D4961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815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Hard to choose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F5268-DED6-40DA-A28A-EC6840DC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People need useful details to understand which course fits best.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1A0CE-5441-45A2-A3E8-5D322C20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050D8-56BB-4A81-90E0-E5CEBEF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1993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0D4D0099-D18C-4C16-9D9C-75648903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02 / HOW IT HELPS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ACEE3D-9115-46C1-8DF8-C9A4D106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SmartCourse turns a learning goal into useful course choices.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B9E109F-3DFC-427F-9B7C-42F77A1E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Each result includes the course name, a match score, and helpful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B8728-8DBD-458D-8EAB-F5985C5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36383-FE80-49DE-BE70-85B93338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WHAT THE LEARNER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A2BFD-78F1-43F2-B38A-EF015DAB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952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59E5B-A603-4966-8829-A6372B65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learn Python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for data science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04CAB-AF28-4C55-AE67-FB416B28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33700"/>
            <a:ext cx="1066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999AC-3AD9-4698-9086-9DBEBC5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HOW SMARTCOURSE MATCHES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A5A12-40AB-4A0B-B639-C4D68638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20383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5AFC9-D7CA-455C-8F01-2732ADD6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DE416-16DF-4FBC-9BE3-40A08AFF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67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matches exact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8236E-2D07-4230-8D26-06E72F9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0383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0FEEC-EBBB-4905-80FB-E2F9AD95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A1E49-1532-406C-BDC8-6BEF20E2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67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matches related ideas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7822E-7C67-4432-907B-6A53AF39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33700"/>
            <a:ext cx="9144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F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82BAC-8D99-4CC1-B0BC-2BF4A75B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098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BEST MATCHES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D8563-28DC-4FBB-82F0-7E04EEB8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38600"/>
            <a:ext cx="1790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07852-1ED5-49E6-A58C-5BEA9D19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481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Recommended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027DB-19B0-460F-A4BE-8D80B795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720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91% 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858E1-FDEF-4DEE-A7AF-3A8F4733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title · level · rating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A0604-F335-4C04-938E-D8A8E69D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0529E-235A-4449-A1E5-512788E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6E584-2454-436F-84B9-69A5760C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learner can compare results, save a course, and return to it later.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3860D-3F08-4A9B-82C9-E7D858A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system supports a decision instead of giving one unexplained answer.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75FFB-468C-492A-9599-081DBBD4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2E915-454B-4662-B17D-B116099C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49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64E5DD47-A2E7-4C9D-A98D-92284DB8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03 / HOW THE AI MATCHES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6DDD9D-04EF-4C90-8F54-C1A55996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SmartCourse checks both the words and the meaning.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3204BE5-5650-4E61-8EAC-D4AC55D6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two methods look at the same learning request in different ways.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8174E-F4D1-4101-A139-3E01C1DC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2AF43-EC23-4451-B444-79467CDC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054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1A53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D77E3-A4A3-4620-9EA1-DE491012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METHOD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2443C-9F80-4729-A93C-08D3BD81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WORD 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D9CBF-9564-46A5-A2B6-E3424246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Best for named skills and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1FDAF-F961-41DD-AB29-36E6325F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Finds shared words and short phrases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Works well for names like Python or SQL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Quick and easy to explain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Uses TF-IDF behind the scenes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85CC6-599E-4909-862C-6A4B8ED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Example: “Python”, “SQL”, “cloud”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BB47D-0F48-4A71-A7D1-B8DE911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51054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405C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D30A7-558C-45A3-A278-A4A2E6EF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C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METHOD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119A1-D5F6-4ECD-A630-24F01AB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IDEA 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4710D-63D2-4064-8005-E3D4B78A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62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Best for everyday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2732C-C430-4B6A-B970-735572A8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386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Finds courses with a similar idea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Can match different wording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Helps when the exact title is unknown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Uses a neural model behind the scenes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48F79-B7FB-4E85-A40D-1C1F17DF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Example: “predictive modeling” ≈ “machine learning”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E8BB7-1D02-4AAE-AF9C-20D64047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444A8-E7C2-41C7-92C0-5A0653D9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The Both option shows the two result lists side by side.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D3AF4-300E-450D-A827-86A46DDB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C521C-124C-4833-A04B-545DEA0F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2563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245669C0-7E3D-433C-8801-9653962C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04 / HOW IT GETS READY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98AC31-9037-447D-807B-92EC9157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Most preparation is done before the learner searches.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6C11698-AF8A-4F5D-BDC3-B3B46219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course list is organized once so recommendations can appear quickly.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0023A-E3AA-4FA4-A16E-562C5E9D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CD0EE-782C-4C57-B133-DB5B9D77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BEFORE A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37DEC-F624-482C-BCC2-1AA29FEA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61DA8-61CA-430A-AB7A-43BC676F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38B0E-5CC4-4E0D-B12B-E66EC563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4B3E8-C403-4056-8AE7-3F5C3697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A0FC7-19B1-4F50-B972-BC4FE7C2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course catalog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8,500+ courses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69FD4-D5D1-458D-9772-8B67DDF8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5D4CD-343A-46E2-BB12-83366BB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3A477-B7F8-423F-A823-7BA84867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8ED58-ED4B-460E-BC84-44101E4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Organize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27481-D276-4937-9211-1C2F793D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remove duplicates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standardize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B3CE4-B0A1-4877-8899-A1B4A795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5E9B1-51E9-4E28-A22F-E123C272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3845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8EBB9-7833-4FC4-BF88-DE317112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37366-C152-4DA0-A3FF-7C5781B2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7CE58-D898-4C90-AFB3-A175DAB4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find word and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meaning patterns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0BE44-7D06-4F7E-B208-569CD080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B58BC-D42E-4721-8F61-EE3E9BBE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9F5C6-8172-4DF7-99A9-CBDE869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12D8C-4188-4FBC-9CF7-E131996C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prepared models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ready to 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556FCC-067B-4467-A5CF-C8527180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AE348E-EFDC-4AE7-B741-E7D898D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276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C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WHEN SEARCHING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24EDA-2434-4BFB-808B-4DF5E7D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816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Read request → find matches → show best courses → remember the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6533D-2A3C-44E5-B4BA-C87543BD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This preparation keeps the experience fast and consistent.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3F0AB-E85C-4135-BB30-CECC9792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4B1CB7-64AF-4AEA-B16C-292B65D2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164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">
            <a:extLst xmlns:a="http://schemas.openxmlformats.org/drawingml/2006/main">
              <a:ext uri="{FF2B5EF4-FFF2-40B4-BE49-F238E27FC236}">
                <a16:creationId xmlns:a16="http://schemas.microsoft.com/office/drawing/2014/main" id="{534CEC62-7A9A-4F46-A541-C857B19C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05 / HOW THE PARTS CONNECT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6B5DCF-1CEC-4AFE-94B6-A7A4F2D9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Three simple parts work together.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86C930C-268D-45A7-BDF2-058E72B7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screens, app logic, and stored information each have a clear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9656B-0B24-40CB-8E5C-21F858CD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6395A-1CDF-4786-A6AF-15B3F646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C3217-21E8-4966-B933-D22C3276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WHAT USERS SEE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0C0F6-6457-4347-885A-D3866E2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8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Pages for finding and saving courses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B0DB0-4083-44E9-B781-84BE9C5F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BA2F2-B335-4F98-8BBC-7E354549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9C5D2-8BDA-4A98-BEDE-F75AF430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193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0F918-9D26-484C-B08F-F42E783C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33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345C1-99BA-4776-B64D-25966687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6B96E-2D0C-40C7-9530-DBF2734A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FB1D9-FFF5-499E-BED4-A92AFBA6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16BE2-AFAE-41BD-BAA4-2F6D2F4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33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About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D0BDC-5343-4B33-9E7C-E71200B4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2B45"/>
          </a:solidFill>
          <a:ln xmlns:a="http://schemas.openxmlformats.org/drawingml/2006/main" w="9525">
            <a:solidFill>
              <a:srgbClr val="8E7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6A809-12CF-499F-A54F-8D79D4E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E7C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7CFF"/>
                </a:solidFill>
                <a:latin typeface="Aptos"/>
                <a:ea typeface="Aptos"/>
                <a:cs typeface="Aptos"/>
              </a:rPr>
              <a:t>WHAT THE APP DOES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990B84-B79E-4FB0-9C16-BC9D73F7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Handles the learner's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BB9ED-5D07-4073-A6BC-949D980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4341D-772B-4A32-8B85-48E90D8B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Receive 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5152E-545C-4A48-8D5B-7BDDDD07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3380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81145-C9F2-4791-94C0-C9DBA765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48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Find matches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5801BF-8E80-4EC5-A3CB-427093FB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3380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2D667-3B1D-4D59-B5E4-96C93A00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48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Save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149AD-0715-451D-A201-F7DB69CC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CC504-D628-42DF-ADD3-A0BB30D0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48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Show results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7A241-993C-4F60-8842-DAB477A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E94F2-5A0F-49E6-837C-0A6E3C1E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WHAT IT REMEMBERS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B71BD-9781-466D-8CE6-721E00E2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9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Courses, searches, and trained models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D3F558-CFFB-40CB-94BB-AE8011F9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31C98-43C6-4F9E-B6C9-F11A605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625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Saved searches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65E26-9699-4103-AD50-181C5316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482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7D877F-F497-4826-B6DD-4078F28E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Course catalog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D8C56-EDD4-4988-9926-A8F53DFB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7AEF6F-9AFE-4FB4-87CC-E09C8AB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625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Word matcher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2B1646-AFA2-420E-B49E-BC147CBE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482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6BCBFC-D5C7-4C3B-A040-9BAC5F3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625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Meaning matcher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AB7EEE-6A12-44BC-B107-A8910A31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Together, these parts keep the experience organized and reliable.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8D6E5F-3F51-4BB5-B2AA-156E803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323933-2153-4C54-92DA-19D49787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6043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9C220030-2B59-41FF-9239-49CA102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06 / AFTER YOU CLICK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0D02CA-A9F2-4083-83F8-864A1D03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 course request moves through five clear steps.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9016C70-D2B5-4F3C-A358-606F4E64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app checks the request, finds matches, saves the search, and displays the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E6876-67B4-4708-84F1-AAB1F9A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30C28-F900-485C-83A5-C3F4D50E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3CAF6-524F-4ACA-A05A-D5F821C6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D9EE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2BD9EE"/>
                </a:solidFill>
                <a:latin typeface="Courier New"/>
                <a:ea typeface="Courier New"/>
                <a:cs typeface="Courier New"/>
              </a:rPr>
              <a:t>YOUR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16CC7-0EE1-40A9-9D1D-11574953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390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“I want to learn Python for data science.”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Choose: Both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12A6A-4CC3-4693-BA4C-DF88B594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9F36D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B9F36D"/>
                </a:solidFill>
                <a:latin typeface="Courier New"/>
                <a:ea typeface="Courier New"/>
                <a:cs typeface="Courier New"/>
              </a:rPr>
              <a:t>Click “Find Courses”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F12DD-1A75-44C7-ADA6-DCC6CDDD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AB3FB-7ABA-4732-A2D0-08D1B923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A7431-95C2-4A67-B70E-36554858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Check the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DD689-D474-4E66-A0D9-DDBE6BAF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47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make sure a goal was entered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C71BC-5A1C-4B76-897D-6E765C90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CB6AC-ADCF-4036-A7C8-9C3AAEFC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3DFF9-0129-4647-AA17-87E806E9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95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Find matching courses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BA02A-0D2D-407C-A43C-4134EC50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use both matching methods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AEA20-D450-4A8B-B859-712846B1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CBCE4-D8BB-4AC4-A913-74F747A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A6095-2B4C-436A-8FC9-A6D0BE73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43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Sort the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FE58A-3C76-4083-AC3D-09D91963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place the best matches 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DEA3A-A260-4243-B73B-C94F7783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B677A-E6E0-4C8B-9FEB-B1267790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3E5AD-F402-47A9-B227-4C44F790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Save this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19A8B-EFCD-4933-B589-90C4851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91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keep it in the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47146-21AA-4FD7-B04C-12AD67DE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513A3-DEA8-4B54-A8E8-67CD097C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74C215-DF99-4976-BBFF-B91E1D25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8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Show useful details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B0F19-708B-4C4C-B70D-99CE6BE2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38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display scores and course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CB0B9-6698-48A9-AE7E-14EE6118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2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learner sees clear results while the app handles the work in the background.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10E7E3-0D60-4DA6-8BB1-A178BB08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5CA460-A09C-47FF-8C19-C80FE93C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9073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D1734A7-A4FB-4330-8692-41C698E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07 / SEE IT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0EDB54-C19F-4EDC-A406-6676EDA7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learner enters a goal and receives course recommendations.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9600BBD-E298-469F-8A9C-14B72655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real app lets the learner write what they want to learn and choose a matching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2AE05-0219-469C-AEFC-267C552A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EBA0A-CC57-44A1-8886-8B5D3E1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08635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1A53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fd05fa0ae4288"/>
          <a:srcRect xmlns:a="http://schemas.openxmlformats.org/drawingml/2006/main" l="111" t="0" r="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247900"/>
            <a:ext cx="4819650" cy="308610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35976-CB30-4B50-99C5-7913BDAF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HOME  /  start with a learning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B6320-5F98-4982-B19B-44F29FA9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14550"/>
            <a:ext cx="560070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405C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cb85ee35c4002"/>
          <a:srcRect xmlns:a="http://schemas.openxmlformats.org/drawingml/2006/main" l="0" t="4720" r="0" b="4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247900"/>
            <a:ext cx="5334000" cy="308610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72889-2630-4886-902B-FACBF793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864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RECOMMENDATIONS  /  review the best matches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9B1D3-326F-47BE-ACC7-C70D384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43E97-BF62-4558-91E0-2EC82476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4698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4670B94-FF56-47A3-8DA9-EBE062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08 / YOUR DASHBOARD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DD5444-8297-4847-9C6C-620FA87E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dashboard keeps useful courses and past searches together.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E695292-8D7D-43CA-ABF4-C9F1EEC2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Learners can return to earlier searches, review saved courses, and compare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8E5C9-AB76-424B-90EE-B8CACE6E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3D23F-0359-4BE3-AB72-E144602C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94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aa8a13af74eb6"/>
          <a:srcRect xmlns:a="http://schemas.openxmlformats.org/drawingml/2006/main" l="0" t="22010" r="0" b="22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228850"/>
            <a:ext cx="10706100" cy="3829050"/>
          </a:xfrm>
          <a:prstGeom xmlns:a="http://schemas.openxmlformats.org/drawingml/2006/main" prst="roundRect">
            <a:avLst>
              <a:gd name="adj" fmla="val 398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0ECE9-13F3-4B8E-8AE5-BEF6495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DASHBOARD  /  history, saved courses, and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639B4-0CEB-4E4E-8A8E-972DC1BB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E4933-5AC2-4B3A-8335-0A87898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86825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E71287A2-7D7A-4C81-AA4D-5004230A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09 / YOUR LEARNING JOURNEY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CEF6C0-89B7-449D-B397-AAA794F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 search becomes a useful learning record.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E73C16C-3348-4B72-84FD-FD1394B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SmartCourse keeps the journey simple: search, compare, save, and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A55FD-22AD-494A-8D3D-99A4E85E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6F620-3316-4674-9C1E-29AE70B5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1C11C-D7BE-4651-8AF1-1FF9CB02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BDA47-609A-434E-9483-C2C7292A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6B891-B853-41EE-9BC6-0BD93346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Describe what you want to learn.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73374-ABAC-4DDE-BDB6-86707CC3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F3876-002A-42AE-9275-4336D3FD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D0116-871D-4046-8127-B20CC85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Review results from both matching methods.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28AF5-B68A-4D29-9EF7-5D2A15FF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768D5-8366-49A7-9D06-C4A41EF5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19048-6CC4-4BAF-BA3C-6A285C35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Keep a promising course for later.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BD3C9-4F6B-444A-8905-057EE9B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C42E3-01D0-4072-B6B1-74DE8C2D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Revisit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C62C2-622C-4A06-A520-37349397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Open the dashboard and continue.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4A6D2-C8CD-414B-AB58-9C7505D1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941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DC987-1792-44B8-BC21-D753B911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WHAT IS SAVED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7EF6B-6F5B-478E-BA46-9B002D94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search history  ↔  saved courses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6361F-CA8F-4B5D-BAAE-381FDF6B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864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Course details stay available for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D7A27-1E1B-49B6-8B1B-7859F50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603B3-C1FB-4111-969A-3644AC25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70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69C8EC7F-472E-4DEE-92B2-9B3DACD9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10 / HOW WE CHECK QUALITY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E0FFFF-BDBE-4D3E-8635-DD632E0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We check whether the recommended courses are useful.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C4F6664-8347-4FEF-B1BD-F926F935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system is tested with example learning goals and known useful courses.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58306-F211-460F-AD3B-2D6E6005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5ECCF-354E-46FB-9A8C-8470F556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5DB31-8A55-425B-8F19-7B2DD706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Useful suggestions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01E41-C18F-4845-903A-F656E768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How many top results actually match the learner's goal?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7490F-2F79-4620-9F01-D696659F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B0548-B2E1-4153-9918-4ABBD29F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33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Good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E5F0B-1E6E-4357-8829-CD200644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337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How many known useful courses appear in the results?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FCEF9-A058-4B33-B2A1-52A125CB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D2351-BF24-4A62-9B20-F0668D26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One strong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D9176-A700-4096-83D2-BEB7361A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Does the list include at least one helpful course?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B3258-3A73-44DD-AE0E-2516442E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FD259-6F36-4D4F-BBE8-0C7BC57A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How the check works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B08CE-0CB2-4EF5-B68F-9D606DF0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7520F-1646-4541-9B70-55B4BCEC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72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9EA13-9BAC-49E2-8EA9-6C17B2DE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example learning goals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47687-BC4B-4474-8346-80E57693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A04C2-289F-4320-999C-61B29965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72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3A345-45BA-4765-A369-D1D727C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57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both matching methods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CCFF7-44C2-4BAA-B883-DCDC26BB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63B0C-47C4-4AD9-A67B-AE40CF40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93D6E-86D2-4062-A180-ECF8FE6B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57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results against expected courses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93CDC-60D5-496E-8E7E-3DDBFF34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C71FF-9A32-4304-BD02-D4BF5A19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72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97C4D2-97D5-4873-9F5F-423FC736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57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overall recommendation quality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FB332-3AFD-4D43-9364-FBD0457E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The current test set is small, so results guide improvement rather than prove perfect accuracy.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76999-C2A4-4F44-97A2-B248635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1BC9D6-B681-4FCE-8F3A-EB2CF85E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02206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E88BB82-099B-4D83-AAB5-B64680E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11 / WHY THESE CHOICES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205894-F4BD-43EA-AABA-367CBB65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Each choice keeps the prototype clear and practical.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417A30B-0258-4B6F-BB18-5146C6F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project combines fast matching, smarter matching, and a simple web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DB1FB-F7EA-431D-AB9F-90EB15E5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1290D-D4D3-483E-99C6-B520D1AE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4BDD4-29D4-4871-B377-01213E27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Why use word matching?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759FE-5E6B-477A-B662-52293295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It is fast and easy to understand when exact terms matter.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6EDBA-9ADE-4244-9F88-4D160058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1C8FD-C027-4E9A-B99E-991846F5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Why use meaning matching?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A3752-460E-45CC-8D95-133DA1AC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It finds related topics even when the words are different.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76EF0-969F-48AE-851E-8272742F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01501-F609-4417-8CCA-E6E05C84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How are courses compared?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5C700-164F-425D-8BCB-93606DD7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Each course receives a match score so results can be ordered.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03953-C986-4C9D-85A6-EDFF0278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267A7-49E9-4B60-BCF0-4087F705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Why a lightweight web app?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DF4D7-0424-42D1-8B24-A7E8C96B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It is simple to run and stores searches without a complex setup.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46E48-096D-4F42-A9F8-7A5F0B4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38D31-CB30-4891-981A-186F60CF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What does “Both” mean?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3CCAE-D174-44F6-9BBB-EB456942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two result lists appear side by side for easy comparison.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B1443-83BB-4BD1-BCFF-B57DDB4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98B8F-A3E0-47B5-B7A9-842082E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What can improve next?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8BCB9-459C-4116-964E-AE197B0D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720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More test data, personal accounts, filters, and stronger security.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E2520-DB7E-447F-A467-6DC09B2C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2B45"/>
          </a:solidFill>
          <a:ln xmlns:a="http://schemas.openxmlformats.org/drawingml/2006/main" w="9525">
            <a:solidFill>
              <a:srgbClr val="2941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7DF4E-783F-4CA3-919F-EDF9CDC0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370CE-B1FB-4EED-9590-8B38F740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7690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Learn from feedback · combine scores · add filters · improve personalization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85886-6B73-4DA0-A19A-23576771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0CBE3-CAFD-4D25-90AB-45F1C7C5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96969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A116E1FC-2C26-4A18-815C-9AD19BE0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12 / SIMPLE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23683A-AD15-46ED-8E65-EA4EB225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complete journey is search → compare → save → revisit.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4322033-0059-437B-B86E-72E10D7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Four short actions show how SmartCourse helps a learner choose.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FD94F-52E7-4C62-ADBF-39834FF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CC58C-AA8F-4DCE-AF76-20C7D490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2669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5FEFD-3824-4148-8C41-6A348D6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41809-28CB-49A3-BECA-92FA1E9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F5155-0B27-41C6-8173-8859432C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Open Recommendations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Enter a learning 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3747B-1045-42BA-BD00-1BB8DF8D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FCB4C-34F0-406B-A5F0-F8E272F1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5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rPr>
              <a:t>Start with your own 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D92D3-6994-4E5E-8F83-17550080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2669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8E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55CA3-57CF-4574-AF92-64AB5DB5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E7C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E7C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8762E-DC7E-4042-974A-1A392248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841AB-C649-4B54-B209-DB5231EE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719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Choose Both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Review two result lists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8D504-C34D-48FB-873A-19E33C1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258F3-6DB7-4124-93F6-1D23346A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rPr>
              <a:t>See words and meaning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4106A-29EA-4C36-A9E1-733CCB3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2669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779D8-2496-4AC8-BBC4-A5730373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AAB0B-0090-461A-BA17-5CC5318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0BBD5-473B-4FF4-B8B0-DF9E307E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Choose a course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Click Save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5D358-CD8E-41BE-95E4-7B2C6E43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50455-FE84-4600-A685-D5A4C8B0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rPr>
              <a:t>Keep it for later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1A668-0093-4F38-BE3E-574ACA93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2669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0564E-6CA3-4F26-A9AE-BC9A9C0D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AC3D8-4761-4A7A-B1BA-89F15DBF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Revisit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A0271-F682-4008-9C54-D71A2D48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719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Open Dashboard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Review saved courses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6C158-E7FD-4B13-8F9F-B12A72B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3390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251C9-481E-44D4-81D5-7DF4083A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rPr>
              <a:t>Continue anytime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66544-BB4E-41F8-9582-67AE0BDA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Every step stays connected from the first search to the saved course.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1B8FC-BEDB-44B2-9893-1C3A0FBE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PROJECT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D178F-3C3C-4DCF-A789-7A156F7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66282378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11F"/>
            </a:gs>
            <a:gs pos="60000">
              <a:srgbClr val="10243A"/>
            </a:gs>
            <a:gs pos="100000">
              <a:srgbClr val="102B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2797C-F109-446E-B6D2-D3297209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THE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AA80F-149D-496E-8BE6-9946B5BB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57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SmartCourse makes finding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courses simpler and clearer.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F1FCB-1761-465A-AAD1-65306616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It understands a learner's goal, offers ranked choices, explains the match, and keeps useful courses available for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8E830-A0B3-4FB9-B604-4E06A29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1072B-F148-4428-9192-EA9EA96E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0A229-27BB-4D1B-A544-B2847DE3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too many choices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BC9DD-CFFE-47F2-9281-8221660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20B24-BC70-47B5-932E-377307A3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two matching methods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8D8FC-7266-4ECE-AB09-AFC4B1D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13248-8380-4F9B-AF11-7F8E2F86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confident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8699D-C9EE-4D24-AD1F-50848104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57400"/>
            <a:ext cx="2952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AF3A7-857E-4E20-A142-144A884D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AC136-482B-4586-A577-5657A185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Project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7EC17-ADB3-431F-97B4-60B7360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F25PROJECTEC4D8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9D335-2575-4730-8BCE-E7CE0DD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5432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2026-08-19T22:16:34.8100000Z</dcterms:created>
  <dcterms:modified xsi:type="dcterms:W3CDTF">2026-08-19T22:16:34.8100000Z</dcterms:modified>
</coreProperties>
</file>