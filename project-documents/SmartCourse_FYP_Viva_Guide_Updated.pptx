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1e07a3ed6a94cf9" /><Relationship Type="http://schemas.openxmlformats.org/officeDocument/2006/relationships/extended-properties" Target="/docProps/app.xml" Id="R0d31055730bc4e00" /><Relationship Type="http://schemas.openxmlformats.org/officeDocument/2006/relationships/officeDocument" Target="/ppt/presentation.xml" Id="Rd89fef0979c0464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8330f5c128340c7"/>
  </p:sldMasterIdLst>
  <p:notesMasterIdLst>
    <p:notesMasterId xmlns:r="http://schemas.openxmlformats.org/officeDocument/2006/relationships" r:id="Rd68704f5d0b54d12"/>
  </p:notesMasterIdLst>
  <p:sldIdLst>
    <p:sldId xmlns:r="http://schemas.openxmlformats.org/officeDocument/2006/relationships" id="256" r:id="R09991c399d024f60"/>
    <p:sldId xmlns:r="http://schemas.openxmlformats.org/officeDocument/2006/relationships" id="257" r:id="Rb13c6f0fa9da4005"/>
    <p:sldId xmlns:r="http://schemas.openxmlformats.org/officeDocument/2006/relationships" id="258" r:id="R40cd0f585ed64398"/>
    <p:sldId xmlns:r="http://schemas.openxmlformats.org/officeDocument/2006/relationships" id="259" r:id="R6fb5a687a3c8468d"/>
    <p:sldId xmlns:r="http://schemas.openxmlformats.org/officeDocument/2006/relationships" id="260" r:id="R747a550319764ab3"/>
    <p:sldId xmlns:r="http://schemas.openxmlformats.org/officeDocument/2006/relationships" id="261" r:id="R8fb93db3e2d64367"/>
    <p:sldId xmlns:r="http://schemas.openxmlformats.org/officeDocument/2006/relationships" id="262" r:id="R091e6962c4c546ab"/>
    <p:sldId xmlns:r="http://schemas.openxmlformats.org/officeDocument/2006/relationships" id="263" r:id="R45705edfec0d4221"/>
    <p:sldId xmlns:r="http://schemas.openxmlformats.org/officeDocument/2006/relationships" id="264" r:id="Rf6d4ff25cb6f4fe3"/>
    <p:sldId xmlns:r="http://schemas.openxmlformats.org/officeDocument/2006/relationships" id="265" r:id="Rd7a68e8692de4f78"/>
    <p:sldId xmlns:r="http://schemas.openxmlformats.org/officeDocument/2006/relationships" id="266" r:id="R32ae681f02b44549"/>
    <p:sldId xmlns:r="http://schemas.openxmlformats.org/officeDocument/2006/relationships" id="267" r:id="Rd7d00b1da6f048c9"/>
    <p:sldId xmlns:r="http://schemas.openxmlformats.org/officeDocument/2006/relationships" id="268" r:id="Rd0fc89fc60bb4eda"/>
    <p:sldId xmlns:r="http://schemas.openxmlformats.org/officeDocument/2006/relationships" id="269" r:id="Rb8fab43cc1b14f49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3f86b391f3a498e" /><Relationship Type="http://schemas.openxmlformats.org/officeDocument/2006/relationships/slideMaster" Target="/ppt/slideMasters/slideMaster1.xml" Id="R28330f5c128340c7" /><Relationship Type="http://schemas.openxmlformats.org/officeDocument/2006/relationships/notesMaster" Target="/ppt/notesMasters/notesMaster1.xml" Id="Rd68704f5d0b54d12" /><Relationship Type="http://schemas.openxmlformats.org/officeDocument/2006/relationships/presProps" Target="/ppt/presProps.xml" Id="R31999d780791470d" /><Relationship Type="http://schemas.openxmlformats.org/officeDocument/2006/relationships/tableStyles" Target="/ppt/tableStyles.xml" Id="Rc6826a71361d4ef7" /><Relationship Type="http://schemas.openxmlformats.org/officeDocument/2006/relationships/slide" Target="/ppt/slides/slide1.xml" Id="R09991c399d024f60" /><Relationship Type="http://schemas.openxmlformats.org/officeDocument/2006/relationships/slide" Target="/ppt/slides/slide2.xml" Id="Rb13c6f0fa9da4005" /><Relationship Type="http://schemas.openxmlformats.org/officeDocument/2006/relationships/slide" Target="/ppt/slides/slide3.xml" Id="R40cd0f585ed64398" /><Relationship Type="http://schemas.openxmlformats.org/officeDocument/2006/relationships/slide" Target="/ppt/slides/slide4.xml" Id="R6fb5a687a3c8468d" /><Relationship Type="http://schemas.openxmlformats.org/officeDocument/2006/relationships/slide" Target="/ppt/slides/slide5.xml" Id="R747a550319764ab3" /><Relationship Type="http://schemas.openxmlformats.org/officeDocument/2006/relationships/slide" Target="/ppt/slides/slide6.xml" Id="R8fb93db3e2d64367" /><Relationship Type="http://schemas.openxmlformats.org/officeDocument/2006/relationships/slide" Target="/ppt/slides/slide7.xml" Id="R091e6962c4c546ab" /><Relationship Type="http://schemas.openxmlformats.org/officeDocument/2006/relationships/slide" Target="/ppt/slides/slide8.xml" Id="R45705edfec0d4221" /><Relationship Type="http://schemas.openxmlformats.org/officeDocument/2006/relationships/slide" Target="/ppt/slides/slide9.xml" Id="Rf6d4ff25cb6f4fe3" /><Relationship Type="http://schemas.openxmlformats.org/officeDocument/2006/relationships/slide" Target="/ppt/slides/slide10.xml" Id="Rd7a68e8692de4f78" /><Relationship Type="http://schemas.openxmlformats.org/officeDocument/2006/relationships/slide" Target="/ppt/slides/slide11.xml" Id="R32ae681f02b44549" /><Relationship Type="http://schemas.openxmlformats.org/officeDocument/2006/relationships/slide" Target="/ppt/slides/slide12.xml" Id="Rd7d00b1da6f048c9" /><Relationship Type="http://schemas.openxmlformats.org/officeDocument/2006/relationships/slide" Target="/ppt/slides/slide13.xml" Id="Rd0fc89fc60bb4eda" /><Relationship Type="http://schemas.openxmlformats.org/officeDocument/2006/relationships/slide" Target="/ppt/slides/slide14.xml" Id="Rb8fab43cc1b14f4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1fae50f83444c6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29b34e16a284ec3" /><Relationship Type="http://schemas.openxmlformats.org/officeDocument/2006/relationships/notesMaster" Target="/ppt/notesMasters/notesMaster1.xml" Id="Re37dcaa6ce22481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e176beff9a2459c" /><Relationship Type="http://schemas.openxmlformats.org/officeDocument/2006/relationships/notesMaster" Target="/ppt/notesMasters/notesMaster1.xml" Id="R97f6cc17a5754da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17af296dd18450b" /><Relationship Type="http://schemas.openxmlformats.org/officeDocument/2006/relationships/notesMaster" Target="/ppt/notesMasters/notesMaster1.xml" Id="R61d55171f4c44af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b8cca12858d4619" /><Relationship Type="http://schemas.openxmlformats.org/officeDocument/2006/relationships/notesMaster" Target="/ppt/notesMasters/notesMaster1.xml" Id="Ra46bbafae3c64e8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f5fd1ecef914c08" /><Relationship Type="http://schemas.openxmlformats.org/officeDocument/2006/relationships/notesMaster" Target="/ppt/notesMasters/notesMaster1.xml" Id="Raee48e324d7f4b8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1f047819e7445b0" /><Relationship Type="http://schemas.openxmlformats.org/officeDocument/2006/relationships/notesMaster" Target="/ppt/notesMasters/notesMaster1.xml" Id="Rb91e979842ec4e9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9150773984941a5" /><Relationship Type="http://schemas.openxmlformats.org/officeDocument/2006/relationships/notesMaster" Target="/ppt/notesMasters/notesMaster1.xml" Id="Ra6552379744541f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9c6c32dbab04fe3" /><Relationship Type="http://schemas.openxmlformats.org/officeDocument/2006/relationships/notesMaster" Target="/ppt/notesMasters/notesMaster1.xml" Id="R630bbd6caaf84ec2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ed6d112bfce44eaa" /><Relationship Type="http://schemas.openxmlformats.org/officeDocument/2006/relationships/notesMaster" Target="/ppt/notesMasters/notesMaster1.xml" Id="R944d7705bbb74dc9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f3b1d5bbc5eb432a" /><Relationship Type="http://schemas.openxmlformats.org/officeDocument/2006/relationships/notesMaster" Target="/ppt/notesMasters/notesMaster1.xml" Id="Re8435936befe4e82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d4a331af6d434d09" /><Relationship Type="http://schemas.openxmlformats.org/officeDocument/2006/relationships/notesMaster" Target="/ppt/notesMasters/notesMaster1.xml" Id="R2b09536143264b3e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3311dccfc9f14ace" /><Relationship Type="http://schemas.openxmlformats.org/officeDocument/2006/relationships/notesMaster" Target="/ppt/notesMasters/notesMaster1.xml" Id="R5e371557f4604f1f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254aed5b59ca488a" /><Relationship Type="http://schemas.openxmlformats.org/officeDocument/2006/relationships/notesMaster" Target="/ppt/notesMasters/notesMaster1.xml" Id="R481c5e90e198420e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c9984f2e042f4224" /><Relationship Type="http://schemas.openxmlformats.org/officeDocument/2006/relationships/notesMaster" Target="/ppt/notesMasters/notesMaster1.xml" Id="R0b446910c2a0473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with the single-sentence project summary. Establish that the presentation explains both the engineering flow and the recommendation logic.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README.md</a:t>
            </a:r>
          </a:p>
          <a:p xmlns:a="http://schemas.openxmlformats.org/drawingml/2006/main">
            <a:r>
              <a:t>- app.py</a:t>
            </a:r>
          </a:p>
          <a:p xmlns:a="http://schemas.openxmlformats.org/drawingml/2006/main">
            <a:r>
              <a:t>- project-documents/FinalDeliverables_F25PROJECTEC4D8/2-FinalReport_SmartCourse_F25PROJECTEC4D8.docx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Frame the problem before describing features. Use the example query to connect the user experience to the need for both keyword and semantic retrieval.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project-documents/Fall 2025_CS619_11727_1.docx</a:t>
            </a:r>
          </a:p>
          <a:p xmlns:a="http://schemas.openxmlformats.org/drawingml/2006/main">
            <a:r>
              <a:t>- templates/home.html</a:t>
            </a:r>
          </a:p>
          <a:p xmlns:a="http://schemas.openxmlformats.org/drawingml/2006/main">
            <a:r>
              <a:t>- templates/recommend.html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Explain that the recommendation is not only a model output. It becomes a user-facing learning decision with metadata, saving, and history.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smartcourse/api.py</a:t>
            </a:r>
          </a:p>
          <a:p xmlns:a="http://schemas.openxmlformats.org/drawingml/2006/main">
            <a:r>
              <a:t>- smartcourse/services/recommendation.py</a:t>
            </a:r>
          </a:p>
          <a:p xmlns:a="http://schemas.openxmlformats.org/drawingml/2006/main">
            <a:r>
              <a:t>- static/js/main.js</a:t>
            </a:r>
          </a:p>
          <a:p xmlns:a="http://schemas.openxmlformats.org/drawingml/2006/main">
            <a:r>
              <a:t>- templates/recommend.html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Spend the most time on this slide. Explain the difference between lexical similarity and semantic similarity, then state the exact Hybrid behavior honestly.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smartcourse/models/tfidf_model.py</a:t>
            </a:r>
          </a:p>
          <a:p xmlns:a="http://schemas.openxmlformats.org/drawingml/2006/main">
            <a:r>
              <a:t>- smartcourse/models/neural_model.py</a:t>
            </a:r>
          </a:p>
          <a:p xmlns:a="http://schemas.openxmlformats.org/drawingml/2006/main">
            <a:r>
              <a:t>- smartcourse/services/recommendation.py</a:t>
            </a:r>
          </a:p>
          <a:p xmlns:a="http://schemas.openxmlformats.org/drawingml/2006/main">
            <a:r>
              <a:t>- smartcourse/data/preprocess.py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Connect the data-science work to the application. The key performance idea is precomputation: catalog-side work is done during model building, while each request only processes the query and performs similarity search.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smartcourse/data/pipeline.py</a:t>
            </a:r>
          </a:p>
          <a:p xmlns:a="http://schemas.openxmlformats.org/drawingml/2006/main">
            <a:r>
              <a:t>- scripts/prepare_data.py</a:t>
            </a:r>
          </a:p>
          <a:p xmlns:a="http://schemas.openxmlformats.org/drawingml/2006/main">
            <a:r>
              <a:t>- scripts/build_models.py</a:t>
            </a:r>
          </a:p>
          <a:p xmlns:a="http://schemas.openxmlformats.org/drawingml/2006/main">
            <a:r>
              <a:t>- smartcourse/models/neural_model.py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Walk top to bottom. The important separation is that the API does not implement ranking itself; it validates and delegates to services, while the model and database layers remain replaceable.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smartcourse/__init__.py</a:t>
            </a:r>
          </a:p>
          <a:p xmlns:a="http://schemas.openxmlformats.org/drawingml/2006/main">
            <a:r>
              <a:t>- smartcourse/config.py</a:t>
            </a:r>
          </a:p>
          <a:p xmlns:a="http://schemas.openxmlformats.org/drawingml/2006/main">
            <a:r>
              <a:t>- smartcourse/api.py</a:t>
            </a:r>
          </a:p>
          <a:p xmlns:a="http://schemas.openxmlformats.org/drawingml/2006/main">
            <a:r>
              <a:t>- smartcourse/services/recommendation.py</a:t>
            </a:r>
          </a:p>
          <a:p xmlns:a="http://schemas.openxmlformats.org/drawingml/2006/main">
            <a:r>
              <a:t>- smartcourse/services/history.py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the request contract. Explain that the API validates model names and empty preferences, then delegates. Mention the 400, 404, 503, and 500 error paths if asked.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smartcourse/api.py</a:t>
            </a:r>
          </a:p>
          <a:p xmlns:a="http://schemas.openxmlformats.org/drawingml/2006/main">
            <a:r>
              <a:t>- smartcourse/services/recommendation.py</a:t>
            </a:r>
          </a:p>
          <a:p xmlns:a="http://schemas.openxmlformats.org/drawingml/2006/main">
            <a:r>
              <a:t>- smartcourse/services/history.py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the screenshots to anchor the explanation in the actual product. Point out the natural-language input, model selector, score bar, course metadata, and Save button.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Captured from the local Flask app at http://127.0.0.1:5000/</a:t>
            </a:r>
          </a:p>
          <a:p xmlns:a="http://schemas.openxmlformats.org/drawingml/2006/main">
            <a:r>
              <a:t>- templates/home.html</a:t>
            </a:r>
          </a:p>
          <a:p xmlns:a="http://schemas.openxmlformats.org/drawingml/2006/main">
            <a:r>
              <a:t>- templates/recommend.html</a:t>
            </a:r>
          </a:p>
          <a:p xmlns:a="http://schemas.openxmlformats.org/drawingml/2006/main">
            <a:r>
              <a:t>- static/js/main.js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Point to the selected search session on the left, the saved recommendation on the right, and the side-by-side comparison below. This is where SQLite persistence becomes visible to the learner.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Captured from the local Flask app at http://127.0.0.1:5000/dashboard</a:t>
            </a:r>
          </a:p>
          <a:p xmlns:a="http://schemas.openxmlformats.org/drawingml/2006/main">
            <a:r>
              <a:t>- templates/dashboard.html</a:t>
            </a:r>
          </a:p>
          <a:p xmlns:a="http://schemas.openxmlformats.org/drawingml/2006/main">
            <a:r>
              <a:t>- smartcourse/models/db_models.py</a:t>
            </a:r>
          </a:p>
          <a:p xmlns:a="http://schemas.openxmlformats.org/drawingml/2006/main">
            <a:r>
              <a:t>- static/js/main.js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Emphasize that persistence is part of the product, not an afterthought. One SearchSession can have many SavedRecommendation records.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smartcourse/models/db_models.py</a:t>
            </a:r>
          </a:p>
          <a:p xmlns:a="http://schemas.openxmlformats.org/drawingml/2006/main">
            <a:r>
              <a:t>- smartcourse/services/history.py</a:t>
            </a:r>
          </a:p>
          <a:p xmlns:a="http://schemas.openxmlformats.org/drawingml/2006/main">
            <a:r>
              <a:t>- templates/dashboard.html</a:t>
            </a:r>
          </a:p>
          <a:p xmlns:a="http://schemas.openxmlformats.org/drawingml/2006/main">
            <a:r>
              <a:t>- static/js/main.js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evaluation slide defines the metrics and the test procedure. Report measured values only after running the evaluation script in the correct environment.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scripts/evaluate_models.py</a:t>
            </a:r>
          </a:p>
          <a:p xmlns:a="http://schemas.openxmlformats.org/drawingml/2006/main">
            <a:r>
              <a:t>- data/evaluation_queries.json</a:t>
            </a:r>
          </a:p>
          <a:p xmlns:a="http://schemas.openxmlformats.org/drawingml/2006/main">
            <a:r>
              <a:t>- project-documents/FinalDeliverables_F25PROJECTEC4D8/2-FinalReport_SmartCourse_F25PROJECTEC4D8.docx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Explain each design choice in relation to the current prototype, then connect the listed limitations to concrete future improvements.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README.md</a:t>
            </a:r>
          </a:p>
          <a:p xmlns:a="http://schemas.openxmlformats.org/drawingml/2006/main">
            <a:r>
              <a:t>- smartcourse/models/tfidf_model.py</a:t>
            </a:r>
          </a:p>
          <a:p xmlns:a="http://schemas.openxmlformats.org/drawingml/2006/main">
            <a:r>
              <a:t>- smartcourse/models/neural_model.py</a:t>
            </a:r>
          </a:p>
          <a:p xmlns:a="http://schemas.openxmlformats.org/drawingml/2006/main">
            <a:r>
              <a:t>- smartcourse/services/recommendation.py</a:t>
            </a:r>
          </a:p>
          <a:p xmlns:a="http://schemas.openxmlformats.org/drawingml/2006/main">
            <a:r>
              <a:t>- smartcourse/config.py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Demonstrate one query, one saved course, and one dashboard view. The request flow connects browser interaction, API validation, model ranking, persistence, and rendering.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templates/recommend.html</a:t>
            </a:r>
          </a:p>
          <a:p xmlns:a="http://schemas.openxmlformats.org/drawingml/2006/main">
            <a:r>
              <a:t>- templates/dashboard.html</a:t>
            </a:r>
          </a:p>
          <a:p xmlns:a="http://schemas.openxmlformats.org/drawingml/2006/main">
            <a:r>
              <a:t>- static/js/main.js</a:t>
            </a:r>
          </a:p>
          <a:p xmlns:a="http://schemas.openxmlformats.org/drawingml/2006/main">
            <a:r>
              <a:t>- smartcourse/api.py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Summarize the system through its problem, two ranking methods, application flow, and persistent learner history. Technical discussion can return to data preparation, model ranking, API orchestration, and persistence.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README.md</a:t>
            </a:r>
          </a:p>
          <a:p xmlns:a="http://schemas.openxmlformats.org/drawingml/2006/main">
            <a:r>
              <a:t>- project-documents/FinalDeliverables_F25PROJECTEC4D8/2-FinalReport_SmartCourse_F25PROJECTEC4D8.docx</a:t>
            </a:r>
          </a:p>
          <a:p xmlns:a="http://schemas.openxmlformats.org/drawingml/2006/main">
            <a:r>
              <a:t>- project-documents/FinalDeliverables_F25PROJECTEC4D8/3-FinalPresentation_SmartCourse_F25PROJECTEC4D8.pptx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ee7075fc13c410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7f55c0ddc8c4b2d" /><Relationship Type="http://schemas.openxmlformats.org/officeDocument/2006/relationships/slideLayout" Target="/ppt/slideLayouts/slideLayout1.xml" Id="R2320c45f3bf04d1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320c45f3bf04d1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38335edf45d41c0" /><Relationship Type="http://schemas.openxmlformats.org/officeDocument/2006/relationships/notesSlide" Target="/ppt/notesSlides/notesSlide1.xml" Id="R5e3b5e6ce95f450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904d4e331a64396" /><Relationship Type="http://schemas.openxmlformats.org/officeDocument/2006/relationships/notesSlide" Target="/ppt/notesSlides/notesSlide2.xml" Id="Rf929475d5e54405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9d89b086c3b44f5" /><Relationship Type="http://schemas.openxmlformats.org/officeDocument/2006/relationships/notesSlide" Target="/ppt/notesSlides/notesSlide3.xml" Id="R4fd9f413491c465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1e8e35365e54a9d" /><Relationship Type="http://schemas.openxmlformats.org/officeDocument/2006/relationships/notesSlide" Target="/ppt/notesSlides/notesSlide4.xml" Id="R8f07f1f8dad14d7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70c02d1dc0d4c1d" /><Relationship Type="http://schemas.openxmlformats.org/officeDocument/2006/relationships/notesSlide" Target="/ppt/notesSlides/notesSlide5.xml" Id="R8a312ba46cc8494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a54b50abbe04ca0" /><Relationship Type="http://schemas.openxmlformats.org/officeDocument/2006/relationships/notesSlide" Target="/ppt/notesSlides/notesSlide6.xml" Id="R85a21c89c74b4fe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4ad433393b74e03" /><Relationship Type="http://schemas.openxmlformats.org/officeDocument/2006/relationships/notesSlide" Target="/ppt/notesSlides/notesSlide7.xml" Id="Reac776a28c594363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2591348c24e417f" /><Relationship Type="http://schemas.openxmlformats.org/officeDocument/2006/relationships/image" Target="/ppt/media/image.png" Id="Raf7ca18d713f4c70" /><Relationship Type="http://schemas.openxmlformats.org/officeDocument/2006/relationships/image" Target="/ppt/media/image2.png" Id="R26247bca6c014808" /><Relationship Type="http://schemas.openxmlformats.org/officeDocument/2006/relationships/notesSlide" Target="/ppt/notesSlides/notesSlide8.xml" Id="R76cbd1e3d5964c6d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e2d9cf31aaf4d1c" /><Relationship Type="http://schemas.openxmlformats.org/officeDocument/2006/relationships/image" Target="/ppt/media/image3.png" Id="R130a896fd8354e95" /><Relationship Type="http://schemas.openxmlformats.org/officeDocument/2006/relationships/notesSlide" Target="/ppt/notesSlides/notesSlide9.xml" Id="R8ea43a41b97b4c83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1de34273133473c" /><Relationship Type="http://schemas.openxmlformats.org/officeDocument/2006/relationships/notesSlide" Target="/ppt/notesSlides/notesSlide10.xml" Id="R606ad61b9a8a42db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bd744a6a8f7438f" /><Relationship Type="http://schemas.openxmlformats.org/officeDocument/2006/relationships/notesSlide" Target="/ppt/notesSlides/notesSlide11.xml" Id="Rb0b3d73efc7446d8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cb2f4a8d3f04870" /><Relationship Type="http://schemas.openxmlformats.org/officeDocument/2006/relationships/notesSlide" Target="/ppt/notesSlides/notesSlide12.xml" Id="Rb069a0bfe56b41f8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b3d126a185f4113" /><Relationship Type="http://schemas.openxmlformats.org/officeDocument/2006/relationships/notesSlide" Target="/ppt/notesSlides/notesSlide13.xml" Id="R59037c49484c4db6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16ecc09719b44db" /><Relationship Type="http://schemas.openxmlformats.org/officeDocument/2006/relationships/notesSlide" Target="/ppt/notesSlides/notesSlide14.xml" Id="R0c2158f12a6d4cb4" /></Relationships>
</file>

<file path=ppt/slides/slide1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8111F"/>
            </a:gs>
            <a:gs pos="58000">
              <a:srgbClr val="0B1D32"/>
            </a:gs>
            <a:gs pos="100000">
              <a:srgbClr val="101A2B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2C289D2-B865-4E22-B454-7623851CC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6750"/>
            <a:ext cx="571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D9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EB613C3-9145-4F71-82DD-6C61DCD6F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905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BD9EE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BD9EE"/>
                </a:solidFill>
                <a:latin typeface="Aptos"/>
                <a:ea typeface="Aptos"/>
                <a:cs typeface="Aptos"/>
              </a:rPr>
              <a:t>SMARTCOURSE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CDC2602-2822-4FE6-AA77-0DDD780D5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123950"/>
            <a:ext cx="6858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900" b="1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3900" b="1">
                <a:solidFill>
                  <a:srgbClr val="F5F8FC"/>
                </a:solidFill>
                <a:latin typeface="Aptos"/>
                <a:ea typeface="Aptos"/>
                <a:cs typeface="Aptos"/>
              </a:rPr>
              <a:t>AI-POWERED COURSE</a:t>
            </a:r>
          </a:p>
          <a:p xmlns:a="http://schemas.openxmlformats.org/drawingml/2006/main">
            <a:pPr algn="l">
              <a:defRPr sz="3900" b="1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3900" b="1">
                <a:solidFill>
                  <a:srgbClr val="F5F8FC"/>
                </a:solidFill>
                <a:latin typeface="Aptos"/>
                <a:ea typeface="Aptos"/>
                <a:cs typeface="Aptos"/>
              </a:rPr>
              <a:t>RECOMMENDATION SYSTEM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6DA6506-63BD-4C6B-BEA2-77B746EC9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800350"/>
            <a:ext cx="609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A7B7C9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A7B7C9"/>
                </a:solidFill>
                <a:latin typeface="Aptos"/>
                <a:ea typeface="Aptos"/>
                <a:cs typeface="Aptos"/>
              </a:rPr>
              <a:t>Project overview: problem, models, architecture, and product flow.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5099B58-C449-4233-93FC-3C0E34E08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638550"/>
            <a:ext cx="5143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415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5A987AF-314F-4149-A3BB-5F3D26519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052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B9F36D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B9F36D"/>
                </a:solidFill>
                <a:latin typeface="Aptos"/>
                <a:ea typeface="Aptos"/>
                <a:cs typeface="Aptos"/>
              </a:rPr>
              <a:t>Final Year Project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3097B55-AC45-40B4-A2A1-B9A05C463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953000"/>
            <a:ext cx="514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F839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F839A"/>
                </a:solidFill>
                <a:latin typeface="Aptos"/>
                <a:ea typeface="Aptos"/>
                <a:cs typeface="Aptos"/>
              </a:rPr>
              <a:t>Group ID  F25PROJECTEC4D8   |   Roll No  BC240419615</a:t>
            </a:r>
          </a:p>
          <a:p xmlns:a="http://schemas.openxmlformats.org/drawingml/2006/main">
            <a:pPr algn="l">
              <a:defRPr sz="1050" b="0">
                <a:solidFill>
                  <a:srgbClr val="6F839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F839A"/>
                </a:solidFill>
                <a:latin typeface="Aptos"/>
                <a:ea typeface="Aptos"/>
                <a:cs typeface="Aptos"/>
              </a:rPr>
              <a:t>Supervisor  Muhammad Bilal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CD9E239-E270-42EB-ACCF-9B15BD382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266950"/>
            <a:ext cx="1143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D9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63021CD-6F8F-404F-B3CB-DC2CC63C7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266950"/>
            <a:ext cx="28575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D9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BB954CC-42D4-47D8-B2B0-4BA6798E4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3409950"/>
            <a:ext cx="11715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D9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63102B6-6F40-4C96-8A6E-63F86CA8B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3409950"/>
            <a:ext cx="11715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F3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AB3EC1C-7D66-42BD-9061-166EDD392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152650"/>
            <a:ext cx="1219200" cy="1219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2B45"/>
          </a:solidFill>
          <a:ln xmlns:a="http://schemas.openxmlformats.org/drawingml/2006/main" w="19050">
            <a:solidFill>
              <a:srgbClr val="2BD9E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7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30F38BF-FB3E-408C-9234-5898543D2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524125"/>
            <a:ext cx="1219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2BD9EE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2BD9EE"/>
                </a:solidFill>
                <a:latin typeface="Aptos"/>
                <a:ea typeface="Aptos"/>
                <a:cs typeface="Aptos"/>
              </a:rPr>
              <a:t>NLP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EA83D8E-B0B2-491B-A2CA-5C67FEC7F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3181350"/>
            <a:ext cx="1657350" cy="72390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10233A"/>
          </a:solidFill>
          <a:ln xmlns:a="http://schemas.openxmlformats.org/drawingml/2006/main" w="9525">
            <a:solidFill>
              <a:srgbClr val="1A536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941713E-D2B9-48BF-A681-30A93A0AE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324225"/>
            <a:ext cx="1276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5F8FC"/>
                </a:solidFill>
                <a:latin typeface="Aptos"/>
                <a:ea typeface="Aptos"/>
                <a:cs typeface="Aptos"/>
              </a:rPr>
              <a:t>TF-IDF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7127836-93CD-4292-9E51-D23D867C4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600450"/>
            <a:ext cx="12763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A7B7C9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7B7C9"/>
                </a:solidFill>
                <a:latin typeface="Aptos"/>
                <a:ea typeface="Aptos"/>
                <a:cs typeface="Aptos"/>
              </a:rPr>
              <a:t>keyword lens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BF13BF0-7375-4C5A-998F-8C3FDB9B3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181350"/>
            <a:ext cx="1657350" cy="72390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10233A"/>
          </a:solidFill>
          <a:ln xmlns:a="http://schemas.openxmlformats.org/drawingml/2006/main" w="9525">
            <a:solidFill>
              <a:srgbClr val="405C2D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A46D558-07BE-4D88-AC42-F5BFE3316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3324225"/>
            <a:ext cx="1276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5F8FC"/>
                </a:solidFill>
                <a:latin typeface="Aptos"/>
                <a:ea typeface="Aptos"/>
                <a:cs typeface="Aptos"/>
              </a:rPr>
              <a:t>NEURAL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A9D3A74-AD54-49B6-A598-86E3F7190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3600450"/>
            <a:ext cx="12763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A7B7C9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7B7C9"/>
                </a:solidFill>
                <a:latin typeface="Aptos"/>
                <a:ea typeface="Aptos"/>
                <a:cs typeface="Aptos"/>
              </a:rPr>
              <a:t>meaning lens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D2E113D-4EFB-458C-A641-79F4468FB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4953000"/>
            <a:ext cx="2133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233A"/>
          </a:solidFill>
          <a:ln xmlns:a="http://schemas.openxmlformats.org/drawingml/2006/main" w="9525">
            <a:solidFill>
              <a:srgbClr val="29415B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1975C93-DFCF-4AB9-8DD7-A24FA77C8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5105400"/>
            <a:ext cx="2133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B9F36D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B9F36D"/>
                </a:solidFill>
                <a:latin typeface="Aptos"/>
                <a:ea typeface="Aptos"/>
                <a:cs typeface="Aptos"/>
              </a:rPr>
              <a:t>rank  →  compare  →  save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18B0092-62D1-4011-AF61-9EBE29AFA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2381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6F839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F839A"/>
                </a:solidFill>
                <a:latin typeface="Aptos"/>
                <a:ea typeface="Aptos"/>
                <a:cs typeface="Aptos"/>
              </a:rPr>
              <a:t>SMARTCOURSE  /  PROJECT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C797448-C77D-4C09-B46B-17F43E89D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533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6F839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F839A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21094186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8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kicker">
            <a:extLst xmlns:a="http://schemas.openxmlformats.org/drawingml/2006/main">
              <a:ext uri="{FF2B5EF4-FFF2-40B4-BE49-F238E27FC236}">
                <a16:creationId xmlns:a16="http://schemas.microsoft.com/office/drawing/2014/main" id="{9642699B-7BC6-4367-B3DC-CE366A6D1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BD9EE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BD9EE"/>
                </a:solidFill>
                <a:latin typeface="Aptos"/>
                <a:ea typeface="Aptos"/>
                <a:cs typeface="Aptos"/>
              </a:rPr>
              <a:t>01 / THE PROBLEM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A312C32C-AF73-479E-A159-F677FE18A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6750"/>
            <a:ext cx="1076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F5F8FC"/>
                </a:solidFill>
                <a:latin typeface="Aptos"/>
                <a:ea typeface="Aptos"/>
                <a:cs typeface="Aptos"/>
              </a:rPr>
              <a:t>The challenge is not a lack of courses — it is finding the right ones.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BE82033C-CAF4-4F7B-8459-DFC6B2AEE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62075"/>
            <a:ext cx="923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7B7C9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A7B7C9"/>
                </a:solidFill>
                <a:latin typeface="Aptos"/>
                <a:ea typeface="Aptos"/>
                <a:cs typeface="Aptos"/>
              </a:rPr>
              <a:t>Manual browsing is slow, while exact keyword search can miss the learner's intent.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780600D-36C6-4339-A33D-EB5D14F00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52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0A1D7D6-A1DE-4076-ABC9-1D34ECA38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90750"/>
            <a:ext cx="4381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2593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F5F8FC"/>
                </a:solidFill>
                <a:latin typeface="Aptos"/>
                <a:ea typeface="Aptos"/>
                <a:cs typeface="Aptos"/>
              </a:rPr>
              <a:t>A learner may know the outcome they want, but not the exact course title or vocabulary used by the catalog.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07F7FA3-3834-485E-B0D4-E007622DB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81350"/>
            <a:ext cx="4191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A7B7C9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A7B7C9"/>
                </a:solidFill>
                <a:latin typeface="Aptos"/>
                <a:ea typeface="Aptos"/>
                <a:cs typeface="Aptos"/>
              </a:rPr>
              <a:t>SmartCourse starts with the learner's own words and turns them into a ranked, inspectable set of options.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3E65934-AA9B-4C71-8A20-4099FA628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24350"/>
            <a:ext cx="14287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A536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0" rIns="762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2BD9EE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BD9EE"/>
                </a:solidFill>
                <a:latin typeface="Aptos"/>
                <a:ea typeface="Aptos"/>
                <a:cs typeface="Aptos"/>
              </a:rPr>
              <a:t>LEARNER INPUT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CD620DF-F442-494C-90CD-DE16F28B6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4343400" cy="80010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0233A"/>
          </a:solidFill>
          <a:ln xmlns:a="http://schemas.openxmlformats.org/drawingml/2006/main" w="9525">
            <a:solidFill>
              <a:srgbClr val="2BD9E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EDDBD11-005E-4F50-A443-743978506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933950"/>
            <a:ext cx="3905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8485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5F8FC"/>
                </a:solidFill>
                <a:latin typeface="Aptos"/>
                <a:ea typeface="Aptos"/>
                <a:cs typeface="Aptos"/>
              </a:rPr>
              <a:t>“I want to learn Python</a:t>
            </a:r>
          </a:p>
          <a:p xmlns:a="http://schemas.openxmlformats.org/drawingml/2006/main">
            <a:pPr algn="l">
              <a:defRPr sz="1650" b="1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5F8FC"/>
                </a:solidFill>
                <a:latin typeface="Aptos"/>
                <a:ea typeface="Aptos"/>
                <a:cs typeface="Aptos"/>
              </a:rPr>
              <a:t>for data science.”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EC39C29-5BCB-4E46-A059-F1CD74EBF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190750"/>
            <a:ext cx="18097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05C2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0" rIns="762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B9F36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B9F36D"/>
                </a:solidFill>
                <a:latin typeface="Aptos"/>
                <a:ea typeface="Aptos"/>
                <a:cs typeface="Aptos"/>
              </a:rPr>
              <a:t>WHY SEARCH BREAKS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2963248-A508-4B4D-B8F7-9B57EAE3E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724150"/>
            <a:ext cx="419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BD9EE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2BD9EE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54495D7-C0F9-43D6-830C-F1173AB6C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2724150"/>
            <a:ext cx="3524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5F8FC"/>
                </a:solidFill>
                <a:latin typeface="Aptos"/>
                <a:ea typeface="Aptos"/>
                <a:cs typeface="Aptos"/>
              </a:rPr>
              <a:t>Vocabulary mismatch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53FA78E-5FCE-4774-BE7B-52101B610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3048000"/>
            <a:ext cx="3810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A7B7C9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A7B7C9"/>
                </a:solidFill>
                <a:latin typeface="Aptos"/>
                <a:ea typeface="Aptos"/>
                <a:cs typeface="Aptos"/>
              </a:rPr>
              <a:t>The course may say “predictive modeling” while the learner says “data science.”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A63172C-95C4-41AA-AD3D-A267198D5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3562350"/>
            <a:ext cx="4495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452FDEB-B51F-4C6A-8272-3BE227645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3752850"/>
            <a:ext cx="419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9F36D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B9F36D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A168FD4-9FB6-4924-8C15-F97628AC0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3752850"/>
            <a:ext cx="3524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5F8FC"/>
                </a:solidFill>
                <a:latin typeface="Aptos"/>
                <a:ea typeface="Aptos"/>
                <a:cs typeface="Aptos"/>
              </a:rPr>
              <a:t>Catalog scale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1FEFCD2-0289-4A1A-ACC7-637358F98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4076700"/>
            <a:ext cx="3810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A7B7C9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A7B7C9"/>
                </a:solidFill>
                <a:latin typeface="Aptos"/>
                <a:ea typeface="Aptos"/>
                <a:cs typeface="Aptos"/>
              </a:rPr>
              <a:t>Thousands of records make manual comparison expensive.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1E3AEE3-4FA5-4B3C-AC1C-8A844954B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591050"/>
            <a:ext cx="4495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51CD5AA-DB25-4C6D-9E5C-22F07D8F4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781550"/>
            <a:ext cx="419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BD9EE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2BD9EE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2499B5E-5517-4293-BDAA-724D49618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4781550"/>
            <a:ext cx="3524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5F8FC"/>
                </a:solidFill>
                <a:latin typeface="Aptos"/>
                <a:ea typeface="Aptos"/>
                <a:cs typeface="Aptos"/>
              </a:rPr>
              <a:t>Trust and choice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00F5268-DED6-40DA-A28A-EC6840DCE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5105400"/>
            <a:ext cx="3810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A7B7C9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A7B7C9"/>
                </a:solidFill>
                <a:latin typeface="Aptos"/>
                <a:ea typeface="Aptos"/>
                <a:cs typeface="Aptos"/>
              </a:rPr>
              <a:t>The learner needs relevance signals and a way to compare rankings.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7B1A0CE-5441-45A2-A3E8-5D322C20C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2381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6F839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F839A"/>
                </a:solidFill>
                <a:latin typeface="Aptos"/>
                <a:ea typeface="Aptos"/>
                <a:cs typeface="Aptos"/>
              </a:rPr>
              <a:t>SMARTCOURSE  /  PROJECT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9B050D8-56BB-4A81-90E0-E5CEBEF0F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533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6F839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F839A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61199339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D1B2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kicker">
            <a:extLst xmlns:a="http://schemas.openxmlformats.org/drawingml/2006/main">
              <a:ext uri="{FF2B5EF4-FFF2-40B4-BE49-F238E27FC236}">
                <a16:creationId xmlns:a16="http://schemas.microsoft.com/office/drawing/2014/main" id="{0D4D0099-D18C-4C16-9D9C-75648903E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BD9EE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BD9EE"/>
                </a:solidFill>
                <a:latin typeface="Aptos"/>
                <a:ea typeface="Aptos"/>
                <a:cs typeface="Aptos"/>
              </a:rPr>
              <a:t>02 / THE SOLUTION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B3ACEE3D-9115-46C1-8DF8-C9A4D1065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6750"/>
            <a:ext cx="1076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F5F8FC"/>
                </a:solidFill>
                <a:latin typeface="Aptos"/>
                <a:ea typeface="Aptos"/>
                <a:cs typeface="Aptos"/>
              </a:rPr>
              <a:t>SmartCourse turns one sentence into a learning path.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2B9E109F-3DFC-427F-9B7C-42F77A1E7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62075"/>
            <a:ext cx="923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7B7C9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A7B7C9"/>
                </a:solidFill>
                <a:latin typeface="Aptos"/>
                <a:ea typeface="Aptos"/>
                <a:cs typeface="Aptos"/>
              </a:rPr>
              <a:t>The product keeps ranking explainable: every result includes a course, a score, and enough context to judge the match.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D6B8728-8DBD-458D-8EAB-F5985C54A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52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0A36383-FE80-49DE-BE70-85B933384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9800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BD9EE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BD9EE"/>
                </a:solidFill>
                <a:latin typeface="Aptos"/>
                <a:ea typeface="Aptos"/>
                <a:cs typeface="Aptos"/>
              </a:rPr>
              <a:t>NATURAL-LANGUAGE GOAL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B6A2BFD-78F1-43F2-B38A-EF015DAB8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90800"/>
            <a:ext cx="2952750" cy="1047750"/>
          </a:xfrm>
          <a:prstGeom xmlns:a="http://schemas.openxmlformats.org/drawingml/2006/main" prst="roundRect">
            <a:avLst>
              <a:gd name="adj" fmla="val 14545"/>
            </a:avLst>
          </a:prstGeom>
          <a:solidFill xmlns:a="http://schemas.openxmlformats.org/drawingml/2006/main">
            <a:srgbClr val="10233A"/>
          </a:solidFill>
          <a:ln xmlns:a="http://schemas.openxmlformats.org/drawingml/2006/main" w="9525">
            <a:solidFill>
              <a:srgbClr val="2BD9E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0159E5B-A603-4966-8829-A6372B65B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790825"/>
            <a:ext cx="2476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9359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F5F8FC"/>
                </a:solidFill>
                <a:latin typeface="Aptos"/>
                <a:ea typeface="Aptos"/>
                <a:cs typeface="Aptos"/>
              </a:rPr>
              <a:t>learn Python</a:t>
            </a:r>
          </a:p>
          <a:p xmlns:a="http://schemas.openxmlformats.org/drawingml/2006/main">
            <a:pPr algn="l">
              <a:defRPr sz="1950" b="1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F5F8FC"/>
                </a:solidFill>
                <a:latin typeface="Aptos"/>
                <a:ea typeface="Aptos"/>
                <a:cs typeface="Aptos"/>
              </a:rPr>
              <a:t>for data science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C904CAB-AF28-4C55-AE67-FB416B28F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2933700"/>
            <a:ext cx="1066800" cy="3429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BD9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99999AC-3AD9-4698-9086-9DBEBC57A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2209800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B9F36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B9F36D"/>
                </a:solidFill>
                <a:latin typeface="Aptos"/>
                <a:ea typeface="Aptos"/>
                <a:cs typeface="Aptos"/>
              </a:rPr>
              <a:t>RANKING ENGINES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81A5A12-40AB-4A0B-B639-C4D68638E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2590800"/>
            <a:ext cx="2038350" cy="1047750"/>
          </a:xfrm>
          <a:prstGeom xmlns:a="http://schemas.openxmlformats.org/drawingml/2006/main" prst="roundRect">
            <a:avLst>
              <a:gd name="adj" fmla="val 14545"/>
            </a:avLst>
          </a:prstGeom>
          <a:solidFill xmlns:a="http://schemas.openxmlformats.org/drawingml/2006/main">
            <a:srgbClr val="10233A"/>
          </a:solidFill>
          <a:ln xmlns:a="http://schemas.openxmlformats.org/drawingml/2006/main" w="9525">
            <a:solidFill>
              <a:srgbClr val="2BD9E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6B5AFC9-D7CA-455C-8F01-2732ADD63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2743200"/>
            <a:ext cx="1695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5F8FC"/>
                </a:solidFill>
                <a:latin typeface="Aptos"/>
                <a:ea typeface="Aptos"/>
                <a:cs typeface="Aptos"/>
              </a:rPr>
              <a:t>TF-IDF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2DDE416-16DF-4FBC-9BE3-40A08AFF0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3067050"/>
            <a:ext cx="16954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A7B7C9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A7B7C9"/>
                </a:solidFill>
                <a:latin typeface="Aptos"/>
                <a:ea typeface="Aptos"/>
                <a:cs typeface="Aptos"/>
              </a:rPr>
              <a:t>precise keyword alignment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768236E-2D07-4230-8D26-06E72F9B3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590800"/>
            <a:ext cx="2038350" cy="1047750"/>
          </a:xfrm>
          <a:prstGeom xmlns:a="http://schemas.openxmlformats.org/drawingml/2006/main" prst="roundRect">
            <a:avLst>
              <a:gd name="adj" fmla="val 14545"/>
            </a:avLst>
          </a:prstGeom>
          <a:solidFill xmlns:a="http://schemas.openxmlformats.org/drawingml/2006/main">
            <a:srgbClr val="10233A"/>
          </a:solidFill>
          <a:ln xmlns:a="http://schemas.openxmlformats.org/drawingml/2006/main" w="9525">
            <a:solidFill>
              <a:srgbClr val="B9F36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6E0FEEC-EBBB-4905-80FB-E2F9AD955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2743200"/>
            <a:ext cx="1695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5F8FC"/>
                </a:solidFill>
                <a:latin typeface="Aptos"/>
                <a:ea typeface="Aptos"/>
                <a:cs typeface="Aptos"/>
              </a:rPr>
              <a:t>Neural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7DA1E49-1532-406C-BDC8-6BEF20E29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3067050"/>
            <a:ext cx="16954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A7B7C9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A7B7C9"/>
                </a:solidFill>
                <a:latin typeface="Aptos"/>
                <a:ea typeface="Aptos"/>
                <a:cs typeface="Aptos"/>
              </a:rPr>
              <a:t>semantic similarity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007822E-7C67-4432-907B-6A53AF39D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2933700"/>
            <a:ext cx="914400" cy="3429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9F3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8682BAC-8D99-4CC1-B0BC-2BF4A75B3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209800"/>
            <a:ext cx="1047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FFB454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FB454"/>
                </a:solidFill>
                <a:latin typeface="Aptos"/>
                <a:ea typeface="Aptos"/>
                <a:cs typeface="Aptos"/>
              </a:rPr>
              <a:t>RANKED OUTPUT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5CD8563-28DC-4FBB-82F0-7E04EEB8F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4038600"/>
            <a:ext cx="1790700" cy="118110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10233A"/>
          </a:solidFill>
          <a:ln xmlns:a="http://schemas.openxmlformats.org/drawingml/2006/main" w="9525">
            <a:solidFill>
              <a:srgbClr val="FFB454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6E07852-1ED5-49E6-A58C-5BEA9D19D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4248150"/>
            <a:ext cx="1409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5F8FC"/>
                </a:solidFill>
                <a:latin typeface="Aptos"/>
                <a:ea typeface="Aptos"/>
                <a:cs typeface="Aptos"/>
              </a:rPr>
              <a:t>Course match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B7027DB-19B0-460F-A4BE-8D80B7953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4572000"/>
            <a:ext cx="1409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4203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B454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FFB454"/>
                </a:solidFill>
                <a:latin typeface="Aptos"/>
                <a:ea typeface="Aptos"/>
                <a:cs typeface="Aptos"/>
              </a:rPr>
              <a:t>score  0.91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37858E1-FDEF-4DEE-A7AF-3A8F4733D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4953000"/>
            <a:ext cx="1409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A7B7C9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A7B7C9"/>
                </a:solidFill>
                <a:latin typeface="Aptos"/>
                <a:ea typeface="Aptos"/>
                <a:cs typeface="Aptos"/>
              </a:rPr>
              <a:t>title · level · rating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C8A0604-F335-4C04-938E-D8A8E69D6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3638550"/>
            <a:ext cx="190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415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F20529E-235A-4449-A1E5-512788EFB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4038600"/>
            <a:ext cx="800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415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CB6E584-2454-436F-84B9-69A5760CE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05350"/>
            <a:ext cx="8001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0906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5F8FC"/>
                </a:solidFill>
                <a:latin typeface="Aptos"/>
                <a:ea typeface="Aptos"/>
                <a:cs typeface="Aptos"/>
              </a:rPr>
              <a:t>The learner can inspect, compare, save, and revisit — not just receive a black-box answer.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0E3860D-3F08-4A9B-82C9-E7D858A7D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34000"/>
            <a:ext cx="723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7B7C9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A7B7C9"/>
                </a:solidFill>
                <a:latin typeface="Aptos"/>
                <a:ea typeface="Aptos"/>
                <a:cs typeface="Aptos"/>
              </a:rPr>
              <a:t>That combination of relevance + traceability is the product's core value.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CF75FFB-468C-492A-9599-081DBBD45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2381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6F839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F839A"/>
                </a:solidFill>
                <a:latin typeface="Aptos"/>
                <a:ea typeface="Aptos"/>
                <a:cs typeface="Aptos"/>
              </a:rPr>
              <a:t>SMARTCOURSE  /  PROJECT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392E915-454B-4662-B17D-B116099C9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533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6F839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F839A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749370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8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kicker">
            <a:extLst xmlns:a="http://schemas.openxmlformats.org/drawingml/2006/main">
              <a:ext uri="{FF2B5EF4-FFF2-40B4-BE49-F238E27FC236}">
                <a16:creationId xmlns:a16="http://schemas.microsoft.com/office/drawing/2014/main" id="{64E5DD47-A2E7-4C9D-A98D-92284DB89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BD9EE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BD9EE"/>
                </a:solidFill>
                <a:latin typeface="Aptos"/>
                <a:ea typeface="Aptos"/>
                <a:cs typeface="Aptos"/>
              </a:rPr>
              <a:t>03 / THE AI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016DDD9D-04EF-4C90-8F54-C1A559960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6750"/>
            <a:ext cx="1076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F5F8FC"/>
                </a:solidFill>
                <a:latin typeface="Aptos"/>
                <a:ea typeface="Aptos"/>
                <a:cs typeface="Aptos"/>
              </a:rPr>
              <a:t>Two models answer two different questions.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F3204BE5-5650-4E61-8EAC-D4AC55D6E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62075"/>
            <a:ext cx="923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7B7C9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A7B7C9"/>
                </a:solidFill>
                <a:latin typeface="Aptos"/>
                <a:ea typeface="Aptos"/>
                <a:cs typeface="Aptos"/>
              </a:rPr>
              <a:t>TF-IDF asks “which courses use similar words?” Neural search asks “which courses express a similar meaning?”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D98174E-F4D1-4101-A139-3E01C1DC7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52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292AF43-EC23-4451-B444-79467CDC3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9800"/>
            <a:ext cx="5105400" cy="3143250"/>
          </a:xfrm>
          <a:prstGeom xmlns:a="http://schemas.openxmlformats.org/drawingml/2006/main" prst="roundRect">
            <a:avLst>
              <a:gd name="adj" fmla="val 4848"/>
            </a:avLst>
          </a:prstGeom>
          <a:solidFill xmlns:a="http://schemas.openxmlformats.org/drawingml/2006/main">
            <a:srgbClr val="10233A"/>
          </a:solidFill>
          <a:ln xmlns:a="http://schemas.openxmlformats.org/drawingml/2006/main" w="9525">
            <a:solidFill>
              <a:srgbClr val="1A5366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9BD77E3-A4A3-4620-9EA1-DE491012C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14600"/>
            <a:ext cx="14668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A536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0" rIns="762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2BD9EE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BD9EE"/>
                </a:solidFill>
                <a:latin typeface="Aptos"/>
                <a:ea typeface="Aptos"/>
                <a:cs typeface="Aptos"/>
              </a:rPr>
              <a:t>KEYWORD LENS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CA2443C-9F80-4729-A93C-08D3BD81B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28950"/>
            <a:ext cx="2476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3000" b="1">
                <a:solidFill>
                  <a:srgbClr val="F5F8FC"/>
                </a:solidFill>
                <a:latin typeface="Aptos"/>
                <a:ea typeface="Aptos"/>
                <a:cs typeface="Aptos"/>
              </a:rPr>
              <a:t>TF-IDF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EBD9CBF-9564-46A5-A2B6-E3424246D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56235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BD9EE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BD9EE"/>
                </a:solidFill>
                <a:latin typeface="Aptos"/>
                <a:ea typeface="Aptos"/>
                <a:cs typeface="Aptos"/>
              </a:rPr>
              <a:t>Best when exact terms matter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181FDAF-F961-41DD-AB29-36E6325FF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38600"/>
            <a:ext cx="40957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7B7C9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A7B7C9"/>
                </a:solidFill>
                <a:latin typeface="Aptos"/>
                <a:ea typeface="Aptos"/>
                <a:cs typeface="Aptos"/>
              </a:rPr>
              <a:t>• spaCy cleans and lemmatizes the text</a:t>
            </a:r>
          </a:p>
          <a:p xmlns:a="http://schemas.openxmlformats.org/drawingml/2006/main">
            <a:pPr algn="l">
              <a:defRPr sz="1350" b="0">
                <a:solidFill>
                  <a:srgbClr val="A7B7C9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A7B7C9"/>
                </a:solidFill>
                <a:latin typeface="Aptos"/>
                <a:ea typeface="Aptos"/>
                <a:cs typeface="Aptos"/>
              </a:rPr>
              <a:t>• Unigrams + bigrams build the vector space</a:t>
            </a:r>
          </a:p>
          <a:p xmlns:a="http://schemas.openxmlformats.org/drawingml/2006/main">
            <a:pPr algn="l">
              <a:defRPr sz="1350" b="0">
                <a:solidFill>
                  <a:srgbClr val="A7B7C9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A7B7C9"/>
                </a:solidFill>
                <a:latin typeface="Aptos"/>
                <a:ea typeface="Aptos"/>
                <a:cs typeface="Aptos"/>
              </a:rPr>
              <a:t>• Cosine similarity ranks the catalog</a:t>
            </a:r>
          </a:p>
          <a:p xmlns:a="http://schemas.openxmlformats.org/drawingml/2006/main">
            <a:pPr algn="l">
              <a:defRPr sz="1350" b="0">
                <a:solidFill>
                  <a:srgbClr val="A7B7C9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A7B7C9"/>
                </a:solidFill>
                <a:latin typeface="Aptos"/>
                <a:ea typeface="Aptos"/>
                <a:cs typeface="Aptos"/>
              </a:rPr>
              <a:t>• Fast, transparent, easy to explain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1B85CC6-599E-4909-862C-6A4B8EDC4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0101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F839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6F839A"/>
                </a:solidFill>
                <a:latin typeface="Aptos"/>
                <a:ea typeface="Aptos"/>
                <a:cs typeface="Aptos"/>
              </a:rPr>
              <a:t>“Python”, “SQL”, “cloud”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E2BB47D-0F48-4A71-A7D1-B8DE911AF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209800"/>
            <a:ext cx="5105400" cy="3143250"/>
          </a:xfrm>
          <a:prstGeom xmlns:a="http://schemas.openxmlformats.org/drawingml/2006/main" prst="roundRect">
            <a:avLst>
              <a:gd name="adj" fmla="val 4848"/>
            </a:avLst>
          </a:prstGeom>
          <a:solidFill xmlns:a="http://schemas.openxmlformats.org/drawingml/2006/main">
            <a:srgbClr val="10233A"/>
          </a:solidFill>
          <a:ln xmlns:a="http://schemas.openxmlformats.org/drawingml/2006/main" w="9525">
            <a:solidFill>
              <a:srgbClr val="405C2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93D30A7-558C-45A3-A278-A4A2E6EF7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514600"/>
            <a:ext cx="14668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05C2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0" rIns="762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B9F36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B9F36D"/>
                </a:solidFill>
                <a:latin typeface="Aptos"/>
                <a:ea typeface="Aptos"/>
                <a:cs typeface="Aptos"/>
              </a:rPr>
              <a:t>MEANING LENS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0B119A1-D5F6-4ECD-A630-24F01AB6A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028950"/>
            <a:ext cx="2476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3000" b="1">
                <a:solidFill>
                  <a:srgbClr val="F5F8FC"/>
                </a:solidFill>
                <a:latin typeface="Aptos"/>
                <a:ea typeface="Aptos"/>
                <a:cs typeface="Aptos"/>
              </a:rPr>
              <a:t>NEURAL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AE4710D-63D2-4064-8005-E3D4B78A4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56235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B9F36D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B9F36D"/>
                </a:solidFill>
                <a:latin typeface="Aptos"/>
                <a:ea typeface="Aptos"/>
                <a:cs typeface="Aptos"/>
              </a:rPr>
              <a:t>Best when intent is implicit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5B2732C-C430-4B6A-B970-735572A8F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038600"/>
            <a:ext cx="40957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7B7C9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A7B7C9"/>
                </a:solidFill>
                <a:latin typeface="Aptos"/>
                <a:ea typeface="Aptos"/>
                <a:cs typeface="Aptos"/>
              </a:rPr>
              <a:t>• MiniLM converts text into embeddings</a:t>
            </a:r>
          </a:p>
          <a:p xmlns:a="http://schemas.openxmlformats.org/drawingml/2006/main">
            <a:pPr algn="l">
              <a:defRPr sz="1350" b="0">
                <a:solidFill>
                  <a:srgbClr val="A7B7C9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A7B7C9"/>
                </a:solidFill>
                <a:latin typeface="Aptos"/>
                <a:ea typeface="Aptos"/>
                <a:cs typeface="Aptos"/>
              </a:rPr>
              <a:t>• Course embeddings are precomputed</a:t>
            </a:r>
          </a:p>
          <a:p xmlns:a="http://schemas.openxmlformats.org/drawingml/2006/main">
            <a:pPr algn="l">
              <a:defRPr sz="1350" b="0">
                <a:solidFill>
                  <a:srgbClr val="A7B7C9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A7B7C9"/>
                </a:solidFill>
                <a:latin typeface="Aptos"/>
                <a:ea typeface="Aptos"/>
                <a:cs typeface="Aptos"/>
              </a:rPr>
              <a:t>• Query embedding is compared at runtime</a:t>
            </a:r>
          </a:p>
          <a:p xmlns:a="http://schemas.openxmlformats.org/drawingml/2006/main">
            <a:pPr algn="l">
              <a:defRPr sz="1350" b="0">
                <a:solidFill>
                  <a:srgbClr val="A7B7C9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A7B7C9"/>
                </a:solidFill>
                <a:latin typeface="Aptos"/>
                <a:ea typeface="Aptos"/>
                <a:cs typeface="Aptos"/>
              </a:rPr>
              <a:t>• Related wording can still match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5148F79-B7FB-4E85-A40D-1C1F17DFE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50101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F839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6F839A"/>
                </a:solidFill>
                <a:latin typeface="Aptos"/>
                <a:ea typeface="Aptos"/>
                <a:cs typeface="Aptos"/>
              </a:rPr>
              <a:t>“predictive modeling” ≈ “machine learning”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47E8BB7-1D02-4AAE-AF9C-20D64047F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415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BF444A8-E7C2-41C7-92C0-5A0653D97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62650"/>
            <a:ext cx="857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B454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FB454"/>
                </a:solidFill>
                <a:latin typeface="Aptos"/>
                <a:ea typeface="Aptos"/>
                <a:cs typeface="Aptos"/>
              </a:rPr>
              <a:t>Hybrid mode in this prototype = both ranked lists shown side by side.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FDD3AF4-300E-450D-A827-86A46DDBC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2381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6F839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F839A"/>
                </a:solidFill>
                <a:latin typeface="Aptos"/>
                <a:ea typeface="Aptos"/>
                <a:cs typeface="Aptos"/>
              </a:rPr>
              <a:t>SMARTCOURSE  /  PROJECT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F7C521C-124C-4833-A04B-545DEA0F7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533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6F839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F839A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43256329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D1B2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kicker">
            <a:extLst xmlns:a="http://schemas.openxmlformats.org/drawingml/2006/main">
              <a:ext uri="{FF2B5EF4-FFF2-40B4-BE49-F238E27FC236}">
                <a16:creationId xmlns:a16="http://schemas.microsoft.com/office/drawing/2014/main" id="{245669C0-7E3D-433C-8801-9653962C3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BD9EE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BD9EE"/>
                </a:solidFill>
                <a:latin typeface="Aptos"/>
                <a:ea typeface="Aptos"/>
                <a:cs typeface="Aptos"/>
              </a:rPr>
              <a:t>04 / THE PIPELINE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B098AC31-9037-447D-807B-92EC91570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6750"/>
            <a:ext cx="1076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F5F8FC"/>
                </a:solidFill>
                <a:latin typeface="Aptos"/>
                <a:ea typeface="Aptos"/>
                <a:cs typeface="Aptos"/>
              </a:rPr>
              <a:t>The expensive work happens offline; the user query stays lightweight.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16C11698-AF8A-4F5D-BDC3-B3B462193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62075"/>
            <a:ext cx="923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7B7C9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A7B7C9"/>
                </a:solidFill>
                <a:latin typeface="Aptos"/>
                <a:ea typeface="Aptos"/>
                <a:cs typeface="Aptos"/>
              </a:rPr>
              <a:t>Cleaning and embedding the catalog creates reusable artifacts that the Flask app loads when needed.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970023A-E3AA-4FA4-A16E-562C5E9D4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52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16CD0EE-782C-4C57-B133-DB5B9D77D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90750"/>
            <a:ext cx="18097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A536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0" rIns="762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2BD9EE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BD9EE"/>
                </a:solidFill>
                <a:latin typeface="Aptos"/>
                <a:ea typeface="Aptos"/>
                <a:cs typeface="Aptos"/>
              </a:rPr>
              <a:t>OFFLINE PREPARATION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6937DEC-F624-482C-BCC2-1AA29FEA8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3371850"/>
            <a:ext cx="476250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9415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4C61DA8-61CA-430A-AB7A-43BC676F9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38450"/>
            <a:ext cx="2095500" cy="1352550"/>
          </a:xfrm>
          <a:prstGeom xmlns:a="http://schemas.openxmlformats.org/drawingml/2006/main" prst="roundRect">
            <a:avLst>
              <a:gd name="adj" fmla="val 11268"/>
            </a:avLst>
          </a:prstGeom>
          <a:solidFill xmlns:a="http://schemas.openxmlformats.org/drawingml/2006/main">
            <a:srgbClr val="10233A"/>
          </a:solidFill>
          <a:ln xmlns:a="http://schemas.openxmlformats.org/drawingml/2006/main" w="9525">
            <a:solidFill>
              <a:srgbClr val="2BD9E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EA38B0E-5CC4-4E0D-B12B-E66EC563D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028950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BD9EE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BD9EE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CC4B3E8-C403-4056-8AE7-3F5C36972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9565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7222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F5F8FC"/>
                </a:solidFill>
                <a:latin typeface="Aptos"/>
                <a:ea typeface="Aptos"/>
                <a:cs typeface="Aptos"/>
              </a:rPr>
              <a:t>Catalog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7EA0FC7-19B1-4F50-B972-BC4FE7C28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676650"/>
            <a:ext cx="1714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A7B7C9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A7B7C9"/>
                </a:solidFill>
                <a:latin typeface="Aptos"/>
                <a:ea typeface="Aptos"/>
                <a:cs typeface="Aptos"/>
              </a:rPr>
              <a:t>raw CSV</a:t>
            </a:r>
          </a:p>
          <a:p xmlns:a="http://schemas.openxmlformats.org/drawingml/2006/main">
            <a:pPr algn="l">
              <a:defRPr sz="1200" b="0">
                <a:solidFill>
                  <a:srgbClr val="A7B7C9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A7B7C9"/>
                </a:solidFill>
                <a:latin typeface="Aptos"/>
                <a:ea typeface="Aptos"/>
                <a:cs typeface="Aptos"/>
              </a:rPr>
              <a:t>8,500+ courses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B369FD4-D5D1-458D-9772-8B67DDF82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3371850"/>
            <a:ext cx="476250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9415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195D4CD-343A-46E2-BB12-83366BB58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838450"/>
            <a:ext cx="2095500" cy="1352550"/>
          </a:xfrm>
          <a:prstGeom xmlns:a="http://schemas.openxmlformats.org/drawingml/2006/main" prst="roundRect">
            <a:avLst>
              <a:gd name="adj" fmla="val 11268"/>
            </a:avLst>
          </a:prstGeom>
          <a:solidFill xmlns:a="http://schemas.openxmlformats.org/drawingml/2006/main">
            <a:srgbClr val="10233A"/>
          </a:solidFill>
          <a:ln xmlns:a="http://schemas.openxmlformats.org/drawingml/2006/main" w="9525">
            <a:solidFill>
              <a:srgbClr val="2BD9E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4B3A477-B7F8-423F-A823-7BA84867A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3028950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BD9EE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BD9EE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F78ED58-ED4B-460E-BC84-44101E479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329565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7222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F5F8FC"/>
                </a:solidFill>
                <a:latin typeface="Aptos"/>
                <a:ea typeface="Aptos"/>
                <a:cs typeface="Aptos"/>
              </a:rPr>
              <a:t>Clean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3527481-D276-4937-9211-1C2F793D1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3676650"/>
            <a:ext cx="1714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A7B7C9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A7B7C9"/>
                </a:solidFill>
                <a:latin typeface="Aptos"/>
                <a:ea typeface="Aptos"/>
                <a:cs typeface="Aptos"/>
              </a:rPr>
              <a:t>dedupe · fill</a:t>
            </a:r>
          </a:p>
          <a:p xmlns:a="http://schemas.openxmlformats.org/drawingml/2006/main">
            <a:pPr algn="l">
              <a:defRPr sz="1200" b="0">
                <a:solidFill>
                  <a:srgbClr val="A7B7C9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A7B7C9"/>
                </a:solidFill>
                <a:latin typeface="Aptos"/>
                <a:ea typeface="Aptos"/>
                <a:cs typeface="Aptos"/>
              </a:rPr>
              <a:t>normalize text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62B3CE4-B0A1-4877-8899-A1B4A7950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371850"/>
            <a:ext cx="476250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9415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745E9B1-51E9-4E28-A22F-E123C272D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2838450"/>
            <a:ext cx="2095500" cy="1352550"/>
          </a:xfrm>
          <a:prstGeom xmlns:a="http://schemas.openxmlformats.org/drawingml/2006/main" prst="roundRect">
            <a:avLst>
              <a:gd name="adj" fmla="val 11268"/>
            </a:avLst>
          </a:prstGeom>
          <a:solidFill xmlns:a="http://schemas.openxmlformats.org/drawingml/2006/main">
            <a:srgbClr val="10233A"/>
          </a:solidFill>
          <a:ln xmlns:a="http://schemas.openxmlformats.org/drawingml/2006/main" w="9525">
            <a:solidFill>
              <a:srgbClr val="B9F36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A98EBB9-7833-4FC4-BF88-DE3171123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028950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9F36D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B9F36D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DF37366-C152-4DA0-A3FF-7C5781B2F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29565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7222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F5F8FC"/>
                </a:solidFill>
                <a:latin typeface="Aptos"/>
                <a:ea typeface="Aptos"/>
                <a:cs typeface="Aptos"/>
              </a:rPr>
              <a:t>Train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1E7CE58-D898-4C90-AFB3-A175DAB43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676650"/>
            <a:ext cx="1714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A7B7C9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A7B7C9"/>
                </a:solidFill>
                <a:latin typeface="Aptos"/>
                <a:ea typeface="Aptos"/>
                <a:cs typeface="Aptos"/>
              </a:rPr>
              <a:t>TF-IDF matrix</a:t>
            </a:r>
          </a:p>
          <a:p xmlns:a="http://schemas.openxmlformats.org/drawingml/2006/main">
            <a:pPr algn="l">
              <a:defRPr sz="1200" b="0">
                <a:solidFill>
                  <a:srgbClr val="A7B7C9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A7B7C9"/>
                </a:solidFill>
                <a:latin typeface="Aptos"/>
                <a:ea typeface="Aptos"/>
                <a:cs typeface="Aptos"/>
              </a:rPr>
              <a:t>Neural embeddings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1E0BE44-7D06-4F7E-B208-569CD0805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2838450"/>
            <a:ext cx="2095500" cy="1352550"/>
          </a:xfrm>
          <a:prstGeom xmlns:a="http://schemas.openxmlformats.org/drawingml/2006/main" prst="roundRect">
            <a:avLst>
              <a:gd name="adj" fmla="val 11268"/>
            </a:avLst>
          </a:prstGeom>
          <a:solidFill xmlns:a="http://schemas.openxmlformats.org/drawingml/2006/main">
            <a:srgbClr val="10233A"/>
          </a:solidFill>
          <a:ln xmlns:a="http://schemas.openxmlformats.org/drawingml/2006/main" w="9525">
            <a:solidFill>
              <a:srgbClr val="B9F36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47B58BC-D42E-4721-8F61-EE3E9BBEF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028950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9F36D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B9F36D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319F5C6-8172-4DF7-99A9-CBDE86996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29565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7222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F5F8FC"/>
                </a:solidFill>
                <a:latin typeface="Aptos"/>
                <a:ea typeface="Aptos"/>
                <a:cs typeface="Aptos"/>
              </a:rPr>
              <a:t>Artifacts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CB12D8C-4188-4FBC-9CF7-E131996C1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676650"/>
            <a:ext cx="1714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A7B7C9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A7B7C9"/>
                </a:solidFill>
                <a:latin typeface="Aptos"/>
                <a:ea typeface="Aptos"/>
                <a:cs typeface="Aptos"/>
              </a:rPr>
              <a:t>joblib files</a:t>
            </a:r>
          </a:p>
          <a:p xmlns:a="http://schemas.openxmlformats.org/drawingml/2006/main">
            <a:pPr algn="l">
              <a:defRPr sz="1200" b="0">
                <a:solidFill>
                  <a:srgbClr val="A7B7C9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A7B7C9"/>
                </a:solidFill>
                <a:latin typeface="Aptos"/>
                <a:ea typeface="Aptos"/>
                <a:cs typeface="Aptos"/>
              </a:rPr>
              <a:t>ready to load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5556FCC-067B-4467-A5CF-C85271801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415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BAE348E-EFDC-4AE7-B741-E7D898D20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2763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05C2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0" rIns="762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B9F36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B9F36D"/>
                </a:solidFill>
                <a:latin typeface="Aptos"/>
                <a:ea typeface="Aptos"/>
                <a:cs typeface="Aptos"/>
              </a:rPr>
              <a:t>ONLINE QUERY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B124EDA-2434-4BFB-808B-4DF5E7DF8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5181600"/>
            <a:ext cx="876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F5F8FC"/>
                </a:solidFill>
                <a:latin typeface="Aptos"/>
                <a:ea typeface="Aptos"/>
                <a:cs typeface="Aptos"/>
              </a:rPr>
              <a:t>Load model → encode query → calculate similarity → return Top-N → persist session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8A6533D-2A3C-44E5-B4BA-C87543BD6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F839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F839A"/>
                </a:solidFill>
                <a:latin typeface="Aptos"/>
                <a:ea typeface="Aptos"/>
                <a:cs typeface="Aptos"/>
              </a:rPr>
              <a:t>Saved artifacts: models/tfidf_recommender.joblib and models/neural_recommender.joblib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0B3F0AB-E85C-4135-BB30-CECC97926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2381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6F839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F839A"/>
                </a:solidFill>
                <a:latin typeface="Aptos"/>
                <a:ea typeface="Aptos"/>
                <a:cs typeface="Aptos"/>
              </a:rPr>
              <a:t>SMARTCOURSE  /  PROJECT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34B1CB7-64AF-4AEA-B16C-292B65D22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533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6F839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F839A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9216441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8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" name="kicker">
            <a:extLst xmlns:a="http://schemas.openxmlformats.org/drawingml/2006/main">
              <a:ext uri="{FF2B5EF4-FFF2-40B4-BE49-F238E27FC236}">
                <a16:creationId xmlns:a16="http://schemas.microsoft.com/office/drawing/2014/main" id="{534CEC62-7A9A-4F46-A541-C857B19CD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BD9EE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BD9EE"/>
                </a:solidFill>
                <a:latin typeface="Aptos"/>
                <a:ea typeface="Aptos"/>
                <a:cs typeface="Aptos"/>
              </a:rPr>
              <a:t>05 / THE ARCHITECTURE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A36B5DCF-1CEC-4AFE-94B6-A7A4F2D92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6750"/>
            <a:ext cx="1076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F5F8FC"/>
                </a:solidFill>
                <a:latin typeface="Aptos"/>
                <a:ea typeface="Aptos"/>
                <a:cs typeface="Aptos"/>
              </a:rPr>
              <a:t>Three tiers keep the system understandable.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586C930C-268D-45A7-BDF2-058E72B77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62075"/>
            <a:ext cx="923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7B7C9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A7B7C9"/>
                </a:solidFill>
                <a:latin typeface="Aptos"/>
                <a:ea typeface="Aptos"/>
                <a:cs typeface="Aptos"/>
              </a:rPr>
              <a:t>The Flask application factory wires the UI, services, persistence, and model artifacts together.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D39656B-0B24-40CB-8E5C-21F858CD1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52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5A6395A-1CDF-4786-A6AF-15B3F6464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52650"/>
            <a:ext cx="10972800" cy="102870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10233A"/>
          </a:solidFill>
          <a:ln xmlns:a="http://schemas.openxmlformats.org/drawingml/2006/main" w="9525">
            <a:solidFill>
              <a:srgbClr val="2BD9EE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98C3217-21E8-4966-B933-D22C32768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43150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BD9EE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BD9EE"/>
                </a:solidFill>
                <a:latin typeface="Aptos"/>
                <a:ea typeface="Aptos"/>
                <a:cs typeface="Aptos"/>
              </a:rPr>
              <a:t>PRESENTATION TIER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EF0C0F6-6457-4347-885A-D3866E230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28900"/>
            <a:ext cx="219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F5F8FC"/>
                </a:solidFill>
                <a:latin typeface="Aptos"/>
                <a:ea typeface="Aptos"/>
                <a:cs typeface="Aptos"/>
              </a:rPr>
              <a:t>Bootstrap + Jinja pages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A7B0DB0-4083-44E9-B781-84BE9C5F8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419350"/>
            <a:ext cx="1600200" cy="47625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08111F"/>
          </a:solidFill>
          <a:ln xmlns:a="http://schemas.openxmlformats.org/drawingml/2006/main" w="9525">
            <a:solidFill>
              <a:srgbClr val="183047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61BA2F2-B335-4F98-8BBC-7E3545494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533650"/>
            <a:ext cx="1409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5F8FC"/>
                </a:solidFill>
                <a:latin typeface="Aptos"/>
                <a:ea typeface="Aptos"/>
                <a:cs typeface="Aptos"/>
              </a:rPr>
              <a:t>Home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EA9C5D2-8BDA-4A98-BEDE-F75AF4300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2419350"/>
            <a:ext cx="1600200" cy="47625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08111F"/>
          </a:solidFill>
          <a:ln xmlns:a="http://schemas.openxmlformats.org/drawingml/2006/main" w="9525">
            <a:solidFill>
              <a:srgbClr val="183047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8E0F918-9D26-484C-B08F-F42E783C6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2533650"/>
            <a:ext cx="1409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5F8FC"/>
                </a:solidFill>
                <a:latin typeface="Aptos"/>
                <a:ea typeface="Aptos"/>
                <a:cs typeface="Aptos"/>
              </a:rPr>
              <a:t>Recommendations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DB345C1-99BA-4776-B64D-25966687E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2419350"/>
            <a:ext cx="1600200" cy="47625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08111F"/>
          </a:solidFill>
          <a:ln xmlns:a="http://schemas.openxmlformats.org/drawingml/2006/main" w="9525">
            <a:solidFill>
              <a:srgbClr val="18304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B36B96E-2D0C-40C7-9530-DBF2734A3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2533650"/>
            <a:ext cx="1409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5F8FC"/>
                </a:solidFill>
                <a:latin typeface="Aptos"/>
                <a:ea typeface="Aptos"/>
                <a:cs typeface="Aptos"/>
              </a:rPr>
              <a:t>Dashboard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83FB1D9-FFF5-499E-BED4-A92AFBA67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2419350"/>
            <a:ext cx="1600200" cy="47625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08111F"/>
          </a:solidFill>
          <a:ln xmlns:a="http://schemas.openxmlformats.org/drawingml/2006/main" w="9525">
            <a:solidFill>
              <a:srgbClr val="183047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9A16BE2-AFAE-41BD-BAA4-2F6D2F46E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2533650"/>
            <a:ext cx="1409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5F8FC"/>
                </a:solidFill>
                <a:latin typeface="Aptos"/>
                <a:ea typeface="Aptos"/>
                <a:cs typeface="Aptos"/>
              </a:rPr>
              <a:t>About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F5D0BDC-5343-4B33-9E7C-E71200B4C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67100"/>
            <a:ext cx="10972800" cy="102870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142B45"/>
          </a:solidFill>
          <a:ln xmlns:a="http://schemas.openxmlformats.org/drawingml/2006/main" w="9525">
            <a:solidFill>
              <a:srgbClr val="8E7C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146A809-12CF-499F-A54F-8D79D4ED1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57600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8E7C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8E7CFF"/>
                </a:solidFill>
                <a:latin typeface="Aptos"/>
                <a:ea typeface="Aptos"/>
                <a:cs typeface="Aptos"/>
              </a:rPr>
              <a:t>APPLICATION TIER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0990B84-B79E-4FB0-9C16-BC9D73F79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943350"/>
            <a:ext cx="219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F5F8FC"/>
                </a:solidFill>
                <a:latin typeface="Aptos"/>
                <a:ea typeface="Aptos"/>
                <a:cs typeface="Aptos"/>
              </a:rPr>
              <a:t>Flask controllers + services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D0BB9ED-5D07-4073-A6BC-949D98070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3733800"/>
            <a:ext cx="1600200" cy="47625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08111F"/>
          </a:solidFill>
          <a:ln xmlns:a="http://schemas.openxmlformats.org/drawingml/2006/main" w="9525">
            <a:solidFill>
              <a:srgbClr val="18304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FC4341D-772B-4A32-8B85-48E90D8B3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848100"/>
            <a:ext cx="1409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5F8FC"/>
                </a:solidFill>
                <a:latin typeface="Aptos"/>
                <a:ea typeface="Aptos"/>
                <a:cs typeface="Aptos"/>
              </a:rPr>
              <a:t>API blueprint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7C5152E-545C-4A48-8D5B-7BDDDD072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3733800"/>
            <a:ext cx="1600200" cy="47625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08111F"/>
          </a:solidFill>
          <a:ln xmlns:a="http://schemas.openxmlformats.org/drawingml/2006/main" w="9525">
            <a:solidFill>
              <a:srgbClr val="18304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AA81145-C9F2-4791-94C0-C9DBA765F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3848100"/>
            <a:ext cx="1409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5F8FC"/>
                </a:solidFill>
                <a:latin typeface="Aptos"/>
                <a:ea typeface="Aptos"/>
                <a:cs typeface="Aptos"/>
              </a:rPr>
              <a:t>Recommend service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F5801BF-8E80-4EC5-A3CB-427093FB4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3733800"/>
            <a:ext cx="1600200" cy="47625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08111F"/>
          </a:solidFill>
          <a:ln xmlns:a="http://schemas.openxmlformats.org/drawingml/2006/main" w="9525">
            <a:solidFill>
              <a:srgbClr val="18304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702D667-3B1D-4D59-B5E4-96C93A006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3848100"/>
            <a:ext cx="1409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5F8FC"/>
                </a:solidFill>
                <a:latin typeface="Aptos"/>
                <a:ea typeface="Aptos"/>
                <a:cs typeface="Aptos"/>
              </a:rPr>
              <a:t>HistoryService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92149AD-0715-451D-A201-F7DB69CC2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3733800"/>
            <a:ext cx="1600200" cy="47625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08111F"/>
          </a:solidFill>
          <a:ln xmlns:a="http://schemas.openxmlformats.org/drawingml/2006/main" w="9525">
            <a:solidFill>
              <a:srgbClr val="183047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34CC504-D628-42DF-ADD3-A0BB30D0D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3848100"/>
            <a:ext cx="1409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5F8FC"/>
                </a:solidFill>
                <a:latin typeface="Aptos"/>
                <a:ea typeface="Aptos"/>
                <a:cs typeface="Aptos"/>
              </a:rPr>
              <a:t>Logging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EB7A241-993C-4F60-8842-DAB477AC7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10972800" cy="102870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10233A"/>
          </a:solidFill>
          <a:ln xmlns:a="http://schemas.openxmlformats.org/drawingml/2006/main" w="9525">
            <a:solidFill>
              <a:srgbClr val="B9F36D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A2E94F2-5A0F-49E6-837C-0A6E3C1EE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972050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B9F36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B9F36D"/>
                </a:solidFill>
                <a:latin typeface="Aptos"/>
                <a:ea typeface="Aptos"/>
                <a:cs typeface="Aptos"/>
              </a:rPr>
              <a:t>DATA / MODEL TIER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84B71BD-9781-466D-8CE6-721E00E20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257800"/>
            <a:ext cx="219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7892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F5F8FC"/>
                </a:solidFill>
                <a:latin typeface="Aptos"/>
                <a:ea typeface="Aptos"/>
                <a:cs typeface="Aptos"/>
              </a:rPr>
              <a:t>Persistent data + trained artifacts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7D3F558-CFFB-40CB-94BB-AE8011F9D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5048250"/>
            <a:ext cx="1600200" cy="47625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08111F"/>
          </a:solidFill>
          <a:ln xmlns:a="http://schemas.openxmlformats.org/drawingml/2006/main" w="9525">
            <a:solidFill>
              <a:srgbClr val="183047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8931C98-43C6-4F9E-B6C9-F11A605E9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5162550"/>
            <a:ext cx="1409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5F8FC"/>
                </a:solidFill>
                <a:latin typeface="Aptos"/>
                <a:ea typeface="Aptos"/>
                <a:cs typeface="Aptos"/>
              </a:rPr>
              <a:t>SQLite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DD65E26-9699-4103-AD50-181C5316F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5048250"/>
            <a:ext cx="1600200" cy="47625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08111F"/>
          </a:solidFill>
          <a:ln xmlns:a="http://schemas.openxmlformats.org/drawingml/2006/main" w="9525">
            <a:solidFill>
              <a:srgbClr val="183047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27D877F-F497-4826-B6DD-4078F28E2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5162550"/>
            <a:ext cx="1409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5F8FC"/>
                </a:solidFill>
                <a:latin typeface="Aptos"/>
                <a:ea typeface="Aptos"/>
                <a:cs typeface="Aptos"/>
              </a:rPr>
              <a:t>CSV catalog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7CD8C56-EDD4-4988-9926-A8F53DFB2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5048250"/>
            <a:ext cx="1600200" cy="47625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08111F"/>
          </a:solidFill>
          <a:ln xmlns:a="http://schemas.openxmlformats.org/drawingml/2006/main" w="9525">
            <a:solidFill>
              <a:srgbClr val="183047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B7AEF6F-9AFE-4FB4-87CC-E09C8ABE4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5162550"/>
            <a:ext cx="1409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5F8FC"/>
                </a:solidFill>
                <a:latin typeface="Aptos"/>
                <a:ea typeface="Aptos"/>
                <a:cs typeface="Aptos"/>
              </a:rPr>
              <a:t>TF-IDF artifact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62B1646-AFA2-420E-B49E-BC147CBEF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5048250"/>
            <a:ext cx="1600200" cy="47625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08111F"/>
          </a:solidFill>
          <a:ln xmlns:a="http://schemas.openxmlformats.org/drawingml/2006/main" w="9525">
            <a:solidFill>
              <a:srgbClr val="183047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06BCBFC-D5C7-4C3B-A040-9BAC5F351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5162550"/>
            <a:ext cx="1409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5F8FC"/>
                </a:solidFill>
                <a:latin typeface="Aptos"/>
                <a:ea typeface="Aptos"/>
                <a:cs typeface="Aptos"/>
              </a:rPr>
              <a:t>Neural artifact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1AB7EEE-6A12-44BC-B107-A8910A312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F839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F839A"/>
                </a:solidFill>
                <a:latin typeface="Aptos"/>
                <a:ea typeface="Aptos"/>
                <a:cs typeface="Aptos"/>
              </a:rPr>
              <a:t>Cross-cutting concerns: configuration · validation · CORS · error handling · rotating logs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F8D6E5F-3F51-4BB5-B2AA-156E80372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2381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6F839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F839A"/>
                </a:solidFill>
                <a:latin typeface="Aptos"/>
                <a:ea typeface="Aptos"/>
                <a:cs typeface="Aptos"/>
              </a:rPr>
              <a:t>SMARTCOURSE  /  PROJECT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B323933-2153-4C54-92DA-19D49787B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533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6F839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F839A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8260433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D1B2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kicker">
            <a:extLst xmlns:a="http://schemas.openxmlformats.org/drawingml/2006/main">
              <a:ext uri="{FF2B5EF4-FFF2-40B4-BE49-F238E27FC236}">
                <a16:creationId xmlns:a16="http://schemas.microsoft.com/office/drawing/2014/main" id="{9C220030-2B59-41FF-9239-49CA10276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BD9EE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BD9EE"/>
                </a:solidFill>
                <a:latin typeface="Aptos"/>
                <a:ea typeface="Aptos"/>
                <a:cs typeface="Aptos"/>
              </a:rPr>
              <a:t>06 / THE API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C50D02CA-A9F2-4083-83F8-864A1D037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6750"/>
            <a:ext cx="1076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F5F8FC"/>
                </a:solidFill>
                <a:latin typeface="Aptos"/>
                <a:ea typeface="Aptos"/>
                <a:cs typeface="Aptos"/>
              </a:rPr>
              <a:t>JSON endpoints keep browser and ranking logic loosely coupled.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39016C70-D2B5-4F3C-A358-606F4E64A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62075"/>
            <a:ext cx="923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7B7C9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A7B7C9"/>
                </a:solidFill>
                <a:latin typeface="Aptos"/>
                <a:ea typeface="Aptos"/>
                <a:cs typeface="Aptos"/>
              </a:rPr>
              <a:t>This keeps the frontend replaceable and makes the recommendation workflow testable outside the UI.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FDE6876-67B4-4708-84F1-AAB1F9AAE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52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8430C28-F900-485C-83A5-C3F4D50E2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9800"/>
            <a:ext cx="4762500" cy="2952750"/>
          </a:xfrm>
          <a:prstGeom xmlns:a="http://schemas.openxmlformats.org/drawingml/2006/main" prst="roundRect">
            <a:avLst>
              <a:gd name="adj" fmla="val 5161"/>
            </a:avLst>
          </a:prstGeom>
          <a:solidFill xmlns:a="http://schemas.openxmlformats.org/drawingml/2006/main">
            <a:srgbClr val="07101B"/>
          </a:solidFill>
          <a:ln xmlns:a="http://schemas.openxmlformats.org/drawingml/2006/main" w="9525">
            <a:solidFill>
              <a:srgbClr val="18304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393CAF6-524F-4ACA-A05A-D5F821C60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514600"/>
            <a:ext cx="3905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BD9EE"/>
                </a:solidFill>
                <a:latin typeface="Courier New"/>
                <a:ea typeface="Courier New"/>
                <a:cs typeface="Courier New"/>
              </a:defRPr>
            </a:pPr>
            <a:r>
              <a:rPr sz="1650" b="1">
                <a:solidFill>
                  <a:srgbClr val="2BD9EE"/>
                </a:solidFill>
                <a:latin typeface="Courier New"/>
                <a:ea typeface="Courier New"/>
                <a:cs typeface="Courier New"/>
              </a:rPr>
              <a:t>POST  /api/recommend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E516CC7-0EE1-40A9-9D1D-11574953D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009900"/>
            <a:ext cx="390525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F5F8FC"/>
                </a:solidFill>
                <a:latin typeface="Courier New"/>
                <a:ea typeface="Courier New"/>
                <a:cs typeface="Courier New"/>
              </a:defRPr>
            </a:pPr>
            <a:r>
              <a:rPr sz="1425" b="0">
                <a:solidFill>
                  <a:srgbClr val="F5F8FC"/>
                </a:solidFill>
                <a:latin typeface="Courier New"/>
                <a:ea typeface="Courier New"/>
                <a:cs typeface="Courier New"/>
              </a:rPr>
              <a:t>{</a:t>
            </a:r>
          </a:p>
          <a:p xmlns:a="http://schemas.openxmlformats.org/drawingml/2006/main">
            <a:pPr algn="l">
              <a:defRPr sz="1425" b="0">
                <a:solidFill>
                  <a:srgbClr val="F5F8FC"/>
                </a:solidFill>
                <a:latin typeface="Courier New"/>
                <a:ea typeface="Courier New"/>
                <a:cs typeface="Courier New"/>
              </a:defRPr>
            </a:pPr>
            <a:r>
              <a:rPr sz="1425" b="0">
                <a:solidFill>
                  <a:srgbClr val="F5F8FC"/>
                </a:solidFill>
                <a:latin typeface="Courier New"/>
                <a:ea typeface="Courier New"/>
                <a:cs typeface="Courier New"/>
              </a:rPr>
              <a:t>  "preference": "Python for data science",</a:t>
            </a:r>
          </a:p>
          <a:p xmlns:a="http://schemas.openxmlformats.org/drawingml/2006/main">
            <a:pPr algn="l">
              <a:defRPr sz="1425" b="0">
                <a:solidFill>
                  <a:srgbClr val="F5F8FC"/>
                </a:solidFill>
                <a:latin typeface="Courier New"/>
                <a:ea typeface="Courier New"/>
                <a:cs typeface="Courier New"/>
              </a:defRPr>
            </a:pPr>
            <a:r>
              <a:rPr sz="1425" b="0">
                <a:solidFill>
                  <a:srgbClr val="F5F8FC"/>
                </a:solidFill>
                <a:latin typeface="Courier New"/>
                <a:ea typeface="Courier New"/>
                <a:cs typeface="Courier New"/>
              </a:rPr>
              <a:t>  "model": "hybrid",</a:t>
            </a:r>
          </a:p>
          <a:p xmlns:a="http://schemas.openxmlformats.org/drawingml/2006/main">
            <a:pPr algn="l">
              <a:defRPr sz="1425" b="0">
                <a:solidFill>
                  <a:srgbClr val="F5F8FC"/>
                </a:solidFill>
                <a:latin typeface="Courier New"/>
                <a:ea typeface="Courier New"/>
                <a:cs typeface="Courier New"/>
              </a:defRPr>
            </a:pPr>
            <a:r>
              <a:rPr sz="1425" b="0">
                <a:solidFill>
                  <a:srgbClr val="F5F8FC"/>
                </a:solidFill>
                <a:latin typeface="Courier New"/>
                <a:ea typeface="Courier New"/>
                <a:cs typeface="Courier New"/>
              </a:rPr>
              <a:t>  "top_n": 10</a:t>
            </a:r>
          </a:p>
          <a:p xmlns:a="http://schemas.openxmlformats.org/drawingml/2006/main">
            <a:pPr algn="l">
              <a:defRPr sz="1425" b="0">
                <a:solidFill>
                  <a:srgbClr val="F5F8FC"/>
                </a:solidFill>
                <a:latin typeface="Courier New"/>
                <a:ea typeface="Courier New"/>
                <a:cs typeface="Courier New"/>
              </a:defRPr>
            </a:pPr>
            <a:r>
              <a:rPr sz="1425" b="0">
                <a:solidFill>
                  <a:srgbClr val="F5F8FC"/>
                </a:solidFill>
                <a:latin typeface="Courier New"/>
                <a:ea typeface="Courier New"/>
                <a:cs typeface="Courier New"/>
              </a:rPr>
              <a:t>}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8112A6A-4CC3-4693-BA4C-DF88B5941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686300"/>
            <a:ext cx="3905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B9F36D"/>
                </a:solidFill>
                <a:latin typeface="Courier New"/>
                <a:ea typeface="Courier New"/>
                <a:cs typeface="Courier New"/>
              </a:defRPr>
            </a:pPr>
            <a:r>
              <a:rPr sz="1200" b="1">
                <a:solidFill>
                  <a:srgbClr val="B9F36D"/>
                </a:solidFill>
                <a:latin typeface="Courier New"/>
                <a:ea typeface="Courier New"/>
                <a:cs typeface="Courier New"/>
              </a:rPr>
              <a:t>→ response: results + session_id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14F12DD-1A75-44C7-ADA6-DCC6CDDD3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686050"/>
            <a:ext cx="4953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A8AB3FB-7ABA-4732-A2D0-08D1B9235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247900"/>
            <a:ext cx="800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BD9EE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BD9EE"/>
                </a:solidFill>
                <a:latin typeface="Aptos"/>
                <a:ea typeface="Aptos"/>
                <a:cs typeface="Aptos"/>
              </a:rPr>
              <a:t>POST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4BA7431-95C2-4A67-B70E-365548588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247900"/>
            <a:ext cx="2000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C"/>
                </a:solidFill>
                <a:latin typeface="Courier New"/>
                <a:ea typeface="Courier New"/>
                <a:cs typeface="Courier New"/>
              </a:defRPr>
            </a:pPr>
            <a:r>
              <a:rPr sz="1275" b="1">
                <a:solidFill>
                  <a:srgbClr val="F5F8FC"/>
                </a:solidFill>
                <a:latin typeface="Courier New"/>
                <a:ea typeface="Courier New"/>
                <a:cs typeface="Courier New"/>
              </a:rPr>
              <a:t>/api/recommend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86DD689-D474-4E66-A0D9-DDBE6BAF8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24790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A7B7C9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A7B7C9"/>
                </a:solidFill>
                <a:latin typeface="Aptos"/>
                <a:ea typeface="Aptos"/>
                <a:cs typeface="Aptos"/>
              </a:rPr>
              <a:t>validate → rank → persist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17C71BC-5A1C-4B76-897D-6E765C90A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333750"/>
            <a:ext cx="4953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68CB6AC-ADCF-4036-A7C8-9C3AAEFC7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895600"/>
            <a:ext cx="800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B9F36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B9F36D"/>
                </a:solidFill>
                <a:latin typeface="Aptos"/>
                <a:ea typeface="Aptos"/>
                <a:cs typeface="Aptos"/>
              </a:rPr>
              <a:t>GET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BC3DFF9-0129-4647-AA17-87E806E98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895600"/>
            <a:ext cx="2000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C"/>
                </a:solidFill>
                <a:latin typeface="Courier New"/>
                <a:ea typeface="Courier New"/>
                <a:cs typeface="Courier New"/>
              </a:defRPr>
            </a:pPr>
            <a:r>
              <a:rPr sz="1275" b="1">
                <a:solidFill>
                  <a:srgbClr val="F5F8FC"/>
                </a:solidFill>
                <a:latin typeface="Courier New"/>
                <a:ea typeface="Courier New"/>
                <a:cs typeface="Courier New"/>
              </a:rPr>
              <a:t>/api/history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31BA02A-0D2D-407C-A43C-4134EC502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89560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A7B7C9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A7B7C9"/>
                </a:solidFill>
                <a:latin typeface="Aptos"/>
                <a:ea typeface="Aptos"/>
                <a:cs typeface="Aptos"/>
              </a:rPr>
              <a:t>history + saved results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0BAEA20-D450-4A8B-B859-712846B16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981450"/>
            <a:ext cx="4953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B0CBCE4-D8BB-4AC4-A913-74F747A92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543300"/>
            <a:ext cx="800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BD9EE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BD9EE"/>
                </a:solidFill>
                <a:latin typeface="Aptos"/>
                <a:ea typeface="Aptos"/>
                <a:cs typeface="Aptos"/>
              </a:rPr>
              <a:t>POST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0FA6095-2B4C-436A-8FC9-A6D0BE738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3543300"/>
            <a:ext cx="2000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C"/>
                </a:solidFill>
                <a:latin typeface="Courier New"/>
                <a:ea typeface="Courier New"/>
                <a:cs typeface="Courier New"/>
              </a:defRPr>
            </a:pPr>
            <a:r>
              <a:rPr sz="1275" b="1">
                <a:solidFill>
                  <a:srgbClr val="F5F8FC"/>
                </a:solidFill>
                <a:latin typeface="Courier New"/>
                <a:ea typeface="Courier New"/>
                <a:cs typeface="Courier New"/>
              </a:rPr>
              <a:t>/api/save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17FE58A-3C76-4083-AC3D-09D919639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54330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A7B7C9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A7B7C9"/>
                </a:solidFill>
                <a:latin typeface="Aptos"/>
                <a:ea typeface="Aptos"/>
                <a:cs typeface="Aptos"/>
              </a:rPr>
              <a:t>bookmark a course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00DEA3A-A260-4243-B73B-C94F7783D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629150"/>
            <a:ext cx="4953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5EB677A-E6E0-4C8B-9FEB-B1267790D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191000"/>
            <a:ext cx="800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B454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FB454"/>
                </a:solidFill>
                <a:latin typeface="Aptos"/>
                <a:ea typeface="Aptos"/>
                <a:cs typeface="Aptos"/>
              </a:rPr>
              <a:t>DELETE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B33E5AD-F402-47A9-B227-4C44F7902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4191000"/>
            <a:ext cx="2000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C"/>
                </a:solidFill>
                <a:latin typeface="Courier New"/>
                <a:ea typeface="Courier New"/>
                <a:cs typeface="Courier New"/>
              </a:defRPr>
            </a:pPr>
            <a:r>
              <a:rPr sz="1275" b="1">
                <a:solidFill>
                  <a:srgbClr val="F5F8FC"/>
                </a:solidFill>
                <a:latin typeface="Courier New"/>
                <a:ea typeface="Courier New"/>
                <a:cs typeface="Courier New"/>
              </a:rPr>
              <a:t>/api/history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3719A8B-EFCD-4933-B589-90C4851C6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419100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A7B7C9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A7B7C9"/>
                </a:solidFill>
                <a:latin typeface="Aptos"/>
                <a:ea typeface="Aptos"/>
                <a:cs typeface="Aptos"/>
              </a:rPr>
              <a:t>clear sessions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5847146-21AA-4FD7-B04C-12AD67DE5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276850"/>
            <a:ext cx="4953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95513A3-DEA8-4B54-A8E8-67CD097CF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838700"/>
            <a:ext cx="800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B454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FB454"/>
                </a:solidFill>
                <a:latin typeface="Aptos"/>
                <a:ea typeface="Aptos"/>
                <a:cs typeface="Aptos"/>
              </a:rPr>
              <a:t>DELETE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574C215-DF99-4976-BBFF-B91E1D257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4838700"/>
            <a:ext cx="2000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C"/>
                </a:solidFill>
                <a:latin typeface="Courier New"/>
                <a:ea typeface="Courier New"/>
                <a:cs typeface="Courier New"/>
              </a:defRPr>
            </a:pPr>
            <a:r>
              <a:rPr sz="1275" b="1">
                <a:solidFill>
                  <a:srgbClr val="F5F8FC"/>
                </a:solidFill>
                <a:latin typeface="Courier New"/>
                <a:ea typeface="Courier New"/>
                <a:cs typeface="Courier New"/>
              </a:rPr>
              <a:t>/api/saved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74B0F19-708B-4C4C-B70D-99CE6BE28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483870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A7B7C9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A7B7C9"/>
                </a:solidFill>
                <a:latin typeface="Aptos"/>
                <a:ea typeface="Aptos"/>
                <a:cs typeface="Aptos"/>
              </a:rPr>
              <a:t>clear bookmarks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8BCB0B9-6698-48A9-AE7E-14EE61187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619750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658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5F8FC"/>
                </a:solidFill>
                <a:latin typeface="Aptos"/>
                <a:ea typeface="Aptos"/>
                <a:cs typeface="Aptos"/>
              </a:rPr>
              <a:t>Validation lives at the boundary; ranking and persistence live in services.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B10E7E3-0D60-4DA6-8BB1-A178BB080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2381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6F839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F839A"/>
                </a:solidFill>
                <a:latin typeface="Aptos"/>
                <a:ea typeface="Aptos"/>
                <a:cs typeface="Aptos"/>
              </a:rPr>
              <a:t>SMARTCOURSE  /  PROJECT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75CA460-A09C-47FF-8C19-C80FE93CA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533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6F839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F839A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71907336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D1B2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kicker">
            <a:extLst xmlns:a="http://schemas.openxmlformats.org/drawingml/2006/main">
              <a:ext uri="{FF2B5EF4-FFF2-40B4-BE49-F238E27FC236}">
                <a16:creationId xmlns:a16="http://schemas.microsoft.com/office/drawing/2014/main" id="{6D1734A7-A4FB-4330-8692-41C698EAB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BD9EE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BD9EE"/>
                </a:solidFill>
                <a:latin typeface="Aptos"/>
                <a:ea typeface="Aptos"/>
                <a:cs typeface="Aptos"/>
              </a:rPr>
              <a:t>07 / LIVE OPERATION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E30EDB54-C19F-4EDC-A406-6676EDA7D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6750"/>
            <a:ext cx="1076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F5F8FC"/>
                </a:solidFill>
                <a:latin typeface="Aptos"/>
                <a:ea typeface="Aptos"/>
                <a:cs typeface="Aptos"/>
              </a:rPr>
              <a:t>The running app makes the recommendation workflow visible.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89600BBD-E298-469F-8A9C-14B72655F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62075"/>
            <a:ext cx="923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7B7C9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A7B7C9"/>
                </a:solidFill>
                <a:latin typeface="Aptos"/>
                <a:ea typeface="Aptos"/>
                <a:cs typeface="Aptos"/>
              </a:rPr>
              <a:t>These screenshots were captured from the local Flask application using the project’s real Home and Recommendations pages.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592AE05-0219-469C-AEFC-267C552A1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52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C6EBA0A-CC57-44A1-8886-8B5D3E1E2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14550"/>
            <a:ext cx="5086350" cy="3695700"/>
          </a:xfrm>
          <a:prstGeom xmlns:a="http://schemas.openxmlformats.org/drawingml/2006/main" prst="roundRect">
            <a:avLst>
              <a:gd name="adj" fmla="val 4124"/>
            </a:avLst>
          </a:prstGeom>
          <a:solidFill xmlns:a="http://schemas.openxmlformats.org/drawingml/2006/main">
            <a:srgbClr val="10233A"/>
          </a:solidFill>
          <a:ln xmlns:a="http://schemas.openxmlformats.org/drawingml/2006/main" w="9525">
            <a:solidFill>
              <a:srgbClr val="1A5366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f7ca18d713f4c70"/>
          <a:srcRect xmlns:a="http://schemas.openxmlformats.org/drawingml/2006/main" l="111" t="0" r="111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42950" y="2247900"/>
            <a:ext cx="4819650" cy="3086100"/>
          </a:xfrm>
          <a:prstGeom xmlns:a="http://schemas.openxmlformats.org/drawingml/2006/main" prst="roundRect">
            <a:avLst>
              <a:gd name="adj" fmla="val 4938"/>
            </a:avLst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FA35976-CB30-4B50-99C5-7913BDAFD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486400"/>
            <a:ext cx="4819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BD9EE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BD9EE"/>
                </a:solidFill>
                <a:latin typeface="Aptos"/>
                <a:ea typeface="Aptos"/>
                <a:cs typeface="Aptos"/>
              </a:rPr>
              <a:t>HOME  /  value proposition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CCB6320-5F98-4982-B19B-44F29FA9B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2114550"/>
            <a:ext cx="5600700" cy="3695700"/>
          </a:xfrm>
          <a:prstGeom xmlns:a="http://schemas.openxmlformats.org/drawingml/2006/main" prst="roundRect">
            <a:avLst>
              <a:gd name="adj" fmla="val 4124"/>
            </a:avLst>
          </a:prstGeom>
          <a:solidFill xmlns:a="http://schemas.openxmlformats.org/drawingml/2006/main">
            <a:srgbClr val="10233A"/>
          </a:solidFill>
          <a:ln xmlns:a="http://schemas.openxmlformats.org/drawingml/2006/main" w="9525">
            <a:solidFill>
              <a:srgbClr val="405C2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6247bca6c014808"/>
          <a:srcRect xmlns:a="http://schemas.openxmlformats.org/drawingml/2006/main" l="0" t="4720" r="0" b="472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115050" y="2247900"/>
            <a:ext cx="5334000" cy="3086100"/>
          </a:xfrm>
          <a:prstGeom xmlns:a="http://schemas.openxmlformats.org/drawingml/2006/main" prst="roundRect">
            <a:avLst>
              <a:gd name="adj" fmla="val 4938"/>
            </a:avLst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5672889-2630-4886-902B-FACBF793B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5486400"/>
            <a:ext cx="533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B9F36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B9F36D"/>
                </a:solidFill>
                <a:latin typeface="Aptos"/>
                <a:ea typeface="Aptos"/>
                <a:cs typeface="Aptos"/>
              </a:rPr>
              <a:t>RECOMMENDATIONS  /  live TF-IDF result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2A9B1D3-326F-47BE-ACC7-C70D384E3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2381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6F839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F839A"/>
                </a:solidFill>
                <a:latin typeface="Aptos"/>
                <a:ea typeface="Aptos"/>
                <a:cs typeface="Aptos"/>
              </a:rPr>
              <a:t>SMARTCOURSE  /  PROJECT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D843E97-BF62-4558-91E0-2EC82476B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533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6F839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F839A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94469867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8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kicker">
            <a:extLst xmlns:a="http://schemas.openxmlformats.org/drawingml/2006/main">
              <a:ext uri="{FF2B5EF4-FFF2-40B4-BE49-F238E27FC236}">
                <a16:creationId xmlns:a16="http://schemas.microsoft.com/office/drawing/2014/main" id="{C4670B94-FF56-47A3-8DA9-EBE06223E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BD9EE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BD9EE"/>
                </a:solidFill>
                <a:latin typeface="Aptos"/>
                <a:ea typeface="Aptos"/>
                <a:cs typeface="Aptos"/>
              </a:rPr>
              <a:t>08 / LIVE OPERATION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39DD5444-8297-4847-9C6C-620FA87EA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6750"/>
            <a:ext cx="1076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F5F8FC"/>
                </a:solidFill>
                <a:latin typeface="Aptos"/>
                <a:ea typeface="Aptos"/>
                <a:cs typeface="Aptos"/>
              </a:rPr>
              <a:t>The dashboard preserves the learner trail after a search.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2E695292-8D7D-43CA-ABF4-C9F1EEC27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62075"/>
            <a:ext cx="923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7B7C9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A7B7C9"/>
                </a:solidFill>
                <a:latin typeface="Aptos"/>
                <a:ea typeface="Aptos"/>
                <a:cs typeface="Aptos"/>
              </a:rPr>
              <a:t>The captured state shows search history, saved recommendations, and the model-comparison area working together.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C68E5C9-AB76-424B-90EE-B8CACE6ED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52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0D3D23F-0359-4BE3-AB72-E144602C0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0"/>
            <a:ext cx="10972800" cy="4095750"/>
          </a:xfrm>
          <a:prstGeom xmlns:a="http://schemas.openxmlformats.org/drawingml/2006/main" prst="roundRect">
            <a:avLst>
              <a:gd name="adj" fmla="val 3721"/>
            </a:avLst>
          </a:prstGeom>
          <a:solidFill xmlns:a="http://schemas.openxmlformats.org/drawingml/2006/main">
            <a:srgbClr val="10233A"/>
          </a:solidFill>
          <a:ln xmlns:a="http://schemas.openxmlformats.org/drawingml/2006/main" w="9525">
            <a:solidFill>
              <a:srgbClr val="29415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30a896fd8354e95"/>
          <a:srcRect xmlns:a="http://schemas.openxmlformats.org/drawingml/2006/main" l="0" t="22010" r="0" b="2201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42950" y="2228850"/>
            <a:ext cx="10706100" cy="3829050"/>
          </a:xfrm>
          <a:prstGeom xmlns:a="http://schemas.openxmlformats.org/drawingml/2006/main" prst="roundRect">
            <a:avLst>
              <a:gd name="adj" fmla="val 3980"/>
            </a:avLst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FA0ECE9-13F3-4B8E-8AE5-BEF6495AE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886450"/>
            <a:ext cx="5715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B454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FB454"/>
                </a:solidFill>
                <a:latin typeface="Aptos"/>
                <a:ea typeface="Aptos"/>
                <a:cs typeface="Aptos"/>
              </a:rPr>
              <a:t>DASHBOARD  /  persistence + comparison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DB639B4-0CEB-4E4E-8A8E-972DC1BB4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2381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6F839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F839A"/>
                </a:solidFill>
                <a:latin typeface="Aptos"/>
                <a:ea typeface="Aptos"/>
                <a:cs typeface="Aptos"/>
              </a:rPr>
              <a:t>SMARTCOURSE  /  PROJECT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43E4933-5AC2-4B3A-8335-0A87898B4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533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6F839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F839A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428682518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8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kicker">
            <a:extLst xmlns:a="http://schemas.openxmlformats.org/drawingml/2006/main">
              <a:ext uri="{FF2B5EF4-FFF2-40B4-BE49-F238E27FC236}">
                <a16:creationId xmlns:a16="http://schemas.microsoft.com/office/drawing/2014/main" id="{E71287A2-7D7A-4C81-AA4D-5004230A6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BD9EE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BD9EE"/>
                </a:solidFill>
                <a:latin typeface="Aptos"/>
                <a:ea typeface="Aptos"/>
                <a:cs typeface="Aptos"/>
              </a:rPr>
              <a:t>09 / THE LEARNER LOOP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D5CEF6C0-89B7-449D-B397-AAA794FB0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6750"/>
            <a:ext cx="1076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F5F8FC"/>
                </a:solidFill>
                <a:latin typeface="Aptos"/>
                <a:ea typeface="Aptos"/>
                <a:cs typeface="Aptos"/>
              </a:rPr>
              <a:t>A one-time search becomes a reusable learning trail.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7E73C16C-3348-4B72-84FD-FD1394B16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62075"/>
            <a:ext cx="923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7B7C9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A7B7C9"/>
                </a:solidFill>
                <a:latin typeface="Aptos"/>
                <a:ea typeface="Aptos"/>
                <a:cs typeface="Aptos"/>
              </a:rPr>
              <a:t>Every search becomes a session; promising courses can be saved and the two ranking perspectives can be compared later.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67A55FD-22AD-494A-8D3D-99A4E85EF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52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826F620-3316-4674-9C1E-29AE70B53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3276600"/>
            <a:ext cx="9239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415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C81C11C-D7BE-4651-8AF1-1FF9CB02A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0670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BD9E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8111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8111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95BDA47-609A-434E-9483-C2C7292A5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71475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F5F8FC"/>
                </a:solidFill>
                <a:latin typeface="Aptos"/>
                <a:ea typeface="Aptos"/>
                <a:cs typeface="Aptos"/>
              </a:rPr>
              <a:t>Search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026B891-B853-41EE-9BC6-0BD93346F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14800"/>
            <a:ext cx="19812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A7B7C9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A7B7C9"/>
                </a:solidFill>
                <a:latin typeface="Aptos"/>
                <a:ea typeface="Aptos"/>
                <a:cs typeface="Aptos"/>
              </a:rPr>
              <a:t>The query and both result lists are stored.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2773374-ABAC-4DDE-BDB6-86707CC30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0670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E7C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8111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8111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8BF3876-002A-42AE-9275-4336D3FDC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71475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F5F8FC"/>
                </a:solidFill>
                <a:latin typeface="Aptos"/>
                <a:ea typeface="Aptos"/>
                <a:cs typeface="Aptos"/>
              </a:rPr>
              <a:t>Compare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F8D0116-871D-4046-8127-B20CC858E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4114800"/>
            <a:ext cx="19812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A7B7C9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A7B7C9"/>
                </a:solidFill>
                <a:latin typeface="Aptos"/>
                <a:ea typeface="Aptos"/>
                <a:cs typeface="Aptos"/>
              </a:rPr>
              <a:t>TF-IDF and Neural results stay visible side by side.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B428AF5-B68A-4D29-9EF7-5D2A15FF0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0670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9F36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8111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8111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E6768D5-8366-49A7-9D06-C4A41EF58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71475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F5F8FC"/>
                </a:solidFill>
                <a:latin typeface="Aptos"/>
                <a:ea typeface="Aptos"/>
                <a:cs typeface="Aptos"/>
              </a:rPr>
              <a:t>Save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9919048-6CC4-4BAF-BA3C-6A285C35A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114800"/>
            <a:ext cx="19812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A7B7C9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A7B7C9"/>
                </a:solidFill>
                <a:latin typeface="Aptos"/>
                <a:ea typeface="Aptos"/>
                <a:cs typeface="Aptos"/>
              </a:rPr>
              <a:t>A selected course is linked to its search session.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22BD3C9-4F6B-444A-8905-057EE9BFC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30670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B45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8111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8111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8FC42E3-01D0-4072-B6B1-74DE8C2D7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371475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F5F8FC"/>
                </a:solidFill>
                <a:latin typeface="Aptos"/>
                <a:ea typeface="Aptos"/>
                <a:cs typeface="Aptos"/>
              </a:rPr>
              <a:t>Revisit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2AC62C2-622C-4A06-A520-37349397A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4114800"/>
            <a:ext cx="19812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A7B7C9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A7B7C9"/>
                </a:solidFill>
                <a:latin typeface="Aptos"/>
                <a:ea typeface="Aptos"/>
                <a:cs typeface="Aptos"/>
              </a:rPr>
              <a:t>The dashboard makes prior decisions easy to inspect.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C14A6D2-C8CD-414B-AB58-9C7505D12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76850"/>
            <a:ext cx="10972800" cy="64770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10233A"/>
          </a:solidFill>
          <a:ln xmlns:a="http://schemas.openxmlformats.org/drawingml/2006/main" w="9525">
            <a:solidFill>
              <a:srgbClr val="29415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88DC987-1792-44B8-BC21-D753B911B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486400"/>
            <a:ext cx="152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BD9EE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BD9EE"/>
                </a:solidFill>
                <a:latin typeface="Aptos"/>
                <a:ea typeface="Aptos"/>
                <a:cs typeface="Aptos"/>
              </a:rPr>
              <a:t>SQLite tables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617EF6B-6F5B-478E-BA46-9B002D94A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54673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5F8FC"/>
                </a:solidFill>
                <a:latin typeface="Aptos"/>
                <a:ea typeface="Aptos"/>
                <a:cs typeface="Aptos"/>
              </a:rPr>
              <a:t>search_sessions  ↔  saved_recommendations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816361F-CA8F-4B5D-BAAE-381FDF6BE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5486400"/>
            <a:ext cx="2952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A7B7C9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A7B7C9"/>
                </a:solidFill>
                <a:latin typeface="Aptos"/>
                <a:ea typeface="Aptos"/>
                <a:cs typeface="Aptos"/>
              </a:rPr>
              <a:t>JSON keeps rich course metadata portable.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0CD7A27-1E1B-49B6-8B1B-7859F5016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2381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6F839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F839A"/>
                </a:solidFill>
                <a:latin typeface="Aptos"/>
                <a:ea typeface="Aptos"/>
                <a:cs typeface="Aptos"/>
              </a:rPr>
              <a:t>SMARTCOURSE  /  PROJECT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87603B3-C1FB-4111-969A-3644AC25A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533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6F839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F839A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7570625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D1B2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kicker">
            <a:extLst xmlns:a="http://schemas.openxmlformats.org/drawingml/2006/main">
              <a:ext uri="{FF2B5EF4-FFF2-40B4-BE49-F238E27FC236}">
                <a16:creationId xmlns:a16="http://schemas.microsoft.com/office/drawing/2014/main" id="{69C8EC7F-472E-4DEE-92B2-9B3DACD99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BD9EE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BD9EE"/>
                </a:solidFill>
                <a:latin typeface="Aptos"/>
                <a:ea typeface="Aptos"/>
                <a:cs typeface="Aptos"/>
              </a:rPr>
              <a:t>10 / EVALUATION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9DE0FFFF-BDBE-4D3E-8635-DD632E02E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6750"/>
            <a:ext cx="1076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F5F8FC"/>
                </a:solidFill>
                <a:latin typeface="Aptos"/>
                <a:ea typeface="Aptos"/>
                <a:cs typeface="Aptos"/>
              </a:rPr>
              <a:t>The project measures ranking quality — not just screen polish.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4C4F6664-8347-4FEF-B1BD-F926F9353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62075"/>
            <a:ext cx="923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7B7C9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A7B7C9"/>
                </a:solidFill>
                <a:latin typeface="Aptos"/>
                <a:ea typeface="Aptos"/>
                <a:cs typeface="Aptos"/>
              </a:rPr>
              <a:t>Evaluation tooling compares how useful the top of each ranking is for predefined queries and relevance labels.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B758306-F211-460F-AD3B-2D6E60051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52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4F5ECCF-354E-46FB-9A8C-8470F5569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0"/>
            <a:ext cx="5334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D9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E55DB31-8A55-425B-8F19-7B2DD7067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3365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F5F8FC"/>
                </a:solidFill>
                <a:latin typeface="Aptos"/>
                <a:ea typeface="Aptos"/>
                <a:cs typeface="Aptos"/>
              </a:rPr>
              <a:t>Precision@K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A101E41-C18F-4845-903A-F656E7685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33700"/>
            <a:ext cx="285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A7B7C9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A7B7C9"/>
                </a:solidFill>
                <a:latin typeface="Aptos"/>
                <a:ea typeface="Aptos"/>
                <a:cs typeface="Aptos"/>
              </a:rPr>
              <a:t>Of the top K courses, how many are relevant?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867490F-2F79-4620-9F01-D696659FC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2381250"/>
            <a:ext cx="5334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F3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28B0548-B2E1-4153-9918-4ABBD29F6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2533650"/>
            <a:ext cx="314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F5F8FC"/>
                </a:solidFill>
                <a:latin typeface="Aptos"/>
                <a:ea typeface="Aptos"/>
                <a:cs typeface="Aptos"/>
              </a:rPr>
              <a:t>Recall@K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61E5F0B-1E6E-4357-8829-CD2006448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2933700"/>
            <a:ext cx="3143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A7B7C9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A7B7C9"/>
                </a:solidFill>
                <a:latin typeface="Aptos"/>
                <a:ea typeface="Aptos"/>
                <a:cs typeface="Aptos"/>
              </a:rPr>
              <a:t>Of all known relevant courses, how many appear in the top K?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63FCEF9-A058-4B33-B2A1-52A125CB1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381250"/>
            <a:ext cx="5334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B45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45D2351-BF24-4A62-9B20-F0668D260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53365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F5F8FC"/>
                </a:solidFill>
                <a:latin typeface="Aptos"/>
                <a:ea typeface="Aptos"/>
                <a:cs typeface="Aptos"/>
              </a:rPr>
              <a:t>Hit Rate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8BD9176-A700-4096-83D2-BEB7361AE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933700"/>
            <a:ext cx="285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A7B7C9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A7B7C9"/>
                </a:solidFill>
                <a:latin typeface="Aptos"/>
                <a:ea typeface="Aptos"/>
                <a:cs typeface="Aptos"/>
              </a:rPr>
              <a:t>Did the top K contain at least one relevant course?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88B3258-3A73-44DD-AE0E-2516442EC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814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415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F3FD259-6F36-4D4F-BBE8-0C7BC57A7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24350"/>
            <a:ext cx="304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F5F8FC"/>
                </a:solidFill>
                <a:latin typeface="Aptos"/>
                <a:ea typeface="Aptos"/>
                <a:cs typeface="Aptos"/>
              </a:rPr>
              <a:t>How the evaluation is run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B0B08CE-0CB2-4EF5-B68F-9D606DF0F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720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BD9E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8111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8111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FF7520F-1646-4541-9B70-55B4BCECC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97205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5F8FC"/>
                </a:solidFill>
                <a:latin typeface="Aptos"/>
                <a:ea typeface="Aptos"/>
                <a:cs typeface="Aptos"/>
              </a:rPr>
              <a:t>Load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B39EA13-9BAC-49E2-8EA9-6C17B2DEE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5257800"/>
            <a:ext cx="1714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A7B7C9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A7B7C9"/>
                </a:solidFill>
                <a:latin typeface="Aptos"/>
                <a:ea typeface="Aptos"/>
                <a:cs typeface="Aptos"/>
              </a:rPr>
              <a:t>evaluation_queries.json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8C47687-BC4B-4474-8346-80E57693B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9720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BD9E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8111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8111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87A04C2-289F-4320-999C-61B299655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497205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5F8FC"/>
                </a:solidFill>
                <a:latin typeface="Aptos"/>
                <a:ea typeface="Aptos"/>
                <a:cs typeface="Aptos"/>
              </a:rPr>
              <a:t>Rank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193A345-45BA-4765-A369-D1D727CC9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5257800"/>
            <a:ext cx="1714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A7B7C9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A7B7C9"/>
                </a:solidFill>
                <a:latin typeface="Aptos"/>
                <a:ea typeface="Aptos"/>
                <a:cs typeface="Aptos"/>
              </a:rPr>
              <a:t>TF-IDF and Neural @ K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C7CCFF7-44C2-4BAA-B883-DCDC26BBE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49720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BD9E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8111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8111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0D63B0C-47C4-4AD9-A67B-AE40CF409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97205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5F8FC"/>
                </a:solidFill>
                <a:latin typeface="Aptos"/>
                <a:ea typeface="Aptos"/>
                <a:cs typeface="Aptos"/>
              </a:rPr>
              <a:t>Compare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9893D6E-86D2-4062-A180-ECF8FE6B4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5257800"/>
            <a:ext cx="1714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A7B7C9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A7B7C9"/>
                </a:solidFill>
                <a:latin typeface="Aptos"/>
                <a:ea typeface="Aptos"/>
                <a:cs typeface="Aptos"/>
              </a:rPr>
              <a:t>titles against labels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4D93CDC-60D5-496E-8E7E-3DDBFF34E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49720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B45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8111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8111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03C71FF-9A32-4304-BD02-D4BF5A19E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497205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5F8FC"/>
                </a:solidFill>
                <a:latin typeface="Aptos"/>
                <a:ea typeface="Aptos"/>
                <a:cs typeface="Aptos"/>
              </a:rPr>
              <a:t>Report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697C4D2-97D5-4873-9F5F-423FC7365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5257800"/>
            <a:ext cx="1714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A7B7C9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A7B7C9"/>
                </a:solidFill>
                <a:latin typeface="Aptos"/>
                <a:ea typeface="Aptos"/>
                <a:cs typeface="Aptos"/>
              </a:rPr>
              <a:t>average metrics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3EFB332-3AFD-4D43-9364-FBD0457EF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00750"/>
            <a:ext cx="952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F839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F839A"/>
                </a:solidFill>
                <a:latin typeface="Aptos"/>
                <a:ea typeface="Aptos"/>
                <a:cs typeface="Aptos"/>
              </a:rPr>
              <a:t>Honest scope note: the checked evaluation set is small, so metrics are a starting point—not a claim of universal quality.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6976999-C2A4-4F44-97A2-B248635BA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2381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6F839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F839A"/>
                </a:solidFill>
                <a:latin typeface="Aptos"/>
                <a:ea typeface="Aptos"/>
                <a:cs typeface="Aptos"/>
              </a:rPr>
              <a:t>SMARTCOURSE  /  PROJECT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E1BC9D6-B681-4FCE-8F3A-EB2CF85E5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533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6F839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F839A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320220695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8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kicker">
            <a:extLst xmlns:a="http://schemas.openxmlformats.org/drawingml/2006/main">
              <a:ext uri="{FF2B5EF4-FFF2-40B4-BE49-F238E27FC236}">
                <a16:creationId xmlns:a16="http://schemas.microsoft.com/office/drawing/2014/main" id="{7E88BB82-099B-4D83-AAB5-B64680EC6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BD9EE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BD9EE"/>
                </a:solidFill>
                <a:latin typeface="Aptos"/>
                <a:ea typeface="Aptos"/>
                <a:cs typeface="Aptos"/>
              </a:rPr>
              <a:t>11 / DESIGN CHOICES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8B205894-F4BD-43EA-AABA-367CBB65D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6750"/>
            <a:ext cx="1076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F5F8FC"/>
                </a:solidFill>
                <a:latin typeface="Aptos"/>
                <a:ea typeface="Aptos"/>
                <a:cs typeface="Aptos"/>
              </a:rPr>
              <a:t>The technology choices reflect the prototype's goals and constraints.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1417A30B-0258-4B6F-BB18-5146C6F85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62075"/>
            <a:ext cx="923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7B7C9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A7B7C9"/>
                </a:solidFill>
                <a:latin typeface="Aptos"/>
                <a:ea typeface="Aptos"/>
                <a:cs typeface="Aptos"/>
              </a:rPr>
              <a:t>Each component supports a clear, testable recommendation workflow.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C6DB1FB-F7EA-431D-AB9F-90EB15E52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52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651290D-D4D3-483E-99C6-B520D1AEA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52650"/>
            <a:ext cx="5219700" cy="895350"/>
          </a:xfrm>
          <a:prstGeom xmlns:a="http://schemas.openxmlformats.org/drawingml/2006/main" prst="roundRect">
            <a:avLst>
              <a:gd name="adj" fmla="val 17021"/>
            </a:avLst>
          </a:prstGeom>
          <a:solidFill xmlns:a="http://schemas.openxmlformats.org/drawingml/2006/main">
            <a:srgbClr val="10233A"/>
          </a:solidFill>
          <a:ln xmlns:a="http://schemas.openxmlformats.org/drawingml/2006/main" w="9525">
            <a:solidFill>
              <a:srgbClr val="2BD9E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714BDD4-29D4-4871-B377-01213E279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32410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BD9EE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2BD9EE"/>
                </a:solidFill>
                <a:latin typeface="Aptos"/>
                <a:ea typeface="Aptos"/>
                <a:cs typeface="Aptos"/>
              </a:rPr>
              <a:t>Why TF-IDF?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89759FE-5E6B-477A-B662-522932958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638425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F5F8FC"/>
                </a:solidFill>
                <a:latin typeface="Aptos"/>
                <a:ea typeface="Aptos"/>
                <a:cs typeface="Aptos"/>
              </a:rPr>
              <a:t>It is fast, transparent, and strong when exact technical terms matter.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C36EDBA-9ADE-4244-9F88-4D160058C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152650"/>
            <a:ext cx="5219700" cy="895350"/>
          </a:xfrm>
          <a:prstGeom xmlns:a="http://schemas.openxmlformats.org/drawingml/2006/main" prst="roundRect">
            <a:avLst>
              <a:gd name="adj" fmla="val 17021"/>
            </a:avLst>
          </a:prstGeom>
          <a:solidFill xmlns:a="http://schemas.openxmlformats.org/drawingml/2006/main">
            <a:srgbClr val="10233A"/>
          </a:solidFill>
          <a:ln xmlns:a="http://schemas.openxmlformats.org/drawingml/2006/main" w="9525">
            <a:solidFill>
              <a:srgbClr val="B9F36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C91C8FD-C027-4E9A-B99E-991846F54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32410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B9F36D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B9F36D"/>
                </a:solidFill>
                <a:latin typeface="Aptos"/>
                <a:ea typeface="Aptos"/>
                <a:cs typeface="Aptos"/>
              </a:rPr>
              <a:t>Why sentence transformers?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99A3752-460E-45CC-8D95-133DA1AC7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638425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F5F8FC"/>
                </a:solidFill>
                <a:latin typeface="Aptos"/>
                <a:ea typeface="Aptos"/>
                <a:cs typeface="Aptos"/>
              </a:rPr>
              <a:t>They capture semantic meaning, so related phrases can match without identical words.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8376EF0-969F-48AE-851E-8272742F4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19450"/>
            <a:ext cx="5219700" cy="895350"/>
          </a:xfrm>
          <a:prstGeom xmlns:a="http://schemas.openxmlformats.org/drawingml/2006/main" prst="roundRect">
            <a:avLst>
              <a:gd name="adj" fmla="val 17021"/>
            </a:avLst>
          </a:prstGeom>
          <a:solidFill xmlns:a="http://schemas.openxmlformats.org/drawingml/2006/main">
            <a:srgbClr val="10233A"/>
          </a:solidFill>
          <a:ln xmlns:a="http://schemas.openxmlformats.org/drawingml/2006/main" w="9525">
            <a:solidFill>
              <a:srgbClr val="2BD9E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0E01501-F609-4417-8CCA-E6E05C841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39090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BD9EE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2BD9EE"/>
                </a:solidFill>
                <a:latin typeface="Aptos"/>
                <a:ea typeface="Aptos"/>
                <a:cs typeface="Aptos"/>
              </a:rPr>
              <a:t>What is cosine similarity?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815C700-164F-425D-8BCB-93606DD77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705225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F5F8FC"/>
                </a:solidFill>
                <a:latin typeface="Aptos"/>
                <a:ea typeface="Aptos"/>
                <a:cs typeface="Aptos"/>
              </a:rPr>
              <a:t>It compares vector direction; a higher value means a closer match in that representation.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7503953-C986-4C9D-85A6-EDFF0278C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219450"/>
            <a:ext cx="5219700" cy="895350"/>
          </a:xfrm>
          <a:prstGeom xmlns:a="http://schemas.openxmlformats.org/drawingml/2006/main" prst="roundRect">
            <a:avLst>
              <a:gd name="adj" fmla="val 17021"/>
            </a:avLst>
          </a:prstGeom>
          <a:solidFill xmlns:a="http://schemas.openxmlformats.org/drawingml/2006/main">
            <a:srgbClr val="10233A"/>
          </a:solidFill>
          <a:ln xmlns:a="http://schemas.openxmlformats.org/drawingml/2006/main" w="9525">
            <a:solidFill>
              <a:srgbClr val="B9F36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BE267A7-49E9-4B60-BCF0-4087F7053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39090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B9F36D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B9F36D"/>
                </a:solidFill>
                <a:latin typeface="Aptos"/>
                <a:ea typeface="Aptos"/>
                <a:cs typeface="Aptos"/>
              </a:rPr>
              <a:t>Why Flask and SQLite?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FBDF4D7-0424-42D1-8B24-A7E8C96B7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705225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F5F8FC"/>
                </a:solidFill>
                <a:latin typeface="Aptos"/>
                <a:ea typeface="Aptos"/>
                <a:cs typeface="Aptos"/>
              </a:rPr>
              <a:t>Flask is lightweight for pages plus APIs; SQLite is file-based and enough for prototype persistence.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A546E48-096D-4F42-A9F8-7A5F0B4E6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0"/>
            <a:ext cx="5219700" cy="895350"/>
          </a:xfrm>
          <a:prstGeom xmlns:a="http://schemas.openxmlformats.org/drawingml/2006/main" prst="roundRect">
            <a:avLst>
              <a:gd name="adj" fmla="val 17021"/>
            </a:avLst>
          </a:prstGeom>
          <a:solidFill xmlns:a="http://schemas.openxmlformats.org/drawingml/2006/main">
            <a:srgbClr val="10233A"/>
          </a:solidFill>
          <a:ln xmlns:a="http://schemas.openxmlformats.org/drawingml/2006/main" w="9525">
            <a:solidFill>
              <a:srgbClr val="2BD9E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5B38D31-CB30-4891-981A-186F60CF7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45770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BD9EE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2BD9EE"/>
                </a:solidFill>
                <a:latin typeface="Aptos"/>
                <a:ea typeface="Aptos"/>
                <a:cs typeface="Aptos"/>
              </a:rPr>
              <a:t>What is Hybrid?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203CCAE-D174-44F6-9BBB-EB4569423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772025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F5F8FC"/>
                </a:solidFill>
                <a:latin typeface="Aptos"/>
                <a:ea typeface="Aptos"/>
                <a:cs typeface="Aptos"/>
              </a:rPr>
              <a:t>Both models run and the ranked lists are shown side by side; scores are not fused.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B6B1443-83BB-4BD1-BCFF-B57DDB4D6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286250"/>
            <a:ext cx="5219700" cy="895350"/>
          </a:xfrm>
          <a:prstGeom xmlns:a="http://schemas.openxmlformats.org/drawingml/2006/main" prst="roundRect">
            <a:avLst>
              <a:gd name="adj" fmla="val 17021"/>
            </a:avLst>
          </a:prstGeom>
          <a:solidFill xmlns:a="http://schemas.openxmlformats.org/drawingml/2006/main">
            <a:srgbClr val="10233A"/>
          </a:solidFill>
          <a:ln xmlns:a="http://schemas.openxmlformats.org/drawingml/2006/main" w="9525">
            <a:solidFill>
              <a:srgbClr val="B9F36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5298B8F-A3E0-47B5-B7A9-842082E77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45770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B9F36D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B9F36D"/>
                </a:solidFill>
                <a:latin typeface="Aptos"/>
                <a:ea typeface="Aptos"/>
                <a:cs typeface="Aptos"/>
              </a:rPr>
              <a:t>What are the limits?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FC8BCB9-459C-4116-964E-AE197B0D9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772025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F5F8FC"/>
                </a:solidFill>
                <a:latin typeface="Aptos"/>
                <a:ea typeface="Aptos"/>
                <a:cs typeface="Aptos"/>
              </a:rPr>
              <a:t>Small evaluation data, no accounts or personalization yet, and prototype-level deployment.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DCE2520-DB7E-447F-A467-6DC09B2CC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64770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142B45"/>
          </a:solidFill>
          <a:ln xmlns:a="http://schemas.openxmlformats.org/drawingml/2006/main" w="9525">
            <a:solidFill>
              <a:srgbClr val="29415B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7A7DF4E-783F-4CA3-919F-EDF9CDC06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676900"/>
            <a:ext cx="1619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B454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FB454"/>
                </a:solidFill>
                <a:latin typeface="Aptos"/>
                <a:ea typeface="Aptos"/>
                <a:cs typeface="Aptos"/>
              </a:rPr>
              <a:t>FUTURE WORK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36370CE-B1FB-4EED-9590-8B38F7403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5676900"/>
            <a:ext cx="8286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5F8FC"/>
                </a:solidFill>
                <a:latin typeface="Aptos"/>
                <a:ea typeface="Aptos"/>
                <a:cs typeface="Aptos"/>
              </a:rPr>
              <a:t>Feedback-based re-ranking · weighted score fusion · larger labels · filters · production security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3685886-6B73-4DA0-A19A-235767718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2381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6F839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F839A"/>
                </a:solidFill>
                <a:latin typeface="Aptos"/>
                <a:ea typeface="Aptos"/>
                <a:cs typeface="Aptos"/>
              </a:rPr>
              <a:t>SMARTCOURSE  /  PROJECT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590CBE3-CAFD-4D25-90AB-45F1C7C55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533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6F839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F839A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909696966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0D1B2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kicker">
            <a:extLst xmlns:a="http://schemas.openxmlformats.org/drawingml/2006/main">
              <a:ext uri="{FF2B5EF4-FFF2-40B4-BE49-F238E27FC236}">
                <a16:creationId xmlns:a16="http://schemas.microsoft.com/office/drawing/2014/main" id="{A116E1FC-2C26-4A18-815C-9AD19BE0B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BD9EE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BD9EE"/>
                </a:solidFill>
                <a:latin typeface="Aptos"/>
                <a:ea typeface="Aptos"/>
                <a:cs typeface="Aptos"/>
              </a:rPr>
              <a:t>12 / THE DEMO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2823683A-AD15-46ED-8E65-EA4EB225C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6750"/>
            <a:ext cx="1076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F5F8FC"/>
                </a:solidFill>
                <a:latin typeface="Aptos"/>
                <a:ea typeface="Aptos"/>
                <a:cs typeface="Aptos"/>
              </a:rPr>
              <a:t>The product flow is search → compare → save → revisit.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F4322033-0059-437B-B86E-72E10D7C5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62075"/>
            <a:ext cx="923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7B7C9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A7B7C9"/>
                </a:solidFill>
                <a:latin typeface="Aptos"/>
                <a:ea typeface="Aptos"/>
                <a:cs typeface="Aptos"/>
              </a:rPr>
              <a:t>The demo connects the user journey to the engineering behind it.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E3FD94F-52E7-4C62-ADBF-39834FFEB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52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57CC58C-AA8F-4DCE-AF76-20C7D4901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0"/>
            <a:ext cx="2266950" cy="224790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0233A"/>
          </a:solidFill>
          <a:ln xmlns:a="http://schemas.openxmlformats.org/drawingml/2006/main" w="9525">
            <a:solidFill>
              <a:srgbClr val="2BD9E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935FEFD-3824-4148-8C41-6A348D631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781300"/>
            <a:ext cx="342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BD9EE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BD9EE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C641809-28CB-49A3-BECA-92FA1E992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23850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6154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F5F8FC"/>
                </a:solidFill>
                <a:latin typeface="Aptos"/>
                <a:ea typeface="Aptos"/>
                <a:cs typeface="Aptos"/>
              </a:rPr>
              <a:t>Search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A4F5155-0B27-41C6-8173-8859432C5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771900"/>
            <a:ext cx="180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A7B7C9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A7B7C9"/>
                </a:solidFill>
                <a:latin typeface="Aptos"/>
                <a:ea typeface="Aptos"/>
                <a:cs typeface="Aptos"/>
              </a:rPr>
              <a:t>Open Recommendations</a:t>
            </a:r>
          </a:p>
          <a:p xmlns:a="http://schemas.openxmlformats.org/drawingml/2006/main">
            <a:pPr algn="l">
              <a:defRPr sz="1275" b="0">
                <a:solidFill>
                  <a:srgbClr val="A7B7C9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A7B7C9"/>
                </a:solidFill>
                <a:latin typeface="Aptos"/>
                <a:ea typeface="Aptos"/>
                <a:cs typeface="Aptos"/>
              </a:rPr>
              <a:t>Enter: Python for data science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C33747B-1045-42BA-BD00-1BB8DF8D7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533900"/>
            <a:ext cx="1752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9DFCB4C-34F0-406B-A5F0-F8E272F11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552950"/>
            <a:ext cx="1809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F839A"/>
                </a:solidFill>
                <a:latin typeface="Courier New"/>
                <a:ea typeface="Courier New"/>
                <a:cs typeface="Courier New"/>
              </a:defRPr>
            </a:pPr>
            <a:r>
              <a:rPr sz="975" b="1">
                <a:solidFill>
                  <a:srgbClr val="6F839A"/>
                </a:solidFill>
                <a:latin typeface="Courier New"/>
                <a:ea typeface="Courier New"/>
                <a:cs typeface="Courier New"/>
              </a:rPr>
              <a:t>UI → API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1ED92D3-6994-4E5E-8F83-175500801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571750"/>
            <a:ext cx="2266950" cy="224790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0233A"/>
          </a:solidFill>
          <a:ln xmlns:a="http://schemas.openxmlformats.org/drawingml/2006/main" w="9525">
            <a:solidFill>
              <a:srgbClr val="8E7C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AA55CA3-57CF-4574-AF92-64AB5DB5C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2781300"/>
            <a:ext cx="342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8E7C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8E7CFF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358762E-DC7E-4042-974A-1A3922481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323850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6154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F5F8FC"/>
                </a:solidFill>
                <a:latin typeface="Aptos"/>
                <a:ea typeface="Aptos"/>
                <a:cs typeface="Aptos"/>
              </a:rPr>
              <a:t>Compare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74841AB-C649-4B54-B209-DB5231EE0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3771900"/>
            <a:ext cx="180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A7B7C9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A7B7C9"/>
                </a:solidFill>
                <a:latin typeface="Aptos"/>
                <a:ea typeface="Aptos"/>
                <a:cs typeface="Aptos"/>
              </a:rPr>
              <a:t>Select Hybrid</a:t>
            </a:r>
          </a:p>
          <a:p xmlns:a="http://schemas.openxmlformats.org/drawingml/2006/main">
            <a:pPr algn="l">
              <a:defRPr sz="1275" b="0">
                <a:solidFill>
                  <a:srgbClr val="A7B7C9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A7B7C9"/>
                </a:solidFill>
                <a:latin typeface="Aptos"/>
                <a:ea typeface="Aptos"/>
                <a:cs typeface="Aptos"/>
              </a:rPr>
              <a:t>Explain both ranking lenses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658D504-C34D-48FB-873A-19E33C1C8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4533900"/>
            <a:ext cx="1752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81258F3-6DB7-4124-93F6-1D23346AF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4552950"/>
            <a:ext cx="1809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F839A"/>
                </a:solidFill>
                <a:latin typeface="Courier New"/>
                <a:ea typeface="Courier New"/>
                <a:cs typeface="Courier New"/>
              </a:defRPr>
            </a:pPr>
            <a:r>
              <a:rPr sz="975" b="1">
                <a:solidFill>
                  <a:srgbClr val="6F839A"/>
                </a:solidFill>
                <a:latin typeface="Courier New"/>
                <a:ea typeface="Courier New"/>
                <a:cs typeface="Courier New"/>
              </a:rPr>
              <a:t>models → cards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3C4106A-29EA-4C36-A9E1-733CCB301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2571750"/>
            <a:ext cx="2266950" cy="224790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0233A"/>
          </a:solidFill>
          <a:ln xmlns:a="http://schemas.openxmlformats.org/drawingml/2006/main" w="9525">
            <a:solidFill>
              <a:srgbClr val="B9F36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40779D8-2496-4AC8-BBC4-A57303732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781300"/>
            <a:ext cx="342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B9F36D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B9F36D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9FAAB0B-0090-461A-BA17-5CC5318BE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23850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6154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F5F8FC"/>
                </a:solidFill>
                <a:latin typeface="Aptos"/>
                <a:ea typeface="Aptos"/>
                <a:cs typeface="Aptos"/>
              </a:rPr>
              <a:t>Save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1C0BBD5-473B-4FF4-B8B0-DF9E307ED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771900"/>
            <a:ext cx="180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A7B7C9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A7B7C9"/>
                </a:solidFill>
                <a:latin typeface="Aptos"/>
                <a:ea typeface="Aptos"/>
                <a:cs typeface="Aptos"/>
              </a:rPr>
              <a:t>Choose a course</a:t>
            </a:r>
          </a:p>
          <a:p xmlns:a="http://schemas.openxmlformats.org/drawingml/2006/main">
            <a:pPr algn="l">
              <a:defRPr sz="1275" b="0">
                <a:solidFill>
                  <a:srgbClr val="A7B7C9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A7B7C9"/>
                </a:solidFill>
                <a:latin typeface="Aptos"/>
                <a:ea typeface="Aptos"/>
                <a:cs typeface="Aptos"/>
              </a:rPr>
              <a:t>Point out score and metadata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F65D358-CD8E-41BE-95E4-7B2C6E439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533900"/>
            <a:ext cx="1752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C750455-FE84-4600-A685-D5A4C8B07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552950"/>
            <a:ext cx="1809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F839A"/>
                </a:solidFill>
                <a:latin typeface="Courier New"/>
                <a:ea typeface="Courier New"/>
                <a:cs typeface="Courier New"/>
              </a:defRPr>
            </a:pPr>
            <a:r>
              <a:rPr sz="975" b="1">
                <a:solidFill>
                  <a:srgbClr val="6F839A"/>
                </a:solidFill>
                <a:latin typeface="Courier New"/>
                <a:ea typeface="Courier New"/>
                <a:cs typeface="Courier New"/>
              </a:rPr>
              <a:t>POST /api/save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881A668-0093-4F38-BE3E-574ACA937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2571750"/>
            <a:ext cx="2266950" cy="224790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0233A"/>
          </a:solidFill>
          <a:ln xmlns:a="http://schemas.openxmlformats.org/drawingml/2006/main" w="9525">
            <a:solidFill>
              <a:srgbClr val="FFB454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2C0564E-6CA3-4F26-A9AE-BC9A9C0D4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2781300"/>
            <a:ext cx="342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B454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FB454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69AC3D8-4761-4A7A-B1BA-89F15DBF2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323850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6154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F5F8FC"/>
                </a:solidFill>
                <a:latin typeface="Aptos"/>
                <a:ea typeface="Aptos"/>
                <a:cs typeface="Aptos"/>
              </a:rPr>
              <a:t>Revisit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8DA0271-F682-4008-9C54-D71A2D488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3771900"/>
            <a:ext cx="180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A7B7C9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A7B7C9"/>
                </a:solidFill>
                <a:latin typeface="Aptos"/>
                <a:ea typeface="Aptos"/>
                <a:cs typeface="Aptos"/>
              </a:rPr>
              <a:t>Open Dashboard</a:t>
            </a:r>
          </a:p>
          <a:p xmlns:a="http://schemas.openxmlformats.org/drawingml/2006/main">
            <a:pPr algn="l">
              <a:defRPr sz="1275" b="0">
                <a:solidFill>
                  <a:srgbClr val="A7B7C9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A7B7C9"/>
                </a:solidFill>
                <a:latin typeface="Aptos"/>
                <a:ea typeface="Aptos"/>
                <a:cs typeface="Aptos"/>
              </a:rPr>
              <a:t>Show history + saved item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BE6C158-E7FD-4B13-8F9F-B12A72BF8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4533900"/>
            <a:ext cx="1752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51251C9-481E-44D4-81D5-7DF4083AC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4552950"/>
            <a:ext cx="1809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F839A"/>
                </a:solidFill>
                <a:latin typeface="Courier New"/>
                <a:ea typeface="Courier New"/>
                <a:cs typeface="Courier New"/>
              </a:defRPr>
            </a:pPr>
            <a:r>
              <a:rPr sz="975" b="1">
                <a:solidFill>
                  <a:srgbClr val="6F839A"/>
                </a:solidFill>
                <a:latin typeface="Courier New"/>
                <a:ea typeface="Courier New"/>
                <a:cs typeface="Courier New"/>
              </a:rPr>
              <a:t>GET /api/history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9366544-BB4E-41F8-9582-67AE0BDA1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19750"/>
            <a:ext cx="1095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5F8FC"/>
                </a:solidFill>
                <a:latin typeface="Aptos"/>
                <a:ea typeface="Aptos"/>
                <a:cs typeface="Aptos"/>
              </a:rPr>
              <a:t>Request flow: validate → rank → normalize → persist → render.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F51B8FC-BEDB-44B2-9893-1C3A0FBEB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2381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6F839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F839A"/>
                </a:solidFill>
                <a:latin typeface="Aptos"/>
                <a:ea typeface="Aptos"/>
                <a:cs typeface="Aptos"/>
              </a:rPr>
              <a:t>SMARTCOURSE  /  PROJECT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8CD178F-3C3C-4DCF-A789-7A156F74F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533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6F839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F839A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666282378"/>
      </p:ext>
    </p:extLst>
  </p:cSld>
</p:sld>
</file>

<file path=ppt/slides/slide14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8111F"/>
            </a:gs>
            <a:gs pos="60000">
              <a:srgbClr val="10243A"/>
            </a:gs>
            <a:gs pos="100000">
              <a:srgbClr val="102B2C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6F2797C-F109-446E-B6D2-D3297209C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BD9EE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BD9EE"/>
                </a:solidFill>
                <a:latin typeface="Aptos"/>
                <a:ea typeface="Aptos"/>
                <a:cs typeface="Aptos"/>
              </a:rPr>
              <a:t>THE TAKEAWAY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75AA80F-149D-496E-8BE6-9946B5BB1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0150"/>
            <a:ext cx="65722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3750" b="1">
                <a:solidFill>
                  <a:srgbClr val="F5F8FC"/>
                </a:solidFill>
                <a:latin typeface="Aptos"/>
                <a:ea typeface="Aptos"/>
                <a:cs typeface="Aptos"/>
              </a:rPr>
              <a:t>SmartCourse makes course</a:t>
            </a:r>
          </a:p>
          <a:p xmlns:a="http://schemas.openxmlformats.org/drawingml/2006/main">
            <a:pPr algn="l">
              <a:defRPr sz="3750" b="1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3750" b="1">
                <a:solidFill>
                  <a:srgbClr val="F5F8FC"/>
                </a:solidFill>
                <a:latin typeface="Aptos"/>
                <a:ea typeface="Aptos"/>
                <a:cs typeface="Aptos"/>
              </a:rPr>
              <a:t>discovery more explainable.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6EF1FCB-1761-465A-AAD1-653066169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38450"/>
            <a:ext cx="6286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4107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A7B7C9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A7B7C9"/>
                </a:solidFill>
                <a:latin typeface="Aptos"/>
                <a:ea typeface="Aptos"/>
                <a:cs typeface="Aptos"/>
              </a:rPr>
              <a:t>It combines two complementary ranking methods with a usable web experience, persistent learner history, and a clear path toward personalization.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E48E830-A0B3-4FB9-B604-4E06A29D0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0"/>
            <a:ext cx="5619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415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CD1072B-F148-4428-9192-EA9EA96E7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62450"/>
            <a:ext cx="1333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BD9EE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BD9EE"/>
                </a:solidFill>
                <a:latin typeface="Aptos"/>
                <a:ea typeface="Aptos"/>
                <a:cs typeface="Aptos"/>
              </a:rPr>
              <a:t>Problem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B30A229-27BB-4D1B-A544-B2847DE3F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672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5F8FC"/>
                </a:solidFill>
                <a:latin typeface="Aptos"/>
                <a:ea typeface="Aptos"/>
                <a:cs typeface="Aptos"/>
              </a:rPr>
              <a:t>large catalog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8DBC9DD-CFFE-47F2-9281-8221660E1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4362450"/>
            <a:ext cx="1333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B9F36D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B9F36D"/>
                </a:solidFill>
                <a:latin typeface="Aptos"/>
                <a:ea typeface="Aptos"/>
                <a:cs typeface="Aptos"/>
              </a:rPr>
              <a:t>Solution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0E20B24-BC70-47B5-932E-377307A3C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4667250"/>
            <a:ext cx="2000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5F8FC"/>
                </a:solidFill>
                <a:latin typeface="Aptos"/>
                <a:ea typeface="Aptos"/>
                <a:cs typeface="Aptos"/>
              </a:rPr>
              <a:t>two ranking lenses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348D8FC-7266-4ECE-AB09-AFC4B1D58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4362450"/>
            <a:ext cx="1333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B454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FB454"/>
                </a:solidFill>
                <a:latin typeface="Aptos"/>
                <a:ea typeface="Aptos"/>
                <a:cs typeface="Aptos"/>
              </a:rPr>
              <a:t>Outcome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EF13248-8380-4F9B-AF11-7F8E2F864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4667250"/>
            <a:ext cx="2000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5F8FC"/>
                </a:solidFill>
                <a:latin typeface="Aptos"/>
                <a:ea typeface="Aptos"/>
                <a:cs typeface="Aptos"/>
              </a:rPr>
              <a:t>better decisions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7B8699D-C9EE-4D24-AD1F-508481041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057400"/>
            <a:ext cx="2952750" cy="209550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10233A"/>
          </a:solidFill>
          <a:ln xmlns:a="http://schemas.openxmlformats.org/drawingml/2006/main" w="9525">
            <a:solidFill>
              <a:srgbClr val="2BD9E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7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BDAF3A7-857E-4E20-A142-144A884D7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590800"/>
            <a:ext cx="2343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BD9EE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2BD9EE"/>
                </a:solidFill>
                <a:latin typeface="Aptos"/>
                <a:ea typeface="Aptos"/>
                <a:cs typeface="Aptos"/>
              </a:rPr>
              <a:t>DISCUSSION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6AAC136-482B-4586-A577-5657A1855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238500"/>
            <a:ext cx="2343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5F8FC"/>
                </a:solidFill>
                <a:latin typeface="Aptos"/>
                <a:ea typeface="Aptos"/>
                <a:cs typeface="Aptos"/>
              </a:rPr>
              <a:t>Questions and feedback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3D7EC17-ADB3-431F-97B4-60B73609D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2476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F839A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6F839A"/>
                </a:solidFill>
                <a:latin typeface="Aptos"/>
                <a:ea typeface="Aptos"/>
                <a:cs typeface="Aptos"/>
              </a:rPr>
              <a:t>F25PROJECTEC4D8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639D335-2575-4730-8BCE-E7CE0DDEA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191250"/>
            <a:ext cx="533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6F839A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6F839A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178543243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2026-08-19T21:52:09.3110000Z</dcterms:created>
  <dcterms:modified xsi:type="dcterms:W3CDTF">2026-08-19T21:52:09.3110000Z</dcterms:modified>
</coreProperties>
</file>