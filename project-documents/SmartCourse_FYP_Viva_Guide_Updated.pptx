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90b327f7eb4d57" /><Relationship Type="http://schemas.openxmlformats.org/officeDocument/2006/relationships/extended-properties" Target="/docProps/app.xml" Id="R3d8b3e8ceb0e4bd4" /><Relationship Type="http://schemas.openxmlformats.org/officeDocument/2006/relationships/officeDocument" Target="/ppt/presentation.xml" Id="R2c71966d40b243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a698d2178c4689"/>
  </p:sldMasterIdLst>
  <p:notesMasterIdLst>
    <p:notesMasterId xmlns:r="http://schemas.openxmlformats.org/officeDocument/2006/relationships" r:id="R6df1b1786cf44695"/>
  </p:notesMasterIdLst>
  <p:sldIdLst>
    <p:sldId xmlns:r="http://schemas.openxmlformats.org/officeDocument/2006/relationships" id="256" r:id="R3f045a5d65664d8e"/>
    <p:sldId xmlns:r="http://schemas.openxmlformats.org/officeDocument/2006/relationships" id="257" r:id="Rbe6e9f1f539545b3"/>
    <p:sldId xmlns:r="http://schemas.openxmlformats.org/officeDocument/2006/relationships" id="258" r:id="Re37af337b084495a"/>
    <p:sldId xmlns:r="http://schemas.openxmlformats.org/officeDocument/2006/relationships" id="259" r:id="R12b8b9ad290a4afd"/>
    <p:sldId xmlns:r="http://schemas.openxmlformats.org/officeDocument/2006/relationships" id="260" r:id="R86e54330fae44ca9"/>
    <p:sldId xmlns:r="http://schemas.openxmlformats.org/officeDocument/2006/relationships" id="261" r:id="R7e835828bfc34f8a"/>
    <p:sldId xmlns:r="http://schemas.openxmlformats.org/officeDocument/2006/relationships" id="262" r:id="R82cc7fb03bf14dce"/>
    <p:sldId xmlns:r="http://schemas.openxmlformats.org/officeDocument/2006/relationships" id="263" r:id="R155abe86a8424c1f"/>
    <p:sldId xmlns:r="http://schemas.openxmlformats.org/officeDocument/2006/relationships" id="264" r:id="R3ead33c8f1c84423"/>
    <p:sldId xmlns:r="http://schemas.openxmlformats.org/officeDocument/2006/relationships" id="265" r:id="R6c0b9de44615482f"/>
    <p:sldId xmlns:r="http://schemas.openxmlformats.org/officeDocument/2006/relationships" id="266" r:id="Raa0b9f5a0c9f4738"/>
    <p:sldId xmlns:r="http://schemas.openxmlformats.org/officeDocument/2006/relationships" id="267" r:id="Rf2255377bca5456b"/>
    <p:sldId xmlns:r="http://schemas.openxmlformats.org/officeDocument/2006/relationships" id="268" r:id="R7afc0352e6214a04"/>
    <p:sldId xmlns:r="http://schemas.openxmlformats.org/officeDocument/2006/relationships" id="269" r:id="R6b5f51206a714a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c435de75394ef7" /><Relationship Type="http://schemas.openxmlformats.org/officeDocument/2006/relationships/slideMaster" Target="/ppt/slideMasters/slideMaster1.xml" Id="R28a698d2178c4689" /><Relationship Type="http://schemas.openxmlformats.org/officeDocument/2006/relationships/notesMaster" Target="/ppt/notesMasters/notesMaster1.xml" Id="R6df1b1786cf44695" /><Relationship Type="http://schemas.openxmlformats.org/officeDocument/2006/relationships/presProps" Target="/ppt/presProps.xml" Id="R974f027ef6ab4c42" /><Relationship Type="http://schemas.openxmlformats.org/officeDocument/2006/relationships/tableStyles" Target="/ppt/tableStyles.xml" Id="Rd87a2630cecd445f" /><Relationship Type="http://schemas.openxmlformats.org/officeDocument/2006/relationships/slide" Target="/ppt/slides/slide1.xml" Id="R3f045a5d65664d8e" /><Relationship Type="http://schemas.openxmlformats.org/officeDocument/2006/relationships/slide" Target="/ppt/slides/slide2.xml" Id="Rbe6e9f1f539545b3" /><Relationship Type="http://schemas.openxmlformats.org/officeDocument/2006/relationships/slide" Target="/ppt/slides/slide3.xml" Id="Re37af337b084495a" /><Relationship Type="http://schemas.openxmlformats.org/officeDocument/2006/relationships/slide" Target="/ppt/slides/slide4.xml" Id="R12b8b9ad290a4afd" /><Relationship Type="http://schemas.openxmlformats.org/officeDocument/2006/relationships/slide" Target="/ppt/slides/slide5.xml" Id="R86e54330fae44ca9" /><Relationship Type="http://schemas.openxmlformats.org/officeDocument/2006/relationships/slide" Target="/ppt/slides/slide6.xml" Id="R7e835828bfc34f8a" /><Relationship Type="http://schemas.openxmlformats.org/officeDocument/2006/relationships/slide" Target="/ppt/slides/slide7.xml" Id="R82cc7fb03bf14dce" /><Relationship Type="http://schemas.openxmlformats.org/officeDocument/2006/relationships/slide" Target="/ppt/slides/slide8.xml" Id="R155abe86a8424c1f" /><Relationship Type="http://schemas.openxmlformats.org/officeDocument/2006/relationships/slide" Target="/ppt/slides/slide9.xml" Id="R3ead33c8f1c84423" /><Relationship Type="http://schemas.openxmlformats.org/officeDocument/2006/relationships/slide" Target="/ppt/slides/slide10.xml" Id="R6c0b9de44615482f" /><Relationship Type="http://schemas.openxmlformats.org/officeDocument/2006/relationships/slide" Target="/ppt/slides/slide11.xml" Id="Raa0b9f5a0c9f4738" /><Relationship Type="http://schemas.openxmlformats.org/officeDocument/2006/relationships/slide" Target="/ppt/slides/slide12.xml" Id="Rf2255377bca5456b" /><Relationship Type="http://schemas.openxmlformats.org/officeDocument/2006/relationships/slide" Target="/ppt/slides/slide13.xml" Id="R7afc0352e6214a04" /><Relationship Type="http://schemas.openxmlformats.org/officeDocument/2006/relationships/slide" Target="/ppt/slides/slide14.xml" Id="R6b5f51206a714a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361461920244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73719c18ee4903" /><Relationship Type="http://schemas.openxmlformats.org/officeDocument/2006/relationships/notesMaster" Target="/ppt/notesMasters/notesMaster1.xml" Id="Rf66224d9e2ef46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f672a307d04446" /><Relationship Type="http://schemas.openxmlformats.org/officeDocument/2006/relationships/notesMaster" Target="/ppt/notesMasters/notesMaster1.xml" Id="R3ef35a57d99347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be91de5b4d4c02" /><Relationship Type="http://schemas.openxmlformats.org/officeDocument/2006/relationships/notesMaster" Target="/ppt/notesMasters/notesMaster1.xml" Id="Rd5b626b97eed44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a5737888024f2f" /><Relationship Type="http://schemas.openxmlformats.org/officeDocument/2006/relationships/notesMaster" Target="/ppt/notesMasters/notesMaster1.xml" Id="R28045b2222f44b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5f55482ea34b1a" /><Relationship Type="http://schemas.openxmlformats.org/officeDocument/2006/relationships/notesMaster" Target="/ppt/notesMasters/notesMaster1.xml" Id="R46237c9df9e24a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5393a3b4cd45bd" /><Relationship Type="http://schemas.openxmlformats.org/officeDocument/2006/relationships/notesMaster" Target="/ppt/notesMasters/notesMaster1.xml" Id="R11043294f13340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db1ad3de8744f1" /><Relationship Type="http://schemas.openxmlformats.org/officeDocument/2006/relationships/notesMaster" Target="/ppt/notesMasters/notesMaster1.xml" Id="R93203453188d4d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2a6df8dea54bc7" /><Relationship Type="http://schemas.openxmlformats.org/officeDocument/2006/relationships/notesMaster" Target="/ppt/notesMasters/notesMaster1.xml" Id="R29087aae531c49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c95ee235814427" /><Relationship Type="http://schemas.openxmlformats.org/officeDocument/2006/relationships/notesMaster" Target="/ppt/notesMasters/notesMaster1.xml" Id="Rb1e42a4febc34e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07521e40cd41fc" /><Relationship Type="http://schemas.openxmlformats.org/officeDocument/2006/relationships/notesMaster" Target="/ppt/notesMasters/notesMaster1.xml" Id="R9d0d5dd362ed48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e6270efb95455c" /><Relationship Type="http://schemas.openxmlformats.org/officeDocument/2006/relationships/notesMaster" Target="/ppt/notesMasters/notesMaster1.xml" Id="Ra1c7bc21e2ab43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8751302d1244eb" /><Relationship Type="http://schemas.openxmlformats.org/officeDocument/2006/relationships/notesMaster" Target="/ppt/notesMasters/notesMaster1.xml" Id="R6b6fa9b0476d49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5bc7ae18fa451a" /><Relationship Type="http://schemas.openxmlformats.org/officeDocument/2006/relationships/notesMaster" Target="/ppt/notesMasters/notesMaster1.xml" Id="R932109106b94481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698ea00b9546b0" /><Relationship Type="http://schemas.openxmlformats.org/officeDocument/2006/relationships/notesMaster" Target="/ppt/notesMasters/notesMaster1.xml" Id="Rab3d5affe65548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single-sentence project summary. Establish that the presentation explains both the engineering flow and the recommendation logic.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app.py</a:t>
            </a:r>
          </a:p>
          <a:p xmlns:a="http://schemas.openxmlformats.org/drawingml/2006/main">
            <a:r>
              <a:t>- project-documents/FinalDeliverables_F25PROJECTEC4D8/2-FinalReport_SmartCourse_F25PROJECTEC4D8.docx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before describing features. Use the example query to connect the user experience to the need for both keyword and semantic retrieval.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project-documents/Fall 2025_CS619_11727_1.docx</a:t>
            </a:r>
          </a:p>
          <a:p xmlns:a="http://schemas.openxmlformats.org/drawingml/2006/main">
            <a:r>
              <a:t>- templates/home.html</a:t>
            </a:r>
          </a:p>
          <a:p xmlns:a="http://schemas.openxmlformats.org/drawingml/2006/main">
            <a:r>
              <a:t>- templates/recommend.html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recommendation is not only a model output. It becomes a user-facing learning decision with metadata, saving, and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smartcourse/api.py</a:t>
            </a:r>
          </a:p>
          <a:p xmlns:a="http://schemas.openxmlformats.org/drawingml/2006/main">
            <a:r>
              <a:t>- smartcourse/services/recommendation.py</a:t>
            </a:r>
          </a:p>
          <a:p xmlns:a="http://schemas.openxmlformats.org/drawingml/2006/main">
            <a:r>
              <a:t>- static/js/main.js</a:t>
            </a:r>
          </a:p>
          <a:p xmlns:a="http://schemas.openxmlformats.org/drawingml/2006/main">
            <a:r>
              <a:t>- templates/recommend.html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Spend the most time on this slide. Explain the difference between lexical similarity and semantic similarity, then state the exact Hybrid behavior honestly.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smartcourse/models/tfidf_model.py</a:t>
            </a:r>
          </a:p>
          <a:p xmlns:a="http://schemas.openxmlformats.org/drawingml/2006/main">
            <a:r>
              <a:t>- smartcourse/models/neural_model.py</a:t>
            </a:r>
          </a:p>
          <a:p xmlns:a="http://schemas.openxmlformats.org/drawingml/2006/main">
            <a:r>
              <a:t>- smartcourse/services/recommendation.py</a:t>
            </a:r>
          </a:p>
          <a:p xmlns:a="http://schemas.openxmlformats.org/drawingml/2006/main">
            <a:r>
              <a:t>- smartcourse/data/preprocess.py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data-science work to the application. The key performance idea is precomputation: catalog-side work is done during model building, while each request only processes the query and performs similarity 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smartcourse/data/pipeline.py</a:t>
            </a:r>
          </a:p>
          <a:p xmlns:a="http://schemas.openxmlformats.org/drawingml/2006/main">
            <a:r>
              <a:t>- scripts/prepare_data.py</a:t>
            </a:r>
          </a:p>
          <a:p xmlns:a="http://schemas.openxmlformats.org/drawingml/2006/main">
            <a:r>
              <a:t>- scripts/build_models.py</a:t>
            </a:r>
          </a:p>
          <a:p xmlns:a="http://schemas.openxmlformats.org/drawingml/2006/main">
            <a:r>
              <a:t>- smartcourse/models/neural_model.py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top to bottom. The important separation is that the API does not implement ranking itself; it validates and delegates to services, while the model and database layers remain replaceable.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smartcourse/__init__.py</a:t>
            </a:r>
          </a:p>
          <a:p xmlns:a="http://schemas.openxmlformats.org/drawingml/2006/main">
            <a:r>
              <a:t>- smartcourse/config.py</a:t>
            </a:r>
          </a:p>
          <a:p xmlns:a="http://schemas.openxmlformats.org/drawingml/2006/main">
            <a:r>
              <a:t>- smartcourse/api.py</a:t>
            </a:r>
          </a:p>
          <a:p xmlns:a="http://schemas.openxmlformats.org/drawingml/2006/main">
            <a:r>
              <a:t>- smartcourse/services/recommendation.py</a:t>
            </a:r>
          </a:p>
          <a:p xmlns:a="http://schemas.openxmlformats.org/drawingml/2006/main">
            <a:r>
              <a:t>- smartcourse/services/history.py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request contract. Explain that the API validates model names and empty preferences, then delegates. Mention the 400, 404, 503, and 500 error paths if asked.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smartcourse/api.py</a:t>
            </a:r>
          </a:p>
          <a:p xmlns:a="http://schemas.openxmlformats.org/drawingml/2006/main">
            <a:r>
              <a:t>- smartcourse/services/recommendation.py</a:t>
            </a:r>
          </a:p>
          <a:p xmlns:a="http://schemas.openxmlformats.org/drawingml/2006/main">
            <a:r>
              <a:t>- smartcourse/services/history.py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screenshots to anchor the explanation in the actual product. Point out the natural-language input, model selector, score bar, course metadata, and Save button.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Captured from the local Flask app at http://127.0.0.1:5000/</a:t>
            </a:r>
          </a:p>
          <a:p xmlns:a="http://schemas.openxmlformats.org/drawingml/2006/main">
            <a:r>
              <a:t>- templates/home.html</a:t>
            </a:r>
          </a:p>
          <a:p xmlns:a="http://schemas.openxmlformats.org/drawingml/2006/main">
            <a:r>
              <a:t>- templates/recommend.html</a:t>
            </a:r>
          </a:p>
          <a:p xmlns:a="http://schemas.openxmlformats.org/drawingml/2006/main">
            <a:r>
              <a:t>- static/js/main.js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to the selected search session on the left, the saved recommendation on the right, and the side-by-side comparison below. This is where SQLite persistence becomes visible to the learner.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Captured from the local Flask app at http://127.0.0.1:5000/dashboard</a:t>
            </a:r>
          </a:p>
          <a:p xmlns:a="http://schemas.openxmlformats.org/drawingml/2006/main">
            <a:r>
              <a:t>- templates/dashboard.html</a:t>
            </a:r>
          </a:p>
          <a:p xmlns:a="http://schemas.openxmlformats.org/drawingml/2006/main">
            <a:r>
              <a:t>- smartcourse/models/db_models.py</a:t>
            </a:r>
          </a:p>
          <a:p xmlns:a="http://schemas.openxmlformats.org/drawingml/2006/main">
            <a:r>
              <a:t>- static/js/main.js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persistence is part of the product, not an afterthought. One SearchSession can have many SavedRecommendation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smartcourse/models/db_models.py</a:t>
            </a:r>
          </a:p>
          <a:p xmlns:a="http://schemas.openxmlformats.org/drawingml/2006/main">
            <a:r>
              <a:t>- smartcourse/services/history.py</a:t>
            </a:r>
          </a:p>
          <a:p xmlns:a="http://schemas.openxmlformats.org/drawingml/2006/main">
            <a:r>
              <a:t>- templates/dashboard.html</a:t>
            </a:r>
          </a:p>
          <a:p xmlns:a="http://schemas.openxmlformats.org/drawingml/2006/main">
            <a:r>
              <a:t>- static/js/main.js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invent metric values during the viva. Explain the definitions and the evaluation procedure. If asked for results, show the output after running the script in the correct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scripts/evaluate_models.py</a:t>
            </a:r>
          </a:p>
          <a:p xmlns:a="http://schemas.openxmlformats.org/drawingml/2006/main">
            <a:r>
              <a:t>- data/evaluation_queries.json</a:t>
            </a:r>
          </a:p>
          <a:p xmlns:a="http://schemas.openxmlformats.org/drawingml/2006/main">
            <a:r>
              <a:t>- project-documents/SmartCourse_FYP_Viva_Guide.pdf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as concise answers. Always describe the current prototype honestly, then connect the limitation to a concrete future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smartcourse/models/tfidf_model.py</a:t>
            </a:r>
          </a:p>
          <a:p xmlns:a="http://schemas.openxmlformats.org/drawingml/2006/main">
            <a:r>
              <a:t>- smartcourse/models/neural_model.py</a:t>
            </a:r>
          </a:p>
          <a:p xmlns:a="http://schemas.openxmlformats.org/drawingml/2006/main">
            <a:r>
              <a:t>- smartcourse/services/recommendation.py</a:t>
            </a:r>
          </a:p>
          <a:p xmlns:a="http://schemas.openxmlformats.org/drawingml/2006/main">
            <a:r>
              <a:t>- smartcourse/config.py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presenter checklist. Keep the demo under control: one query, one saved course, one dashboard view. If a model is slow to load, explain lazy loading and precomputed artifacts.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templates/recommend.html</a:t>
            </a:r>
          </a:p>
          <a:p xmlns:a="http://schemas.openxmlformats.org/drawingml/2006/main">
            <a:r>
              <a:t>- templates/dashboard.html</a:t>
            </a:r>
          </a:p>
          <a:p xmlns:a="http://schemas.openxmlformats.org/drawingml/2006/main">
            <a:r>
              <a:t>- static/js/main.js</a:t>
            </a:r>
          </a:p>
          <a:p xmlns:a="http://schemas.openxmlformats.org/drawingml/2006/main">
            <a:r>
              <a:t>- smartcourse/api.py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restating the system in one sentence, then invite questions. If the first question is technical, return to the separation between data preparation, model ranking, API orchestration, and persistence.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project-documents/FinalDeliverables_F25PROJECTEC4D8/2-FinalReport_SmartCourse_F25PROJECTEC4D8.docx</a:t>
            </a:r>
          </a:p>
          <a:p xmlns:a="http://schemas.openxmlformats.org/drawingml/2006/main">
            <a:r>
              <a:t>- project-documents/FinalDeliverables_F25PROJECTEC4D8/3-FinalPresentation_SmartCourse_F25PROJECTEC4D8.pptx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7eb420d80b48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539e0155784426" /><Relationship Type="http://schemas.openxmlformats.org/officeDocument/2006/relationships/slideLayout" Target="/ppt/slideLayouts/slideLayout1.xml" Id="Rbf2ad196675a45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2ad196675a45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fc9149610a40cf" /><Relationship Type="http://schemas.openxmlformats.org/officeDocument/2006/relationships/notesSlide" Target="/ppt/notesSlides/notesSlide1.xml" Id="R2f446b29e9b043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c210012964904" /><Relationship Type="http://schemas.openxmlformats.org/officeDocument/2006/relationships/notesSlide" Target="/ppt/notesSlides/notesSlide2.xml" Id="R2c4252015e7342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f58ac8a5f4173" /><Relationship Type="http://schemas.openxmlformats.org/officeDocument/2006/relationships/notesSlide" Target="/ppt/notesSlides/notesSlide3.xml" Id="R66409f6b3c3440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3ec5b3889478d" /><Relationship Type="http://schemas.openxmlformats.org/officeDocument/2006/relationships/notesSlide" Target="/ppt/notesSlides/notesSlide4.xml" Id="R095b3b4c6f7740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ff3ea04dc451a" /><Relationship Type="http://schemas.openxmlformats.org/officeDocument/2006/relationships/notesSlide" Target="/ppt/notesSlides/notesSlide5.xml" Id="R859a845586aa4b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9941881834fd0" /><Relationship Type="http://schemas.openxmlformats.org/officeDocument/2006/relationships/notesSlide" Target="/ppt/notesSlides/notesSlide6.xml" Id="R4f974a4733044d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18a993cd9493c" /><Relationship Type="http://schemas.openxmlformats.org/officeDocument/2006/relationships/notesSlide" Target="/ppt/notesSlides/notesSlide7.xml" Id="R84cbd56010324d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668b8ff0a4c54" /><Relationship Type="http://schemas.openxmlformats.org/officeDocument/2006/relationships/image" Target="/ppt/media/image.png" Id="R0d00dcc76c574810" /><Relationship Type="http://schemas.openxmlformats.org/officeDocument/2006/relationships/image" Target="/ppt/media/image2.png" Id="R13b325b3d1dc420c" /><Relationship Type="http://schemas.openxmlformats.org/officeDocument/2006/relationships/notesSlide" Target="/ppt/notesSlides/notesSlide8.xml" Id="Rac980b0c9b3646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11f2af1ce4991" /><Relationship Type="http://schemas.openxmlformats.org/officeDocument/2006/relationships/image" Target="/ppt/media/image3.png" Id="R2f7fbd841ee64174" /><Relationship Type="http://schemas.openxmlformats.org/officeDocument/2006/relationships/notesSlide" Target="/ppt/notesSlides/notesSlide9.xml" Id="Re0410e620e774e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9adf6d0d74d17" /><Relationship Type="http://schemas.openxmlformats.org/officeDocument/2006/relationships/notesSlide" Target="/ppt/notesSlides/notesSlide10.xml" Id="R99cfd2c14b304c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afedf22074d8a" /><Relationship Type="http://schemas.openxmlformats.org/officeDocument/2006/relationships/notesSlide" Target="/ppt/notesSlides/notesSlide11.xml" Id="R3d9f8aed53b44b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e905980154955" /><Relationship Type="http://schemas.openxmlformats.org/officeDocument/2006/relationships/notesSlide" Target="/ppt/notesSlides/notesSlide12.xml" Id="R97458d3815704b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fa8e30d6d4177" /><Relationship Type="http://schemas.openxmlformats.org/officeDocument/2006/relationships/notesSlide" Target="/ppt/notesSlides/notesSlide13.xml" Id="R8333cf00d91648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5697042714872" /><Relationship Type="http://schemas.openxmlformats.org/officeDocument/2006/relationships/notesSlide" Target="/ppt/notesSlides/notesSlide14.xml" Id="R6c0518f766f74fca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8111F"/>
            </a:gs>
            <a:gs pos="58000">
              <a:srgbClr val="0B1D32"/>
            </a:gs>
            <a:gs pos="100000">
              <a:srgbClr val="101A2B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28C419-87A7-496A-A0BD-41EDE05F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70A91-7B93-4BC1-ACD2-BA2E000D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SMARTCOURSE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140ED8-78B1-4662-8E54-95715ED9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AI-POWERED COURSE</a:t>
            </a:r>
          </a:p>
          <a:p xmlns:a="http://schemas.openxmlformats.org/drawingml/2006/main">
            <a:pPr algn="l">
              <a:defRPr sz="39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RECOMMENDATION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F3437-4389-42C1-89E6-BCD66DFF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A viva-ready look at the problem, the models, and the product 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7A8D4-484C-4BCE-B485-18697BEA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84004-1867-4EED-9CA2-51A5CC2A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Final Year Project Viva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7A084-EA3A-4AF1-8607-20668C23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20 August 2026  ·  3:45 PM</a:t>
            </a:r>
          </a:p>
          <a:p xmlns:a="http://schemas.openxmlformats.org/drawingml/2006/main">
            <a:pPr algn="l"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Peshawar Institute VU Campus  ·  Board Bazar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325B0-5653-4FE6-B9E3-20112D64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839A"/>
                </a:solidFill>
                <a:latin typeface="Aptos"/>
                <a:ea typeface="Aptos"/>
                <a:cs typeface="Aptos"/>
              </a:rPr>
              <a:t>Group ID  F25PROJECTEC4D8   |   Roll No  BC240419615</a:t>
            </a:r>
          </a:p>
          <a:p xmlns:a="http://schemas.openxmlformats.org/drawingml/2006/main">
            <a:pPr algn="l">
              <a:defRPr sz="1050" b="0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839A"/>
                </a:solidFill>
                <a:latin typeface="Aptos"/>
                <a:ea typeface="Aptos"/>
                <a:cs typeface="Aptos"/>
              </a:rPr>
              <a:t>Supervisor  Muhammad Bilal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EEBEF-4CBF-46E6-B93F-22BED7D2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4F456-9DE7-44E3-9A16-8B3B181C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285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DEB98-D6F9-489C-8D33-FAC72307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09950"/>
            <a:ext cx="1171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8F54C-0CEA-4D68-8480-95239D6A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09950"/>
            <a:ext cx="1171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13FF1-1467-4CB0-BE2B-A1733ABB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B45"/>
          </a:solidFill>
          <a:ln xmlns:a="http://schemas.openxmlformats.org/drawingml/2006/main" w="19050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5ABA4-01BC-47D3-8075-F8075F65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2412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NLP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E1CFB-C898-4BB3-80C7-6C911459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81350"/>
            <a:ext cx="16573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1A53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E595F-882F-46A6-9D86-E6384B01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242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TF-IDF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DD51D-96F1-4BCF-86A3-70219ECF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004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keyword lens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F0116C-38B6-457E-B0D7-8410ABA5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81350"/>
            <a:ext cx="16573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405C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FCB7E-D128-4E41-8542-7EBD43F1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242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NEURAL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85DEC-D7F3-4B60-B417-523F2BBA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00450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meaning lens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1674B-4C1C-4B3A-B771-1B5D5B33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53000"/>
            <a:ext cx="2133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941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30169C-29A6-4258-B635-43B23704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054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rank  →  compare  →  save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5BA4AE-9108-4974-B449-66E665FD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FYP VIVA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D463C0-5E16-462D-9823-DA60BF21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355956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D36DDE56-AB2B-4D6C-917D-E0546F75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01 / THE PROBLEM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2699E44-45B9-484A-95CF-34F7803A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The challenge is not a lack of courses — it is finding the right ones.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49DFD5D-81B4-472A-BC25-828FD6CA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Manual browsing is slow, while exact keyword search can miss the learner's intent.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67614-080E-46E1-8E34-DF28B09D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2C925-8E5C-43F3-8BF0-42A0BA87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 learner may know the outcome they want, but not the exact course title or vocabulary used by the catalog.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6B932-B336-42DF-BF5E-09275F26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419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SmartCourse starts with the learner's own words and turns them into a ranked, inspectable set of options.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5BDA0-DE02-45AD-AF40-088357C9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LEARNER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C0D2A-ADE8-4514-B729-81E01391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3434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0A577-AA59-4D47-B312-4F26D083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“I want to learn Python</a:t>
            </a:r>
          </a:p>
          <a:p xmlns:a="http://schemas.openxmlformats.org/drawingml/2006/main">
            <a:pPr algn="l">
              <a:defRPr sz="16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for data science.”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38B38-0983-404C-AE4F-6C5C3DAA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907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5C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WHY SEARCH BREAKS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DF535-F68C-497E-8677-9D3E6F58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24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50D6D-18EA-4946-AAC8-1D3DA420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Vocabulary mismatch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11C8A-2A46-4DAA-82D6-E210148D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480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The course may say “predictive modeling” while the learner says “data science.”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6A614-C056-42D6-9193-5CA0B2E5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623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59845-C231-4C69-B80A-C0E4578D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528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4E6A5-2F96-4D82-9FF5-F59AEFC7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528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Catalog 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D3F6E-3D2D-400D-B7B2-A86C8371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767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Thousands of records make manual comparison expensive.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464C6-67B9-46C3-9471-396BD139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91050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A7C09-9528-44C8-88FA-82623E02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815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9E5070-CCD7-4945-A5E6-1D95F747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815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Trust and choice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7AC1E0-09CD-4E9A-9391-A9549381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054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The learner needs relevance signals and a way to compare rankings.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9DEA55-82B5-488C-A1FC-E446A324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FYP VIVA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525D95-F28E-47A0-A0C5-24C8E736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61839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9275B23A-8E53-48A2-8D7F-D4B246D7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02 / THE SOLUTION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C05B72-2E6F-4B02-BE22-C25CAAC9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SmartCourse turns one sentence into a learning path.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A9BC14C-BE1E-4C21-9681-49E530B6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The product keeps ranking explainable: every result includes a course, a score, and enough context to judge the match.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B7971-7E5D-48B6-AFC2-C4B2B78E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3D7BA-46D7-4F71-9A7D-14F59EAA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NATURAL-LANGUAGE GOAL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2A01A-0C4E-4B0A-B193-D0B4C420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952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B0A47-9ED2-4F29-AABF-4488997A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9082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learn Python</a:t>
            </a:r>
          </a:p>
          <a:p xmlns:a="http://schemas.openxmlformats.org/drawingml/2006/main">
            <a:pPr algn="l">
              <a:defRPr sz="19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for data science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93B5B-16AC-48DE-B584-60429499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33700"/>
            <a:ext cx="10668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D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CFA14-D2DC-4529-A860-47AD86CB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09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RANKING ENGINES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706BC-C752-4786-BB3B-3C496ECA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90800"/>
            <a:ext cx="20383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E8466-BB15-41CB-9FE7-811CF889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432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TF-IDF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C0B7B-09EB-4AE6-B646-4FC2C92E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67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precise keyword alignment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2AD36-3CE9-4AC5-AEB5-92C9F88D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20383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B9F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F9EA1-1972-4623-8C93-D27CA5AC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432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Neural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8C9FD3-AEFB-40EE-89E0-4373F79A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67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semantic similarity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05AD3-8143-4DF0-82D9-2A381B44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33700"/>
            <a:ext cx="9144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9F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DABD2-140D-45BC-A83F-1FC6D492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098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RANKED 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0268DC-83B6-477B-AD3F-596219FE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38600"/>
            <a:ext cx="17907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CD936-B856-4F95-AD23-F64B229D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481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Course match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D47A3C-7A9E-4385-B0E0-A48F3E8A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57200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score  0.91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5DDA4-C7BD-43F2-B0CD-DA744FD2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5300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title · level · rating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C31DE0-C784-4DA5-8878-D8624051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385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DFB0AA-E1B4-4268-9044-523ADEFF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3860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7801F5-27A2-48FE-9F00-4B4D0E3E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6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The learner can inspect, compare, save, and revisit — not just receive a black-box answer.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4BCC54-1590-4041-B57F-086B17F3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That combination of relevance + traceability is the product's core value.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D46BAD-12FF-47CC-8263-0D2F750B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FYP VIVA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DDF326-B017-4A2C-899F-0BBDDC0D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965159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28B5EAB3-954F-41F0-915F-C96B955D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03 / THE AI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DCF26BF-9E09-4EC5-94C2-C106805F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Two models answer two different questions.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AFD43DC-ADF8-4E8F-9216-555EB4CD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TF-IDF asks “which courses use similar words?” Neural search asks “which courses express a similar meaning?”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84790-B296-441D-94AC-1BB3F52C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C69C4-7186-4FA2-AE79-F52ED4AC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054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1A53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DE1ED-B407-4106-A278-7CC23DA6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KEYWORD LENS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4EEE9-D804-4815-A6BD-62511B83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TF-IDF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44D66-909E-4A9E-8115-6F21BC28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Best when exact terms matter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A09AD-9C59-4C77-82A2-A2171E02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• spaCy cleans and lemmatizes the text</a:t>
            </a:r>
          </a:p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• Unigrams + bigrams build the vector space</a:t>
            </a:r>
          </a:p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• Cosine similarity ranks the catalog</a:t>
            </a:r>
          </a:p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• Fast, transparent, easy to explain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A14CA-180B-428D-9521-02785467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“Python”, “SQL”, “cloud”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5F52A-756D-4F04-A021-0B9BFE6D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09800"/>
            <a:ext cx="51054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405C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D08E0-6B02-4844-9FC4-EAE40EE3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14600"/>
            <a:ext cx="14668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5C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MEANING LENS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B29FC-E2E3-4FA1-9F40-9E719082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289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NEURAL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A114B-CDC8-4A86-A447-F7A48E00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62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Best when intent is implicit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85255-9606-4E82-AACD-1B3A6C15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386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• MiniLM converts text into embeddings</a:t>
            </a:r>
          </a:p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• Course embeddings are precomputed</a:t>
            </a:r>
          </a:p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• Query embedding is compared at runtime</a:t>
            </a:r>
          </a:p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• Related wording can still match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70220A-79E2-4177-AF99-56A15324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101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“predictive modeling” ≈ “machine learning”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00B5C-9442-4F3D-93B7-227B9C79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7B5202-79F3-466D-B6D1-4F23ADB0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Hybrid mode in this prototype = both ranked lists shown side by side.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DBD5FF-5804-4533-A59E-6F39BB11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FYP VIVA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D40193-B0F3-4F23-974D-3C606A9D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551096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">
            <a:extLst xmlns:a="http://schemas.openxmlformats.org/drawingml/2006/main">
              <a:ext uri="{FF2B5EF4-FFF2-40B4-BE49-F238E27FC236}">
                <a16:creationId xmlns:a16="http://schemas.microsoft.com/office/drawing/2014/main" id="{843A1A00-8408-4832-8B99-BCCAAA39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04 / THE PIPELINE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535D0CA-968B-4DC6-9671-1A828050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The expensive work happens offline; the user query stays lightweight.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5B7467E-3C6E-41CE-B3DC-E87F763B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Cleaning and embedding the catalog creates reusable artifacts that the Flask app loads when needed.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FDBF7-6D76-4C59-AE0A-C69D4F50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FC96C-65F9-4837-A259-D1E88715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809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53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OFFLINE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7BB33-EC78-45E9-AB93-746B541E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718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8602B-663F-42B0-BBDB-83FD61B7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095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CDEE1-A4E4-4439-9F94-FEFAB94B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16FF1-46EB-4264-AF0E-AC78C2B4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99D2E-AE42-4CD9-82EF-2E136462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raw CSV</a:t>
            </a:r>
          </a:p>
          <a:p xmlns:a="http://schemas.openxmlformats.org/drawingml/2006/main">
            <a:pPr algn="l"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8,500+ courses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6C56F-E063-4CF7-9590-22308068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718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8F2458-EE04-4804-AB00-40E8CF49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38450"/>
            <a:ext cx="2095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13E5A-3FBE-4F92-9DBE-1138B297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28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C49A9-56A7-4FD8-93BC-0FAC7DC3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95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3E871-DB43-4209-AB6F-03300820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76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dedupe · fill</a:t>
            </a:r>
          </a:p>
          <a:p xmlns:a="http://schemas.openxmlformats.org/drawingml/2006/main">
            <a:pPr algn="l"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normalize 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9B298-B0FA-41E2-AB23-6FCF5474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718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EAC272-56F5-4F1E-9C4C-0B59DCF2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38450"/>
            <a:ext cx="2095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B9F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E1FEE-7FA9-4C16-B90B-F2ACC69F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8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E13B8B-B47E-457D-95D9-8DB3E1FA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95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EF9F7B-4D6F-4BB9-800E-D44705A0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76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TF-IDF matrix</a:t>
            </a:r>
          </a:p>
          <a:p xmlns:a="http://schemas.openxmlformats.org/drawingml/2006/main">
            <a:pPr algn="l"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Neural embeddings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62037-EF79-49BB-B4EE-AC608C19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38450"/>
            <a:ext cx="2095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B9F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CEDF0F-4A4C-4DDF-A2FD-F492526F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289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32E419-75FD-41AE-AB57-B92F6273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95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9B96B9-09DE-491F-B8EE-6A8E0A8C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76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joblib files</a:t>
            </a:r>
          </a:p>
          <a:p xmlns:a="http://schemas.openxmlformats.org/drawingml/2006/main">
            <a:pPr algn="l"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ready to load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E33659-105F-4548-BAB1-659427DF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A1E9B0-41B5-466C-B76C-7DEA466D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276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5C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ONLINE QUERY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A2C89E-BD2E-4EC6-9385-C7C174E2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1816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Load model → encode query → calculate similarity → return Top-N → persist session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A141F2-0095-47EB-B36A-3074041C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839A"/>
                </a:solidFill>
                <a:latin typeface="Aptos"/>
                <a:ea typeface="Aptos"/>
                <a:cs typeface="Aptos"/>
              </a:rPr>
              <a:t>Saved artifacts: models/tfidf_recommender.joblib and models/neural_recommender.joblib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2D4CDC-C639-418B-9241-3F442671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FYP VIVA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DC4750-7280-4F03-BC1C-7F7D1F50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93294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kicker">
            <a:extLst xmlns:a="http://schemas.openxmlformats.org/drawingml/2006/main">
              <a:ext uri="{FF2B5EF4-FFF2-40B4-BE49-F238E27FC236}">
                <a16:creationId xmlns:a16="http://schemas.microsoft.com/office/drawing/2014/main" id="{0D03C212-9145-4CB2-BFA9-FC8D124C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05 / THE ARCHITECTURE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129FAEE-974E-4FE0-AD42-3B85E9F8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Three tiers keep the system understandable.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CCCCFAC-48D8-40AC-8ADE-EBF33EAC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The Flask application factory wires the UI, services, persistence, and model artifacts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EC34D-C5CC-47B1-8020-539A40E1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D01B6-3666-49A0-9F0D-CE16E6BD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972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8171C-A3BF-443F-B17A-92EA47B0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PRESENTATION TIER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03D1B-0CB3-494B-891F-7DD062DC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Bootstrap + Jinja pages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EA537-3CE3-472B-AD38-52F8B060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1935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5601D-453A-4F27-9F1A-DC095091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90B98-3692-4DA3-AF1A-810C04A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1935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26011-8285-467F-BB5B-C61BDCD8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336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Recommendations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ED3D7-0BCE-44EC-B53E-C39C9B2A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1935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BAA3A-0E71-4535-97A6-5311BE1C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336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377E5-380D-497A-A74B-CECBC32D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1935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1D9C0-C62B-4C3E-8BF3-1A1AB69E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336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About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041A6B-5B78-4330-97FD-F8118D15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972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42B45"/>
          </a:solidFill>
          <a:ln xmlns:a="http://schemas.openxmlformats.org/drawingml/2006/main" w="9525">
            <a:solidFill>
              <a:srgbClr val="8E7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EFBBC-F47F-4E74-879F-0B731241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E7C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E7CFF"/>
                </a:solidFill>
                <a:latin typeface="Aptos"/>
                <a:ea typeface="Aptos"/>
                <a:cs typeface="Aptos"/>
              </a:rPr>
              <a:t>APPLICATION TIER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A6DA47-FDF1-4CF7-BF87-A785F308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Flask controllers + 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1DE8F1-F565-420B-867B-72E4514F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3380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BE8AF1-B1FC-476D-9DEE-D6A5DA1C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481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API blueprint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A33BA3-987D-45C0-BFE5-A3A69F8E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3380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59A347-3903-40D8-8857-702C8B35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481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Recommend service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E6ECF6-D010-49FC-BB6C-96837223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3380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659A9C-6EC8-42C2-8798-17C1BA3C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481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HistoryService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0A3B58-7439-4404-922B-78ADC7E3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3380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255208-1F7E-4ED1-846D-3DC8EE38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4810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Logging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EF76C9-37F0-4386-9B2E-2F871CBE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B9F36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B62B97-C4D8-46A6-8491-12F3458F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DATA / MODEL TIER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947812-E124-46F0-93C4-F103AF9C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89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Persistent data + trained artifacts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50C2A8-2943-4C5A-B737-FA89D521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4825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C15679-6AA0-4A39-A0C2-3A26E8EF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625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7458E1-A943-476C-B731-3D5FB755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4825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1CDE17-767F-4C7A-B8A1-637DA012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625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CSV catalog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8CEEE7-A1A6-43C0-A17E-A5B69F42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4825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F420C9-EA4E-4260-B36F-A40A12E3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1625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TF-IDF artifact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B4D6D4-CD99-4014-830A-CA10AD70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48250"/>
            <a:ext cx="1600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E2C83E-4831-4C3F-B457-A1631F02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162550"/>
            <a:ext cx="140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Neural artifact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3172E0-900C-49FF-B256-7A2E47A4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839A"/>
                </a:solidFill>
                <a:latin typeface="Aptos"/>
                <a:ea typeface="Aptos"/>
                <a:cs typeface="Aptos"/>
              </a:rPr>
              <a:t>Cross-cutting concerns: configuration · validation · CORS · error handling · rotating logs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17F41E-0E5C-43AA-82D0-6093DCB0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FYP VIVA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1627A0-C6CC-439E-8902-A5BE54A7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877582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E7432DC9-67F8-4916-9ADA-B9555C1B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06 / THE API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A31835C-C613-417D-AE13-A081421B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JSON endpoints keep browser and ranking logic loosely coupled.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97142B0-8CB8-49D1-802B-1AF4C77C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This keeps the frontend replaceable and makes the recommendation workflow testable outside the UI.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1F0CB-9265-441F-A067-52DAD9ED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D4B822-B271-4D9B-AA10-25273030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76250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7101B"/>
          </a:solidFill>
          <a:ln xmlns:a="http://schemas.openxmlformats.org/drawingml/2006/main" w="9525">
            <a:solidFill>
              <a:srgbClr val="1830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B53A6-4640-4930-AADA-7BDDA002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D9EE"/>
                </a:solidFill>
                <a:latin typeface="Courier New"/>
                <a:ea typeface="Courier New"/>
                <a:cs typeface="Courier New"/>
              </a:defRPr>
            </a:pPr>
            <a:r>
              <a:rPr sz="1650" b="1">
                <a:solidFill>
                  <a:srgbClr val="2BD9EE"/>
                </a:solidFill>
                <a:latin typeface="Courier New"/>
                <a:ea typeface="Courier New"/>
                <a:cs typeface="Courier New"/>
              </a:rPr>
              <a:t>POST  /api/recommend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C970EA-4834-43E0-80D4-4FE551A1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3905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{</a:t>
            </a:r>
          </a:p>
          <a:p xmlns:a="http://schemas.openxmlformats.org/drawingml/2006/main">
            <a:pPr algn="l">
              <a:defRPr sz="1425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  "preference": "Python for data science",</a:t>
            </a:r>
          </a:p>
          <a:p xmlns:a="http://schemas.openxmlformats.org/drawingml/2006/main">
            <a:pPr algn="l">
              <a:defRPr sz="1425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  "model": "hybrid",</a:t>
            </a:r>
          </a:p>
          <a:p xmlns:a="http://schemas.openxmlformats.org/drawingml/2006/main">
            <a:pPr algn="l">
              <a:defRPr sz="1425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  "top_n": 10</a:t>
            </a:r>
          </a:p>
          <a:p xmlns:a="http://schemas.openxmlformats.org/drawingml/2006/main">
            <a:pPr algn="l">
              <a:defRPr sz="1425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F5372-C64E-4CF9-A49D-AA31B48A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F36D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B9F36D"/>
                </a:solidFill>
                <a:latin typeface="Courier New"/>
                <a:ea typeface="Courier New"/>
                <a:cs typeface="Courier New"/>
              </a:rPr>
              <a:t>→ response: results + session_id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B7472-5CEA-423B-B541-D11C406E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E89BC-FC5C-4D0A-81B7-874CBF93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D12D9-5D7D-4ABB-A571-D27CDF7C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479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/api/recommend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5AE09-637F-4D4F-847B-C18CA5A7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47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validate → rank → persist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1B3B5-0F84-4508-BC36-B2534AA1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1A50F-11FD-4352-9055-E6F5522C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94844-C454-49BB-9867-807463FD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956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/api/history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76853-6F8C-4177-ADFF-C9A54677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95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history + saved results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319AA-21E4-4EEC-978F-E3310758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79AB4-E694-4070-A657-B309C820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433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7D7CE4-A0EE-4729-B4C6-6AD9AD21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433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/api/save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C0A042-CB2D-4F17-B5E4-15C6FE42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43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bookmark a course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CBE8F5-E97F-4447-A692-DFA820DE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DF7B2C-9C84-4293-A418-48E34A2F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DELETE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D6C1A0-1369-43B5-8EC3-D52AE3F6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91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/api/history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2BBC70-8AA4-4796-B32E-58D166D2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910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clear sessions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DF7298-7CBE-4F28-BC51-68AB5CE3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768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6FE851-DAAC-482E-B3BB-8BD283D1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387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DELETE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277433-BB2E-42A0-A28B-B4CA792C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38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/api/saved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446CF5-52D1-46B3-829F-8D2C63CE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38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clear bookmarks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4023FC-BDBA-431F-88C4-77854D76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19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58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Validation lives at the boundary; ranking and persistence live in services.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E23208-3C55-41FD-B89F-B8A108B7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FYP VIVA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4244E2-D4C7-46DF-8AA7-8038ED63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856875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7997EB7F-87D0-4D1F-A083-F14EE579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07 / LIVE OPERATION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7DE2D4F-B52E-4F8D-93DE-2F444BFC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The running app makes the recommendation workflow visible.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02991E0-8E51-40B3-9F84-41700E90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These screenshots were captured from the local Flask application using the project’s real Home and Recommendations pages.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16ECF-6B3A-4DAC-86D7-486BA10B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33319-1CF8-46A8-B996-B0203806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086350" cy="369570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1A53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0dcc76c574810"/>
          <a:srcRect xmlns:a="http://schemas.openxmlformats.org/drawingml/2006/main" l="111" t="0" r="1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247900"/>
            <a:ext cx="4819650" cy="308610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BC748-32BC-48BE-97B5-33855111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86400"/>
            <a:ext cx="481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HOME  /  value proposition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E469B7-64B1-4A1D-9421-31A5441C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14550"/>
            <a:ext cx="5600700" cy="369570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405C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325b3d1dc420c"/>
          <a:srcRect xmlns:a="http://schemas.openxmlformats.org/drawingml/2006/main" l="0" t="4720" r="0" b="47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2247900"/>
            <a:ext cx="5334000" cy="308610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89BA6-B505-47D6-88E8-2E5B63CC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864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RECOMMENDATIONS  /  live TF-IDF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888FF-BA73-4DAA-B9AA-1771306B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FYP VIVA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944E6-FC5A-4D2E-912A-2427A8DB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033695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EB588A19-7BAB-4293-9F0C-54BFEC5B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08 / LIVE OPERATION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286914-E39A-4C0F-A9A0-A47E010C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The dashboard preserves the learner trail after a search.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5C92963-F011-490F-A2FF-07A939C1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The captured state shows search history, saved recommendations, and the model-comparison area working together.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C3125-0A8A-4893-97F1-75E788B9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5ECFE-09B7-45E0-8F51-3C1CDBEC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94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fbd841ee64174"/>
          <a:srcRect xmlns:a="http://schemas.openxmlformats.org/drawingml/2006/main" l="0" t="22010" r="0" b="220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228850"/>
            <a:ext cx="10706100" cy="3829050"/>
          </a:xfrm>
          <a:prstGeom xmlns:a="http://schemas.openxmlformats.org/drawingml/2006/main" prst="roundRect">
            <a:avLst>
              <a:gd name="adj" fmla="val 398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1B324-A12D-4804-B707-280CBAD8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864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DASHBOARD  /  persistence + 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2ABED-F74B-4A70-A54A-A295EBC0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FYP VIVA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CF63C-86AB-41BB-BE41-CBF3A3A6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360750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2E5F2AF-F9CD-48DA-A725-E326F98F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09 / THE LEARNER LOOP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5EBCFA3-B9D4-4400-999A-7A63E39B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 one-time search becomes a reusable learning trail.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095C3BF-9211-426D-8380-2218182C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Every search becomes a session; promising courses can be saved and the two ranking perspectives can be compared later.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FFEE7-6AFB-4052-B3DF-2EB0820E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33214-6757-4180-A35C-F58CFA4F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76600"/>
            <a:ext cx="923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47824-9679-401C-8365-198A2914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D9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2536A-0445-4172-8395-74CC19A0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AE798-0224-4964-86F3-BDF2523A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The query and both result lists are stored.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54171-02D9-436B-9931-C0EEE085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7C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A9F55-97F6-451E-92B0-6A946D5F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4C6101-6B94-4218-BB06-63B1C679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1480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TF-IDF and Neural results stay visible side by side.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68F9C-9B0C-42CC-8A9F-DBFC6BF2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3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E5F76D-6283-4360-A456-4BD6BEFB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3338E-1CA3-4FFA-A75D-C7FCB507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1480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A selected course is linked to its search session.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770530-42EF-4C5F-B0F9-CC0C3123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358EF-B67F-42D5-BD25-A7E6C11B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Revisit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86BF3-6DCD-450E-9F98-CB4788A0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114800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The dashboard makes prior decisions easy to inspect.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79B5F-061D-4186-812D-EBDC1508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941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B96C7E-5ECA-446A-B274-65CC4F49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SQLite tables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F74DE2-2684-4C2B-BBC1-CBF080D7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67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search_sessions  ↔  saved_recommendations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C9028-813B-492E-8041-0C5DADBD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864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JSON keeps rich course metadata portable.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1B424E-B81B-4641-AF8E-0D8CE773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FYP VIVA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3D028A-5457-4EE9-A771-B05F9F40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052099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">
            <a:extLst xmlns:a="http://schemas.openxmlformats.org/drawingml/2006/main">
              <a:ext uri="{FF2B5EF4-FFF2-40B4-BE49-F238E27FC236}">
                <a16:creationId xmlns:a16="http://schemas.microsoft.com/office/drawing/2014/main" id="{F14E11C3-A826-4073-96AA-055BFF15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10 / EVALUATION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1AEF699-C7C5-4C74-90D1-E435D704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The project measures ranking quality — not just screen polish.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489E9FF-7BBA-4EC9-A231-FA648BD0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Evaluation tooling compares how useful the top of each ranking is for predefined queries and relevance labels.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9DC62-32E1-4845-A57E-64B6BDFD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1F767-7216-4FDA-85E3-C532A427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D9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026A3-9A10-468B-9168-17D4193F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Precision@K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0715D-8505-4A9F-A123-A6754816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Of the top K courses, how many are relevant?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812D7-82AB-459D-9F62-5902575D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61740-685B-4C5F-BE78-B6CBA784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33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Recall@K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F9067-ACBA-49A0-BCAF-9A408DCE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337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Of all known relevant courses, how many appear in the top K?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96F4C-6204-421A-8BB9-878F7D0B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39BBE-C272-45CB-844B-87C25506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Hit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5923D-4697-489D-970E-D691B232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337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Did the top K contain at least one relevant course?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7A0B8-3F81-4D62-873B-32EFF6E5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75356-9E60-4378-BFE7-42BA71FB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How the evaluation is run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FAE8B1-9B11-4BDE-A2C1-D5E972CF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D9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E5970-97C4-40D8-BF7E-23A27000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72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04541-64EA-4899-8CB4-B4BAA9B7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7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evaluation_queries.json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AB30F-7415-40AF-9E28-6121FCA4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72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D9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043B12-9B97-4389-ABE1-6C61A008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72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Rank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5EA173-EC9C-4561-8CE3-CF318A80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57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TF-IDF and Neural @ 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B576C2-A777-4621-86B7-92EABE59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72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D9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6E695-7713-493C-A7B6-99F6E884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72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F60F37-1980-4ED8-AEF1-58748FBD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57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titles against labels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C3FF07-7B36-4E84-A49B-CA1C3503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72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11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F3ACED-CE7F-49DE-B83E-E8250BFD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720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1678FB-3386-47A0-B464-68F7EF0A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57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average metrics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427C5E-AB57-4BE3-9AE7-A9913543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839A"/>
                </a:solidFill>
                <a:latin typeface="Aptos"/>
                <a:ea typeface="Aptos"/>
                <a:cs typeface="Aptos"/>
              </a:rPr>
              <a:t>Honest scope note: the checked evaluation set is small, so metrics are a starting point—not a claim of universal quality.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79D4E5-915F-4A18-A7CA-440B06F6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FYP VIVA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8E8122-02D6-4B89-9A06-550DD960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972370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67A24C17-E720-44A5-87EC-158F66F8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11 / LIKELY VIVA QUESTIONS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AF88743-2CED-4D51-A906-18D7EF32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Answer with the current prototype, then name the next improvement.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88A9937-8328-47FF-A31D-3C57EE3F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Short, structured answers keep the discussion grounded in what the code actually does.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F48EE-341F-465A-B266-BF7ABF40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F2E51-6F5D-4FD6-B6A7-85DCB56E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2197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EB9E6-C70E-48E5-82A1-0413C058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Why TF-IDF?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98846-7978-4493-BC4B-3881D1BC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It is fast, transparent, and strong when exact technical terms matter.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D5DDE-404F-4F56-AC03-B36A30D7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52197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B9F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499DD-B6F6-4BE1-8ABA-4A7B29BF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Why sentence transformers?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F7359-B27E-4A7B-895E-059EA6C1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384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They capture semantic meaning, so related phrases can match without identical words.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684C7-5053-4D55-A823-9BAFC69B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2197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C0811-5350-469D-A40E-06B29AA1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What is cosine similarity?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A8DF6-DE32-43F7-A173-1DBFEA07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It compares vector direction; a higher value means a closer match in that representation.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D4945A-0A77-4CA6-86DE-FAE4D988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52197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B9F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3E2EC-6FAC-4D06-951B-F83A4CE7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Why Flask and SQLite?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D48C6-7798-42CF-8445-2090FC1D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Flask is lightweight for pages plus APIs; SQLite is file-based and enough for prototype persistence.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BF63C-ADC0-4A94-BF6A-652DEF22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2197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93B0FF-10C1-42E4-874D-F5FC59AC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What is Hybrid?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C82292-D3E2-4237-927B-AE21E119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720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Both models run and the ranked lists are shown side by side; scores are not fused.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C71863-EF66-4108-B659-FEC947D5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86250"/>
            <a:ext cx="52197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B9F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4C3557-DDE8-4C21-A9C1-B33E329C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What are the limits?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B061B-7333-455E-A641-21F5482F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720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5F8FC"/>
                </a:solidFill>
                <a:latin typeface="Aptos"/>
                <a:ea typeface="Aptos"/>
                <a:cs typeface="Aptos"/>
              </a:rPr>
              <a:t>Small evaluation data, no accounts or personalization yet, and prototype-level deployment.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38BB8D-5BA4-4EBB-AABD-C54D973E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42B45"/>
          </a:solidFill>
          <a:ln xmlns:a="http://schemas.openxmlformats.org/drawingml/2006/main" w="9525">
            <a:solidFill>
              <a:srgbClr val="2941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88A8FC-884A-4E60-A584-D70421E1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E801E6-7452-414C-8120-84970857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76900"/>
            <a:ext cx="828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Feedback-based re-ranking · weighted score fusion · larger labels · filters · production security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1468E4-0C3E-4758-90D5-C1C633E5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FYP VIVA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52777B-CF6D-4A44-B77C-CFE49E41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570863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3386980F-791D-4C94-AE19-55400E1F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12 / THE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51FBE8-36C8-4C88-8855-478370A1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The live story is simple: search → compare → save → revisit.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2F027B8-A90B-4EAB-A47B-E19410BE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A short, repeatable demo keeps the viva focused on the system's value and the engineering behind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46401A-17C2-4762-A71D-9286E58E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26B5A-1E98-4B06-9D2C-C9405A69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266950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24D7D-BE7D-4C88-852E-3CA6DB91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CC3FB-0833-4516-97E4-CADB419E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9EB5B-7539-47F0-9EFB-40126B59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Open Recommendations</a:t>
            </a:r>
          </a:p>
          <a:p xmlns:a="http://schemas.openxmlformats.org/drawingml/2006/main">
            <a:pPr algn="l"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Enter: Python for data science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6B5BE-6573-41C1-A0EF-DE81B787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33900"/>
            <a:ext cx="175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3F3CE-BFEE-44DA-A755-673F6172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839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F839A"/>
                </a:solidFill>
                <a:latin typeface="Courier New"/>
                <a:ea typeface="Courier New"/>
                <a:cs typeface="Courier New"/>
              </a:rPr>
              <a:t>UI →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A07E4-BE63-4459-B4D6-22590648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266950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8E7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EBA2F-0E94-4DB2-8891-AC2A0C04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E7C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E7C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668FD-42EB-406E-9DFD-90D87AF4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38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22452-8B61-432F-98D3-D05343EE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719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Select Hybrid</a:t>
            </a:r>
          </a:p>
          <a:p xmlns:a="http://schemas.openxmlformats.org/drawingml/2006/main">
            <a:pPr algn="l"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Explain both ranking lenses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173D4-5C9D-4F02-AFCF-26716100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33900"/>
            <a:ext cx="175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F9477-7891-4E66-BAEB-7A2934AC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52950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839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F839A"/>
                </a:solidFill>
                <a:latin typeface="Courier New"/>
                <a:ea typeface="Courier New"/>
                <a:cs typeface="Courier New"/>
              </a:rPr>
              <a:t>models → cards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FF15ED-6AB2-413D-BC75-9A94E0A6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2266950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B9F36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0E4B29-3BA2-4FCA-BD5B-015FD4F3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F9B99E-59A1-4444-9FBB-52DDECED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38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Save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010983-4E48-4AEF-9AF6-3BE9795B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719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Choose a course</a:t>
            </a:r>
          </a:p>
          <a:p xmlns:a="http://schemas.openxmlformats.org/drawingml/2006/main">
            <a:pPr algn="l"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Point out score and metadata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DCEDB8-9499-4682-AA2D-1C00F2E3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175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1CF89C-B70D-4E22-9479-602DC1F8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839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F839A"/>
                </a:solidFill>
                <a:latin typeface="Courier New"/>
                <a:ea typeface="Courier New"/>
                <a:cs typeface="Courier New"/>
              </a:rPr>
              <a:t>POST /api/save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AA3E85-CB91-4835-8434-1539C007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2266950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C4F036-4308-4710-9C8D-A87146E8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81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CE5F7A-F34E-4CE3-AAAA-203C9681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38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Revisit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FA4485-A783-4B5E-A0E8-A135E530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7190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Open Dashboard</a:t>
            </a:r>
          </a:p>
          <a:p xmlns:a="http://schemas.openxmlformats.org/drawingml/2006/main">
            <a:pPr algn="l">
              <a:defRPr sz="1275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Show history + saved item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4315E5-C10F-4410-85AC-D372DCC1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33900"/>
            <a:ext cx="175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44C0F5-0EC6-4036-B11E-B1E63341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52950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839A"/>
                </a:solidFill>
                <a:latin typeface="Courier New"/>
                <a:ea typeface="Courier New"/>
                <a:cs typeface="Courier New"/>
              </a:defRPr>
            </a:pPr>
            <a:r>
              <a:rPr sz="975" b="1">
                <a:solidFill>
                  <a:srgbClr val="6F839A"/>
                </a:solidFill>
                <a:latin typeface="Courier New"/>
                <a:ea typeface="Courier New"/>
                <a:cs typeface="Courier New"/>
              </a:rPr>
              <a:t>GET /api/history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0F07AD-04B2-428D-A36F-782E50F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If the examiner asks “what happens underneath?”, return to the request flow: validate → rank → normalize → persist → render.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CAAC2A-FFCD-4679-AEF7-C00D7CAB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SMARTCOURSE  /  FYP VIVA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DF5B34-FBB0-4216-8087-BA8C2664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78212524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8111F"/>
            </a:gs>
            <a:gs pos="60000">
              <a:srgbClr val="10243A"/>
            </a:gs>
            <a:gs pos="100000">
              <a:srgbClr val="102B2C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8F63C-C5C8-4F05-B4AF-F00FA42A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THE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C12A7-9DB0-419B-8090-11175EF2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572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SmartCourse makes course</a:t>
            </a:r>
          </a:p>
          <a:p xmlns:a="http://schemas.openxmlformats.org/drawingml/2006/main">
            <a:pPr algn="l">
              <a:defRPr sz="37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discovery more explainable.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207CF-5271-4690-9BBD-6E2E243B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0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7C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7B7C9"/>
                </a:solidFill>
                <a:latin typeface="Aptos"/>
                <a:ea typeface="Aptos"/>
                <a:cs typeface="Aptos"/>
              </a:rPr>
              <a:t>It combines two complementary ranking methods with a usable web experience, persistent learner history, and a clear path toward personalization.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8650D-D2D3-4853-A736-CC1DD914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70E21-57E1-46B1-911F-E75A21D7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F38D7-2A1A-4366-913D-A635B492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large catalog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BA1EF-9AEB-45A9-BD51-96F1FD52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624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F36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F36D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64991-2063-4DE9-A9DB-698E6855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67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two ranking lenses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73532-AEAB-4A28-8F7E-C6CEA6FF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624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45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B454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39361-0FA7-4765-B250-FFF5EC9D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67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better decisions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05D19-5D60-46BB-BC07-4AB8F56B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57400"/>
            <a:ext cx="2952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9525">
            <a:solidFill>
              <a:srgbClr val="2BD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05B8C-19F3-4B01-8C42-B22A7C8D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908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BD9E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BD9EE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37538-2C7E-4B07-9FEE-B8C86473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8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8FC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0ED79-3AF3-4AEF-A71E-EFEB483B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F25PROJECTEC4D8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E7A98-17F0-47AB-B1E6-9AF921CE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F839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F839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909901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2026-08-19T21:35:24.2870000Z</dcterms:created>
  <dcterms:modified xsi:type="dcterms:W3CDTF">2026-08-19T21:35:24.2870000Z</dcterms:modified>
</coreProperties>
</file>