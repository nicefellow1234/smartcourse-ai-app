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>
      <p:cViewPr varScale="1">
        <p:scale>
          <a:sx n="98" d="100"/>
          <a:sy n="98" d="100"/>
        </p:scale>
        <p:origin x="1472" y="64"/>
      </p:cViewPr>
      <p:guideLst/>
    </p:cSldViewPr>
  </p:slideViewPr>
  <p:outlineViewPr>
    <p:cViewPr>
      <p:scale>
        <a:sx n="1" d="1"/>
        <a:sy n="1" d="1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6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b="1"/>
              <a:t>SmartCourse</a:t>
            </a:r>
            <a:endParaRPr lang="en-US" sz="3600"/>
          </a:p>
        </p:txBody>
      </p:sp>
      <p:sp>
        <p:nvSpPr>
          <p:cNvPr id="3" name="Accent"/>
          <p:cNvSpPr txBox="1"/>
          <p:nvPr/>
        </p:nvSpPr>
        <p:spPr>
          <a:xfrm>
            <a:off x="500000" y="980000"/>
            <a:ext cx="8200000" cy="65000"/>
          </a:xfrm>
          <a:prstGeom prst="rect">
            <a:avLst/>
          </a:prstGeom>
          <a:solidFill>
            <a:srgbClr val="007E8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ubtitle"/>
          <p:cNvSpPr txBox="1"/>
          <p:nvPr/>
        </p:nvSpPr>
        <p:spPr>
          <a:xfrm>
            <a:off x="900000" y="1300000"/>
            <a:ext cx="7600000" cy="3600000"/>
          </a:xfrm>
          <a:prstGeom prst="rect">
            <a:avLst/>
          </a:prstGeom>
          <a:solidFill>
            <a:srgbClr val="E2F6F6"/>
          </a:solidFill>
          <a:ln w="12700">
            <a:solidFill>
              <a:srgbClr val="007E84"/>
            </a:solidFill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2500"/>
              <a:t>AI Powered Course Recommendation System</a:t>
            </a:r>
          </a:p>
          <a:p>
            <a:pPr marL="342900" indent="-171450">
              <a:buChar char="•"/>
            </a:pPr>
            <a:r>
              <a:rPr lang="en-US" sz="2500"/>
              <a:t>Group ID: F25PROJECTEC4D8</a:t>
            </a:r>
          </a:p>
          <a:p>
            <a:pPr marL="342900" indent="-171450">
              <a:buChar char="•"/>
            </a:pPr>
            <a:r>
              <a:rPr lang="en-US" sz="2500"/>
              <a:t>Roll No: BC240419615</a:t>
            </a:r>
          </a:p>
          <a:p>
            <a:pPr marL="342900" indent="-171450">
              <a:buChar char="•"/>
            </a:pPr>
            <a:r>
              <a:rPr lang="en-US" sz="2500"/>
              <a:t>Supervisor: Muhammad Bilal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1200"/>
              <a:t>SmartCourse Final Deliverables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6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b="1"/>
              <a:t>Problem Statement</a:t>
            </a:r>
            <a:endParaRPr lang="en-US" sz="3600"/>
          </a:p>
        </p:txBody>
      </p:sp>
      <p:sp>
        <p:nvSpPr>
          <p:cNvPr id="3" name="Accent"/>
          <p:cNvSpPr txBox="1"/>
          <p:nvPr/>
        </p:nvSpPr>
        <p:spPr>
          <a:xfrm>
            <a:off x="500000" y="980000"/>
            <a:ext cx="8200000" cy="65000"/>
          </a:xfrm>
          <a:prstGeom prst="rect">
            <a:avLst/>
          </a:prstGeom>
          <a:solidFill>
            <a:srgbClr val="007E8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900000" y="1300000"/>
            <a:ext cx="7600000" cy="4300000"/>
          </a:xfrm>
          <a:prstGeom prst="rect">
            <a:avLst/>
          </a:prstGeom>
          <a:solidFill>
            <a:srgbClr val="E2F6F6"/>
          </a:solidFill>
          <a:ln w="12700">
            <a:solidFill>
              <a:srgbClr val="007E84"/>
            </a:solidFill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2300"/>
              <a:t>Learners need faster ways to discover relevant courses from a large catalog.</a:t>
            </a:r>
          </a:p>
          <a:p>
            <a:pPr marL="342900" indent="-171450">
              <a:buChar char="•"/>
            </a:pPr>
            <a:r>
              <a:rPr lang="en-US" sz="2300"/>
              <a:t>Keyword search alone misses semantic intent.</a:t>
            </a:r>
          </a:p>
          <a:p>
            <a:pPr marL="342900" indent="-171450">
              <a:buChar char="•"/>
            </a:pPr>
            <a:r>
              <a:rPr lang="en-US" sz="2300"/>
              <a:t>SmartCourse converts natural-language preferences into ranked recommendations.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1200"/>
              <a:t>SmartCourse Final Deliverables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6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b="1"/>
              <a:t>Project Objectives</a:t>
            </a:r>
            <a:endParaRPr lang="en-US" sz="3600"/>
          </a:p>
        </p:txBody>
      </p:sp>
      <p:sp>
        <p:nvSpPr>
          <p:cNvPr id="3" name="Accent"/>
          <p:cNvSpPr txBox="1"/>
          <p:nvPr/>
        </p:nvSpPr>
        <p:spPr>
          <a:xfrm>
            <a:off x="500000" y="980000"/>
            <a:ext cx="8200000" cy="65000"/>
          </a:xfrm>
          <a:prstGeom prst="rect">
            <a:avLst/>
          </a:prstGeom>
          <a:solidFill>
            <a:srgbClr val="007E8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900000" y="1300000"/>
            <a:ext cx="7600000" cy="4300000"/>
          </a:xfrm>
          <a:prstGeom prst="rect">
            <a:avLst/>
          </a:prstGeom>
          <a:solidFill>
            <a:srgbClr val="E2F6F6"/>
          </a:solidFill>
          <a:ln w="12700">
            <a:solidFill>
              <a:srgbClr val="007E84"/>
            </a:solidFill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2300"/>
              <a:t>Provide a professional multi-page web application.</a:t>
            </a:r>
          </a:p>
          <a:p>
            <a:pPr marL="342900" indent="-171450">
              <a:buChar char="•"/>
            </a:pPr>
            <a:r>
              <a:rPr lang="en-US" sz="2300"/>
              <a:t>Support TF-IDF, neural, and hybrid recommendation modes.</a:t>
            </a:r>
          </a:p>
          <a:p>
            <a:pPr marL="342900" indent="-171450">
              <a:buChar char="•"/>
            </a:pPr>
            <a:r>
              <a:rPr lang="en-US" sz="2300"/>
              <a:t>Store search history and saved courses.</a:t>
            </a:r>
          </a:p>
          <a:p>
            <a:pPr marL="342900" indent="-171450">
              <a:buChar char="•"/>
            </a:pPr>
            <a:r>
              <a:rPr lang="en-US" sz="2300"/>
              <a:t>Provide scripts for data preparation, model building, and evaluation.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1200"/>
              <a:t>SmartCourse Final Deliverables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6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b="1"/>
              <a:t>Technology Stack</a:t>
            </a:r>
            <a:endParaRPr lang="en-US" sz="3600"/>
          </a:p>
        </p:txBody>
      </p:sp>
      <p:sp>
        <p:nvSpPr>
          <p:cNvPr id="3" name="Accent"/>
          <p:cNvSpPr txBox="1"/>
          <p:nvPr/>
        </p:nvSpPr>
        <p:spPr>
          <a:xfrm>
            <a:off x="500000" y="980000"/>
            <a:ext cx="8200000" cy="65000"/>
          </a:xfrm>
          <a:prstGeom prst="rect">
            <a:avLst/>
          </a:prstGeom>
          <a:solidFill>
            <a:srgbClr val="007E8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900000" y="1300000"/>
            <a:ext cx="7600000" cy="4300000"/>
          </a:xfrm>
          <a:prstGeom prst="rect">
            <a:avLst/>
          </a:prstGeom>
          <a:solidFill>
            <a:srgbClr val="E2F6F6"/>
          </a:solidFill>
          <a:ln w="12700">
            <a:solidFill>
              <a:srgbClr val="007E84"/>
            </a:solidFill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2300"/>
              <a:t>Backend: Python, Flask, Flask-SQLAlchemy, Flask-Cors</a:t>
            </a:r>
          </a:p>
          <a:p>
            <a:pPr marL="342900" indent="-171450">
              <a:buChar char="•"/>
            </a:pPr>
            <a:r>
              <a:rPr lang="en-US" sz="2300"/>
              <a:t>ML/NLP: pandas, scikit-learn, spaCy, sentence-transformers, joblib</a:t>
            </a:r>
          </a:p>
          <a:p>
            <a:pPr marL="342900" indent="-171450">
              <a:buChar char="•"/>
            </a:pPr>
            <a:r>
              <a:rPr lang="en-US" sz="2300"/>
              <a:t>Frontend: HTML5, Bootstrap 5, Jinja, JavaScript Fetch API</a:t>
            </a:r>
          </a:p>
          <a:p>
            <a:pPr marL="342900" indent="-171450">
              <a:buChar char="•"/>
            </a:pPr>
            <a:r>
              <a:rPr lang="en-US" sz="2300"/>
              <a:t>Database: SQLite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1200"/>
              <a:t>SmartCourse Final Deliverables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6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b="1"/>
              <a:t>System Architecture</a:t>
            </a:r>
            <a:endParaRPr lang="en-US" sz="3600"/>
          </a:p>
        </p:txBody>
      </p:sp>
      <p:sp>
        <p:nvSpPr>
          <p:cNvPr id="3" name="Accent"/>
          <p:cNvSpPr txBox="1"/>
          <p:nvPr/>
        </p:nvSpPr>
        <p:spPr>
          <a:xfrm>
            <a:off x="500000" y="980000"/>
            <a:ext cx="8200000" cy="65000"/>
          </a:xfrm>
          <a:prstGeom prst="rect">
            <a:avLst/>
          </a:prstGeom>
          <a:solidFill>
            <a:srgbClr val="007E8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900000" y="1300000"/>
            <a:ext cx="7600000" cy="4300000"/>
          </a:xfrm>
          <a:prstGeom prst="rect">
            <a:avLst/>
          </a:prstGeom>
          <a:solidFill>
            <a:srgbClr val="E2F6F6"/>
          </a:solidFill>
          <a:ln w="12700">
            <a:solidFill>
              <a:srgbClr val="007E84"/>
            </a:solidFill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2300"/>
              <a:t>Presentation layer: Home, Recommendations, Dashboard, About pages.</a:t>
            </a:r>
          </a:p>
          <a:p>
            <a:pPr marL="342900" indent="-171450">
              <a:buChar char="•"/>
            </a:pPr>
            <a:r>
              <a:rPr lang="en-US" sz="2300"/>
              <a:t>Application layer: Flask views, REST API, services, validation, logging.</a:t>
            </a:r>
          </a:p>
          <a:p>
            <a:pPr marL="342900" indent="-171450">
              <a:buChar char="•"/>
            </a:pPr>
            <a:r>
              <a:rPr lang="en-US" sz="2300"/>
              <a:t>Data/model layer: SQLite, CSV datasets, TF-IDF and neural joblib artifacts.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1200"/>
              <a:t>SmartCourse Final Deliverables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6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b="1"/>
              <a:t>Recommendation Workflow</a:t>
            </a:r>
            <a:endParaRPr lang="en-US" sz="3600"/>
          </a:p>
        </p:txBody>
      </p:sp>
      <p:sp>
        <p:nvSpPr>
          <p:cNvPr id="3" name="Accent"/>
          <p:cNvSpPr txBox="1"/>
          <p:nvPr/>
        </p:nvSpPr>
        <p:spPr>
          <a:xfrm>
            <a:off x="500000" y="980000"/>
            <a:ext cx="8200000" cy="65000"/>
          </a:xfrm>
          <a:prstGeom prst="rect">
            <a:avLst/>
          </a:prstGeom>
          <a:solidFill>
            <a:srgbClr val="007E8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900000" y="1300000"/>
            <a:ext cx="7600000" cy="4300000"/>
          </a:xfrm>
          <a:prstGeom prst="rect">
            <a:avLst/>
          </a:prstGeom>
          <a:solidFill>
            <a:srgbClr val="E2F6F6"/>
          </a:solidFill>
          <a:ln w="12700">
            <a:solidFill>
              <a:srgbClr val="007E84"/>
            </a:solidFill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2300"/>
              <a:t>Learner enters a natural-language preference.</a:t>
            </a:r>
          </a:p>
          <a:p>
            <a:pPr marL="342900" indent="-171450">
              <a:buChar char="•"/>
            </a:pPr>
            <a:r>
              <a:rPr lang="en-US" sz="2300"/>
              <a:t>API validates request and calls RecommendationService.</a:t>
            </a:r>
          </a:p>
          <a:p>
            <a:pPr marL="342900" indent="-171450">
              <a:buChar char="•"/>
            </a:pPr>
            <a:r>
              <a:rPr lang="en-US" sz="2300"/>
              <a:t>TF-IDF ranks keyword similarity; neural model ranks semantic similarity.</a:t>
            </a:r>
          </a:p>
          <a:p>
            <a:pPr marL="342900" indent="-171450">
              <a:buChar char="•"/>
            </a:pPr>
            <a:r>
              <a:rPr lang="en-US" sz="2300"/>
              <a:t>Results are normalized, displayed, stored, and optionally saved.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1200"/>
              <a:t>SmartCourse Final Deliverables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6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b="1"/>
              <a:t>Core Features</a:t>
            </a:r>
            <a:endParaRPr lang="en-US" sz="3600"/>
          </a:p>
        </p:txBody>
      </p:sp>
      <p:sp>
        <p:nvSpPr>
          <p:cNvPr id="3" name="Accent"/>
          <p:cNvSpPr txBox="1"/>
          <p:nvPr/>
        </p:nvSpPr>
        <p:spPr>
          <a:xfrm>
            <a:off x="500000" y="980000"/>
            <a:ext cx="8200000" cy="65000"/>
          </a:xfrm>
          <a:prstGeom prst="rect">
            <a:avLst/>
          </a:prstGeom>
          <a:solidFill>
            <a:srgbClr val="007E8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900000" y="1300000"/>
            <a:ext cx="7600000" cy="4300000"/>
          </a:xfrm>
          <a:prstGeom prst="rect">
            <a:avLst/>
          </a:prstGeom>
          <a:solidFill>
            <a:srgbClr val="E2F6F6"/>
          </a:solidFill>
          <a:ln w="12700">
            <a:solidFill>
              <a:srgbClr val="007E84"/>
            </a:solidFill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2300"/>
              <a:t>Top-N ranked course results with scores and course details.</a:t>
            </a:r>
          </a:p>
          <a:p>
            <a:pPr marL="342900" indent="-171450">
              <a:buChar char="•"/>
            </a:pPr>
            <a:r>
              <a:rPr lang="en-US" sz="2300"/>
              <a:t>Model selector for TF-IDF, neural, or hybrid results.</a:t>
            </a:r>
          </a:p>
          <a:p>
            <a:pPr marL="342900" indent="-171450">
              <a:buChar char="•"/>
            </a:pPr>
            <a:r>
              <a:rPr lang="en-US" sz="2300"/>
              <a:t>Dashboard for history, saved recommendations, and model comparison.</a:t>
            </a:r>
          </a:p>
          <a:p>
            <a:pPr marL="342900" indent="-171450">
              <a:buChar char="•"/>
            </a:pPr>
            <a:r>
              <a:rPr lang="en-US" sz="2300"/>
              <a:t>Admin-oriented scripts for catalog preparation, training, and evaluation.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1200"/>
              <a:t>SmartCourse Final Deliverables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6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b="1"/>
              <a:t>Database and Persistence</a:t>
            </a:r>
            <a:endParaRPr lang="en-US" sz="3600"/>
          </a:p>
        </p:txBody>
      </p:sp>
      <p:sp>
        <p:nvSpPr>
          <p:cNvPr id="3" name="Accent"/>
          <p:cNvSpPr txBox="1"/>
          <p:nvPr/>
        </p:nvSpPr>
        <p:spPr>
          <a:xfrm>
            <a:off x="500000" y="980000"/>
            <a:ext cx="8200000" cy="65000"/>
          </a:xfrm>
          <a:prstGeom prst="rect">
            <a:avLst/>
          </a:prstGeom>
          <a:solidFill>
            <a:srgbClr val="007E8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900000" y="1300000"/>
            <a:ext cx="7600000" cy="4300000"/>
          </a:xfrm>
          <a:prstGeom prst="rect">
            <a:avLst/>
          </a:prstGeom>
          <a:solidFill>
            <a:srgbClr val="E2F6F6"/>
          </a:solidFill>
          <a:ln w="12700">
            <a:solidFill>
              <a:srgbClr val="007E84"/>
            </a:solidFill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2300"/>
              <a:t>search_sessions stores each recommendation query and model outputs.</a:t>
            </a:r>
          </a:p>
          <a:p>
            <a:pPr marL="342900" indent="-171450">
              <a:buChar char="•"/>
            </a:pPr>
            <a:r>
              <a:rPr lang="en-US" sz="2300"/>
              <a:t>saved_recommendations stores learner-selected courses by session.</a:t>
            </a:r>
          </a:p>
          <a:p>
            <a:pPr marL="342900" indent="-171450">
              <a:buChar char="•"/>
            </a:pPr>
            <a:r>
              <a:rPr lang="en-US" sz="2300"/>
              <a:t>SQLite database and SQL dump are included in the final application package.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1200"/>
              <a:t>SmartCourse Final Deliverables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6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b="1"/>
              <a:t>Testing and Evaluation</a:t>
            </a:r>
            <a:endParaRPr lang="en-US" sz="3600"/>
          </a:p>
        </p:txBody>
      </p:sp>
      <p:sp>
        <p:nvSpPr>
          <p:cNvPr id="3" name="Accent"/>
          <p:cNvSpPr txBox="1"/>
          <p:nvPr/>
        </p:nvSpPr>
        <p:spPr>
          <a:xfrm>
            <a:off x="500000" y="980000"/>
            <a:ext cx="8200000" cy="65000"/>
          </a:xfrm>
          <a:prstGeom prst="rect">
            <a:avLst/>
          </a:prstGeom>
          <a:solidFill>
            <a:srgbClr val="007E8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900000" y="1300000"/>
            <a:ext cx="7600000" cy="4300000"/>
          </a:xfrm>
          <a:prstGeom prst="rect">
            <a:avLst/>
          </a:prstGeom>
          <a:solidFill>
            <a:srgbClr val="E2F6F6"/>
          </a:solidFill>
          <a:ln w="12700">
            <a:solidFill>
              <a:srgbClr val="007E84"/>
            </a:solidFill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2300"/>
              <a:t>Recommendation API validates successful and empty requests.</a:t>
            </a:r>
          </a:p>
          <a:p>
            <a:pPr marL="342900" indent="-171450">
              <a:buChar char="•"/>
            </a:pPr>
            <a:r>
              <a:rPr lang="en-US" sz="2300"/>
              <a:t>Save/history endpoints verify persistence behavior.</a:t>
            </a:r>
          </a:p>
          <a:p>
            <a:pPr marL="342900" indent="-171450">
              <a:buChar char="•"/>
            </a:pPr>
            <a:r>
              <a:rPr lang="en-US" sz="2300"/>
              <a:t>Model evaluation reports precision@k and recall@k from evaluation queries.</a:t>
            </a:r>
          </a:p>
          <a:p>
            <a:pPr marL="342900" indent="-171450">
              <a:buChar char="•"/>
            </a:pPr>
            <a:r>
              <a:rPr lang="en-US" sz="2300"/>
              <a:t>Manual UI checks confirm multi-page workflow and dashboard rendering.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1200"/>
              <a:t>SmartCourse Final Deliverables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6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b="1"/>
              <a:t>Final Deliverables</a:t>
            </a:r>
            <a:endParaRPr lang="en-US" sz="3600"/>
          </a:p>
        </p:txBody>
      </p:sp>
      <p:sp>
        <p:nvSpPr>
          <p:cNvPr id="3" name="Accent"/>
          <p:cNvSpPr txBox="1"/>
          <p:nvPr/>
        </p:nvSpPr>
        <p:spPr>
          <a:xfrm>
            <a:off x="500000" y="980000"/>
            <a:ext cx="8200000" cy="65000"/>
          </a:xfrm>
          <a:prstGeom prst="rect">
            <a:avLst/>
          </a:prstGeom>
          <a:solidFill>
            <a:srgbClr val="007E8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900000" y="1300000"/>
            <a:ext cx="7600000" cy="4300000"/>
          </a:xfrm>
          <a:prstGeom prst="rect">
            <a:avLst/>
          </a:prstGeom>
          <a:solidFill>
            <a:srgbClr val="E2F6F6"/>
          </a:solidFill>
          <a:ln w="12700">
            <a:solidFill>
              <a:srgbClr val="007E84"/>
            </a:solidFill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2300"/>
              <a:t>1-FinalApplication_SmartCourse_F25PROJECTEC4D8.zip</a:t>
            </a:r>
          </a:p>
          <a:p>
            <a:pPr marL="342900" indent="-171450">
              <a:buChar char="•"/>
            </a:pPr>
            <a:r>
              <a:rPr lang="en-US" sz="2300"/>
              <a:t>2-FinalReport_SmartCourse_F25PROJECTEC4D8.docx</a:t>
            </a:r>
          </a:p>
          <a:p>
            <a:pPr marL="342900" indent="-171450">
              <a:buChar char="•"/>
            </a:pPr>
            <a:r>
              <a:rPr lang="en-US" sz="2300"/>
              <a:t>3-FinalPresentation_SmartCourse_F25PROJECTEC4D8.pptx</a:t>
            </a:r>
          </a:p>
          <a:p>
            <a:pPr marL="342900" indent="-171450">
              <a:buChar char="•"/>
            </a:pPr>
            <a:r>
              <a:rPr lang="en-US" sz="2300"/>
              <a:t>All three files are packaged together for VULMS submission.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1200"/>
              <a:t>SmartCourse Final Deliverables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6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b="1"/>
              <a:t>Conclusion</a:t>
            </a:r>
            <a:endParaRPr lang="en-US" sz="3600"/>
          </a:p>
        </p:txBody>
      </p:sp>
      <p:sp>
        <p:nvSpPr>
          <p:cNvPr id="3" name="Accent"/>
          <p:cNvSpPr txBox="1"/>
          <p:nvPr/>
        </p:nvSpPr>
        <p:spPr>
          <a:xfrm>
            <a:off x="500000" y="980000"/>
            <a:ext cx="8200000" cy="65000"/>
          </a:xfrm>
          <a:prstGeom prst="rect">
            <a:avLst/>
          </a:prstGeom>
          <a:solidFill>
            <a:srgbClr val="007E8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900000" y="1300000"/>
            <a:ext cx="7600000" cy="4300000"/>
          </a:xfrm>
          <a:prstGeom prst="rect">
            <a:avLst/>
          </a:prstGeom>
          <a:solidFill>
            <a:srgbClr val="E2F6F6"/>
          </a:solidFill>
          <a:ln w="12700">
            <a:solidFill>
              <a:srgbClr val="007E84"/>
            </a:solidFill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2300"/>
              <a:t>SmartCourse delivers a complete AI-assisted recommendation application.</a:t>
            </a:r>
          </a:p>
          <a:p>
            <a:pPr marL="342900" indent="-171450">
              <a:buChar char="•"/>
            </a:pPr>
            <a:r>
              <a:rPr lang="en-US" sz="2300"/>
              <a:t>The final package includes application code, database, models, documentation, and presentation.</a:t>
            </a:r>
          </a:p>
          <a:p>
            <a:pPr marL="342900" indent="-171450">
              <a:buChar char="•"/>
            </a:pPr>
            <a:r>
              <a:rPr lang="en-US" sz="2300"/>
              <a:t>Future work can add LMS integration, authentication, and more evaluation datasets.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640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1200"/>
              <a:t>SmartCourse Final Deliverables | Slide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Microsoft Office PowerPoint</Application>
  <PresentationFormat>On-screen Show (4:3)</PresentationFormat>
  <Paragraphs>62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SmartCourse Final Presentation</dc:title>
  <dc:creator>BC240419615</dc:creator>
  <cp:lastModifiedBy>Umair Shah</cp:lastModifiedBy>
  <cp:revision>1</cp:revision>
  <dcterms:created xsi:type="dcterms:W3CDTF">2026-05-05T19:35:50Z</dcterms:created>
  <dcterms:modified xsi:type="dcterms:W3CDTF">2026-05-05T19:50:36Z</dcterms:modified>
</cp:coreProperties>
</file>